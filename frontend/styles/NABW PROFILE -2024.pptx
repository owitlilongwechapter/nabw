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5.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6.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7.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9" r:id="rId3"/>
    <p:sldMasterId id="2147483706" r:id="rId4"/>
    <p:sldMasterId id="2147483723" r:id="rId5"/>
    <p:sldMasterId id="2147483740" r:id="rId6"/>
    <p:sldMasterId id="2147483757" r:id="rId7"/>
    <p:sldMasterId id="2147483774" r:id="rId8"/>
  </p:sldMasterIdLst>
  <p:sldIdLst>
    <p:sldId id="257" r:id="rId9"/>
    <p:sldId id="259" r:id="rId10"/>
    <p:sldId id="260" r:id="rId11"/>
    <p:sldId id="261" r:id="rId12"/>
    <p:sldId id="262" r:id="rId13"/>
    <p:sldId id="263" r:id="rId14"/>
    <p:sldId id="264" r:id="rId15"/>
    <p:sldId id="265" r:id="rId16"/>
    <p:sldId id="266" r:id="rId17"/>
    <p:sldId id="283" r:id="rId18"/>
    <p:sldId id="267" r:id="rId19"/>
    <p:sldId id="268" r:id="rId20"/>
    <p:sldId id="269" r:id="rId21"/>
    <p:sldId id="270" r:id="rId22"/>
    <p:sldId id="271" r:id="rId23"/>
    <p:sldId id="272" r:id="rId24"/>
    <p:sldId id="273" r:id="rId25"/>
    <p:sldId id="274" r:id="rId26"/>
    <p:sldId id="278" r:id="rId27"/>
    <p:sldId id="277" r:id="rId28"/>
    <p:sldId id="276" r:id="rId29"/>
    <p:sldId id="279" r:id="rId30"/>
    <p:sldId id="275" r:id="rId31"/>
    <p:sldId id="280" r:id="rId32"/>
    <p:sldId id="281"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2B61"/>
    <a:srgbClr val="FFB200"/>
    <a:srgbClr val="FFCC00"/>
    <a:srgbClr val="9E2B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09" autoAdjust="0"/>
    <p:restoredTop sz="95253" autoAdjust="0"/>
  </p:normalViewPr>
  <p:slideViewPr>
    <p:cSldViewPr snapToGrid="0">
      <p:cViewPr varScale="1">
        <p:scale>
          <a:sx n="91" d="100"/>
          <a:sy n="91" d="100"/>
        </p:scale>
        <p:origin x="1138" y="6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5#1">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2A3FC1-E48E-4101-B2A8-1E2D9E6D58A9}" type="doc">
      <dgm:prSet loTypeId="urn:microsoft.com/office/officeart/2005/8/layout/orgChart1" loCatId="hierarchy" qsTypeId="urn:microsoft.com/office/officeart/2005/8/quickstyle/simple3#1" qsCatId="simple" csTypeId="urn:microsoft.com/office/officeart/2005/8/colors/accent1_5#1" csCatId="accent1" phldr="1"/>
      <dgm:spPr/>
      <dgm:t>
        <a:bodyPr/>
        <a:lstStyle/>
        <a:p>
          <a:endParaRPr lang="en-US"/>
        </a:p>
      </dgm:t>
    </dgm:pt>
    <dgm:pt modelId="{21F70A79-A0C6-4084-9C32-DE74ACCCA2C8}">
      <dgm:prSet phldrT="[Text]" custT="1"/>
      <dgm:spPr>
        <a:solidFill>
          <a:schemeClr val="accent2"/>
        </a:solidFill>
      </dgm:spPr>
      <dgm:t>
        <a:bodyPr/>
        <a:lstStyle/>
        <a:p>
          <a:pPr algn="ctr"/>
          <a:r>
            <a:rPr lang="en-US" sz="1200" b="1" dirty="0">
              <a:latin typeface="Candara" panose="020E0502030303020204" pitchFamily="34" charset="0"/>
            </a:rPr>
            <a:t>Board of Directors</a:t>
          </a:r>
        </a:p>
      </dgm:t>
    </dgm:pt>
    <dgm:pt modelId="{C5DBBBA0-02A8-497B-A77C-C903AB4D1E40}" type="parTrans" cxnId="{E2485993-A374-4B18-89FA-6B2DF207B820}">
      <dgm:prSet/>
      <dgm:spPr/>
      <dgm:t>
        <a:bodyPr/>
        <a:lstStyle/>
        <a:p>
          <a:pPr algn="ctr"/>
          <a:endParaRPr lang="en-US" sz="900">
            <a:latin typeface="Arial Black" panose="020B0A04020102020204" pitchFamily="34" charset="0"/>
          </a:endParaRPr>
        </a:p>
      </dgm:t>
    </dgm:pt>
    <dgm:pt modelId="{8EAAF98B-3F04-418E-AAE4-6D6CB7BA5DA0}" type="sibTrans" cxnId="{E2485993-A374-4B18-89FA-6B2DF207B820}">
      <dgm:prSet/>
      <dgm:spPr/>
      <dgm:t>
        <a:bodyPr/>
        <a:lstStyle/>
        <a:p>
          <a:pPr algn="ctr"/>
          <a:endParaRPr lang="en-US" sz="900"/>
        </a:p>
      </dgm:t>
    </dgm:pt>
    <dgm:pt modelId="{15843810-452D-478D-91CA-0CF51E843526}" type="asst">
      <dgm:prSet phldrT="[Text]" custT="1"/>
      <dgm:spPr>
        <a:solidFill>
          <a:schemeClr val="accent2"/>
        </a:solidFill>
      </dgm:spPr>
      <dgm:t>
        <a:bodyPr/>
        <a:lstStyle/>
        <a:p>
          <a:pPr algn="ctr"/>
          <a:r>
            <a:rPr lang="en-US" sz="1200" b="1" dirty="0">
              <a:latin typeface="Candara" panose="020E0502030303020204" pitchFamily="34" charset="0"/>
            </a:rPr>
            <a:t>Executive Director</a:t>
          </a:r>
        </a:p>
      </dgm:t>
    </dgm:pt>
    <dgm:pt modelId="{6E933F13-CF3F-46EA-9BA1-E7647E89D229}" type="parTrans" cxnId="{A803DC68-FC20-4F5A-AFF0-8789A9146A07}">
      <dgm:prSet/>
      <dgm:spPr/>
      <dgm:t>
        <a:bodyPr/>
        <a:lstStyle/>
        <a:p>
          <a:pPr algn="ctr"/>
          <a:endParaRPr lang="en-US" sz="900">
            <a:latin typeface="Arial Black" panose="020B0A04020102020204" pitchFamily="34" charset="0"/>
          </a:endParaRPr>
        </a:p>
      </dgm:t>
    </dgm:pt>
    <dgm:pt modelId="{E9A551F4-9DDD-415B-A36B-8D3D16A2885E}" type="sibTrans" cxnId="{A803DC68-FC20-4F5A-AFF0-8789A9146A07}">
      <dgm:prSet/>
      <dgm:spPr/>
      <dgm:t>
        <a:bodyPr/>
        <a:lstStyle/>
        <a:p>
          <a:pPr algn="ctr"/>
          <a:endParaRPr lang="en-US" sz="900"/>
        </a:p>
      </dgm:t>
    </dgm:pt>
    <dgm:pt modelId="{6B93C311-A09A-4986-B6B0-6432F3E4D0CE}">
      <dgm:prSet phldrT="[Text]" custT="1"/>
      <dgm:spPr>
        <a:solidFill>
          <a:schemeClr val="accent2"/>
        </a:solidFill>
      </dgm:spPr>
      <dgm:t>
        <a:bodyPr/>
        <a:lstStyle/>
        <a:p>
          <a:pPr algn="ctr"/>
          <a:r>
            <a:rPr lang="en-US" sz="1200" b="1" dirty="0">
              <a:latin typeface="Candara" panose="020E0502030303020204" pitchFamily="34" charset="0"/>
            </a:rPr>
            <a:t>Finance &amp; Admi officer</a:t>
          </a:r>
        </a:p>
      </dgm:t>
    </dgm:pt>
    <dgm:pt modelId="{AE969DF4-3B5A-420E-8776-4107E1A50485}" type="parTrans" cxnId="{F3D52851-B14B-4BCD-AC87-DCED45E5B4FF}">
      <dgm:prSet/>
      <dgm:spPr/>
      <dgm:t>
        <a:bodyPr/>
        <a:lstStyle/>
        <a:p>
          <a:pPr algn="ctr"/>
          <a:endParaRPr lang="en-US" sz="900">
            <a:latin typeface="Arial Black" panose="020B0A04020102020204" pitchFamily="34" charset="0"/>
          </a:endParaRPr>
        </a:p>
      </dgm:t>
    </dgm:pt>
    <dgm:pt modelId="{CE82F03D-D104-4BE4-91F7-7F530622A416}" type="sibTrans" cxnId="{F3D52851-B14B-4BCD-AC87-DCED45E5B4FF}">
      <dgm:prSet/>
      <dgm:spPr/>
      <dgm:t>
        <a:bodyPr/>
        <a:lstStyle/>
        <a:p>
          <a:pPr algn="ctr"/>
          <a:endParaRPr lang="en-US" sz="900"/>
        </a:p>
      </dgm:t>
    </dgm:pt>
    <dgm:pt modelId="{56B194CF-F59C-475D-9C5A-40B6A353C01E}">
      <dgm:prSet phldrT="[Text]" custT="1"/>
      <dgm:spPr>
        <a:solidFill>
          <a:schemeClr val="accent2"/>
        </a:solidFill>
      </dgm:spPr>
      <dgm:t>
        <a:bodyPr/>
        <a:lstStyle/>
        <a:p>
          <a:pPr algn="ctr"/>
          <a:r>
            <a:rPr lang="en-US" sz="1200" b="1" dirty="0">
              <a:latin typeface="Candara" panose="020E0502030303020204" pitchFamily="34" charset="0"/>
            </a:rPr>
            <a:t>Programme Manager  </a:t>
          </a:r>
        </a:p>
      </dgm:t>
    </dgm:pt>
    <dgm:pt modelId="{E5880D25-3019-46F7-9FC8-180074A7FF16}" type="parTrans" cxnId="{37D10924-C4F9-478E-A840-19464B094678}">
      <dgm:prSet/>
      <dgm:spPr/>
      <dgm:t>
        <a:bodyPr/>
        <a:lstStyle/>
        <a:p>
          <a:pPr algn="ctr"/>
          <a:endParaRPr lang="en-US" sz="900">
            <a:latin typeface="Arial Black" panose="020B0A04020102020204" pitchFamily="34" charset="0"/>
          </a:endParaRPr>
        </a:p>
      </dgm:t>
    </dgm:pt>
    <dgm:pt modelId="{5044F31C-1231-4427-A849-1AA3DFF2CAA5}" type="sibTrans" cxnId="{37D10924-C4F9-478E-A840-19464B094678}">
      <dgm:prSet/>
      <dgm:spPr/>
      <dgm:t>
        <a:bodyPr/>
        <a:lstStyle/>
        <a:p>
          <a:pPr algn="ctr"/>
          <a:endParaRPr lang="en-US" sz="900"/>
        </a:p>
      </dgm:t>
    </dgm:pt>
    <dgm:pt modelId="{9FA6C594-4C03-4201-94EC-76BDBB621D17}">
      <dgm:prSet custT="1"/>
      <dgm:spPr>
        <a:solidFill>
          <a:schemeClr val="accent2"/>
        </a:solidFill>
      </dgm:spPr>
      <dgm:t>
        <a:bodyPr/>
        <a:lstStyle/>
        <a:p>
          <a:pPr algn="ctr"/>
          <a:r>
            <a:rPr lang="en-US" sz="1200" b="1" dirty="0">
              <a:latin typeface="Candara" panose="020E0502030303020204" pitchFamily="34" charset="0"/>
            </a:rPr>
            <a:t>Volunteers </a:t>
          </a:r>
        </a:p>
      </dgm:t>
    </dgm:pt>
    <dgm:pt modelId="{1181C50A-96C8-4E0F-8D96-00E5C5811D4C}" type="parTrans" cxnId="{EBA8F060-C021-4ADC-95AA-2A6836C26B3C}">
      <dgm:prSet/>
      <dgm:spPr/>
      <dgm:t>
        <a:bodyPr/>
        <a:lstStyle/>
        <a:p>
          <a:pPr algn="ctr"/>
          <a:endParaRPr lang="en-US" sz="900">
            <a:latin typeface="Arial Black" panose="020B0A04020102020204" pitchFamily="34" charset="0"/>
          </a:endParaRPr>
        </a:p>
      </dgm:t>
    </dgm:pt>
    <dgm:pt modelId="{74D602D1-42B5-4DD4-AA5F-6881E480ADB8}" type="sibTrans" cxnId="{EBA8F060-C021-4ADC-95AA-2A6836C26B3C}">
      <dgm:prSet/>
      <dgm:spPr/>
      <dgm:t>
        <a:bodyPr/>
        <a:lstStyle/>
        <a:p>
          <a:pPr algn="ctr"/>
          <a:endParaRPr lang="en-US" sz="900"/>
        </a:p>
      </dgm:t>
    </dgm:pt>
    <dgm:pt modelId="{5A7FB64A-822F-4D8B-960D-FCA130D4E4E6}">
      <dgm:prSet custT="1"/>
      <dgm:spPr>
        <a:solidFill>
          <a:schemeClr val="accent2"/>
        </a:solidFill>
      </dgm:spPr>
      <dgm:t>
        <a:bodyPr/>
        <a:lstStyle/>
        <a:p>
          <a:pPr algn="ctr"/>
          <a:r>
            <a:rPr lang="en-US" sz="1200" b="1" dirty="0">
              <a:latin typeface="Candara" panose="020E0502030303020204" pitchFamily="34" charset="0"/>
            </a:rPr>
            <a:t>MEAL Lead</a:t>
          </a:r>
        </a:p>
      </dgm:t>
    </dgm:pt>
    <dgm:pt modelId="{BE45550F-D57A-41D2-B51B-BB020975620D}" type="parTrans" cxnId="{6AA689D9-4934-4731-94F8-228AC0FDAA89}">
      <dgm:prSet/>
      <dgm:spPr/>
      <dgm:t>
        <a:bodyPr/>
        <a:lstStyle/>
        <a:p>
          <a:pPr algn="ctr"/>
          <a:endParaRPr lang="en-US" sz="900">
            <a:latin typeface="Arial Black" panose="020B0A04020102020204" pitchFamily="34" charset="0"/>
          </a:endParaRPr>
        </a:p>
      </dgm:t>
    </dgm:pt>
    <dgm:pt modelId="{55CF20D0-B1B0-4B58-B8D0-2B1F6344B71F}" type="sibTrans" cxnId="{6AA689D9-4934-4731-94F8-228AC0FDAA89}">
      <dgm:prSet/>
      <dgm:spPr/>
      <dgm:t>
        <a:bodyPr/>
        <a:lstStyle/>
        <a:p>
          <a:pPr algn="ctr"/>
          <a:endParaRPr lang="en-US" sz="900"/>
        </a:p>
      </dgm:t>
    </dgm:pt>
    <dgm:pt modelId="{A954AAD9-4265-451C-AFB9-8573BB4A1F9C}">
      <dgm:prSet custT="1"/>
      <dgm:spPr>
        <a:solidFill>
          <a:schemeClr val="accent2"/>
        </a:solidFill>
      </dgm:spPr>
      <dgm:t>
        <a:bodyPr/>
        <a:lstStyle/>
        <a:p>
          <a:pPr algn="ctr"/>
          <a:r>
            <a:rPr lang="en-US" sz="1200" b="1" dirty="0">
              <a:latin typeface="Candara" panose="020E0502030303020204" pitchFamily="34" charset="0"/>
            </a:rPr>
            <a:t>AGM</a:t>
          </a:r>
        </a:p>
      </dgm:t>
    </dgm:pt>
    <dgm:pt modelId="{6A14AF30-6059-43A8-A3EB-FEA3F1543C07}" type="parTrans" cxnId="{10CFEC45-3884-4F19-A493-1D707027C9CF}">
      <dgm:prSet/>
      <dgm:spPr/>
      <dgm:t>
        <a:bodyPr/>
        <a:lstStyle/>
        <a:p>
          <a:pPr algn="ctr"/>
          <a:endParaRPr lang="en-US" sz="900"/>
        </a:p>
      </dgm:t>
    </dgm:pt>
    <dgm:pt modelId="{078911BC-73BE-43DF-9404-4010B85ABB9C}" type="sibTrans" cxnId="{10CFEC45-3884-4F19-A493-1D707027C9CF}">
      <dgm:prSet/>
      <dgm:spPr/>
      <dgm:t>
        <a:bodyPr/>
        <a:lstStyle/>
        <a:p>
          <a:pPr algn="ctr"/>
          <a:endParaRPr lang="en-US" sz="900"/>
        </a:p>
      </dgm:t>
    </dgm:pt>
    <dgm:pt modelId="{DA55C9F4-00FA-433F-A9D6-46B996B0C86A}" type="pres">
      <dgm:prSet presAssocID="{DC2A3FC1-E48E-4101-B2A8-1E2D9E6D58A9}" presName="hierChild1" presStyleCnt="0">
        <dgm:presLayoutVars>
          <dgm:orgChart val="1"/>
          <dgm:chPref val="1"/>
          <dgm:dir/>
          <dgm:animOne val="branch"/>
          <dgm:animLvl val="lvl"/>
          <dgm:resizeHandles/>
        </dgm:presLayoutVars>
      </dgm:prSet>
      <dgm:spPr/>
    </dgm:pt>
    <dgm:pt modelId="{7D96B7AB-CC4D-4655-8CE7-062106615B03}" type="pres">
      <dgm:prSet presAssocID="{A954AAD9-4265-451C-AFB9-8573BB4A1F9C}" presName="hierRoot1" presStyleCnt="0">
        <dgm:presLayoutVars>
          <dgm:hierBranch val="init"/>
        </dgm:presLayoutVars>
      </dgm:prSet>
      <dgm:spPr/>
    </dgm:pt>
    <dgm:pt modelId="{072B7906-1B75-4C17-93D5-40183E10A651}" type="pres">
      <dgm:prSet presAssocID="{A954AAD9-4265-451C-AFB9-8573BB4A1F9C}" presName="rootComposite1" presStyleCnt="0"/>
      <dgm:spPr/>
    </dgm:pt>
    <dgm:pt modelId="{B5369D7A-EFD2-4686-952A-0083EFC3A4CF}" type="pres">
      <dgm:prSet presAssocID="{A954AAD9-4265-451C-AFB9-8573BB4A1F9C}" presName="rootText1" presStyleLbl="node0" presStyleIdx="0" presStyleCnt="1" custScaleX="130427" custLinFactNeighborX="-1778" custLinFactNeighborY="5334">
        <dgm:presLayoutVars>
          <dgm:chPref val="3"/>
        </dgm:presLayoutVars>
      </dgm:prSet>
      <dgm:spPr/>
    </dgm:pt>
    <dgm:pt modelId="{37F09888-4E28-45F2-A30C-975B5B0CA765}" type="pres">
      <dgm:prSet presAssocID="{A954AAD9-4265-451C-AFB9-8573BB4A1F9C}" presName="rootConnector1" presStyleLbl="node1" presStyleIdx="0" presStyleCnt="0"/>
      <dgm:spPr/>
    </dgm:pt>
    <dgm:pt modelId="{19EA0B80-022A-49A0-8627-5A0FE817D49A}" type="pres">
      <dgm:prSet presAssocID="{A954AAD9-4265-451C-AFB9-8573BB4A1F9C}" presName="hierChild2" presStyleCnt="0"/>
      <dgm:spPr/>
    </dgm:pt>
    <dgm:pt modelId="{5B2CCDD3-F95C-4126-801B-F675CD51F7CE}" type="pres">
      <dgm:prSet presAssocID="{C5DBBBA0-02A8-497B-A77C-C903AB4D1E40}" presName="Name37" presStyleLbl="parChTrans1D2" presStyleIdx="0" presStyleCnt="1"/>
      <dgm:spPr/>
    </dgm:pt>
    <dgm:pt modelId="{7D9834A4-456E-4F74-836C-3FB06D1E21AA}" type="pres">
      <dgm:prSet presAssocID="{21F70A79-A0C6-4084-9C32-DE74ACCCA2C8}" presName="hierRoot2" presStyleCnt="0">
        <dgm:presLayoutVars>
          <dgm:hierBranch val="init"/>
        </dgm:presLayoutVars>
      </dgm:prSet>
      <dgm:spPr/>
    </dgm:pt>
    <dgm:pt modelId="{67ADD3E1-DE96-4D57-9ECB-2BF0BE316BAD}" type="pres">
      <dgm:prSet presAssocID="{21F70A79-A0C6-4084-9C32-DE74ACCCA2C8}" presName="rootComposite" presStyleCnt="0"/>
      <dgm:spPr/>
    </dgm:pt>
    <dgm:pt modelId="{0CADF619-9375-42F3-A39C-2F245863A118}" type="pres">
      <dgm:prSet presAssocID="{21F70A79-A0C6-4084-9C32-DE74ACCCA2C8}" presName="rootText" presStyleLbl="node2" presStyleIdx="0" presStyleCnt="1" custScaleX="126444">
        <dgm:presLayoutVars>
          <dgm:chPref val="3"/>
        </dgm:presLayoutVars>
      </dgm:prSet>
      <dgm:spPr/>
    </dgm:pt>
    <dgm:pt modelId="{80A3CAA3-1F08-4D4B-9BEF-3C3AC8DD8651}" type="pres">
      <dgm:prSet presAssocID="{21F70A79-A0C6-4084-9C32-DE74ACCCA2C8}" presName="rootConnector" presStyleLbl="node2" presStyleIdx="0" presStyleCnt="1"/>
      <dgm:spPr/>
    </dgm:pt>
    <dgm:pt modelId="{B2685502-1BF8-433C-BF43-3080B09F9587}" type="pres">
      <dgm:prSet presAssocID="{21F70A79-A0C6-4084-9C32-DE74ACCCA2C8}" presName="hierChild4" presStyleCnt="0"/>
      <dgm:spPr/>
    </dgm:pt>
    <dgm:pt modelId="{E361CB0C-9421-4ED7-A3F7-9C6585E0638C}" type="pres">
      <dgm:prSet presAssocID="{AE969DF4-3B5A-420E-8776-4107E1A50485}" presName="Name37" presStyleLbl="parChTrans1D3" presStyleIdx="0" presStyleCnt="4"/>
      <dgm:spPr/>
    </dgm:pt>
    <dgm:pt modelId="{747B0674-EC80-4400-8287-2B3295CD2554}" type="pres">
      <dgm:prSet presAssocID="{6B93C311-A09A-4986-B6B0-6432F3E4D0CE}" presName="hierRoot2" presStyleCnt="0">
        <dgm:presLayoutVars>
          <dgm:hierBranch val="init"/>
        </dgm:presLayoutVars>
      </dgm:prSet>
      <dgm:spPr/>
    </dgm:pt>
    <dgm:pt modelId="{9F66A3E5-E3F9-48DC-9348-A15C08D1ADF9}" type="pres">
      <dgm:prSet presAssocID="{6B93C311-A09A-4986-B6B0-6432F3E4D0CE}" presName="rootComposite" presStyleCnt="0"/>
      <dgm:spPr/>
    </dgm:pt>
    <dgm:pt modelId="{C7708A67-F9F6-4FA9-A9B9-D6C18916B327}" type="pres">
      <dgm:prSet presAssocID="{6B93C311-A09A-4986-B6B0-6432F3E4D0CE}" presName="rootText" presStyleLbl="node3" presStyleIdx="0" presStyleCnt="3" custScaleX="123860">
        <dgm:presLayoutVars>
          <dgm:chPref val="3"/>
        </dgm:presLayoutVars>
      </dgm:prSet>
      <dgm:spPr/>
    </dgm:pt>
    <dgm:pt modelId="{DAB1AE70-D668-463D-9406-8274729781BB}" type="pres">
      <dgm:prSet presAssocID="{6B93C311-A09A-4986-B6B0-6432F3E4D0CE}" presName="rootConnector" presStyleLbl="node3" presStyleIdx="0" presStyleCnt="3"/>
      <dgm:spPr/>
    </dgm:pt>
    <dgm:pt modelId="{73359837-53EE-4C48-9C43-0455CCEE7E32}" type="pres">
      <dgm:prSet presAssocID="{6B93C311-A09A-4986-B6B0-6432F3E4D0CE}" presName="hierChild4" presStyleCnt="0"/>
      <dgm:spPr/>
    </dgm:pt>
    <dgm:pt modelId="{15FEE3E5-450F-406A-8360-2A79281AF7AE}" type="pres">
      <dgm:prSet presAssocID="{1181C50A-96C8-4E0F-8D96-00E5C5811D4C}" presName="Name37" presStyleLbl="parChTrans1D4" presStyleIdx="0" presStyleCnt="1"/>
      <dgm:spPr/>
    </dgm:pt>
    <dgm:pt modelId="{2D972692-BC03-48A9-B057-F81F22FEAC9E}" type="pres">
      <dgm:prSet presAssocID="{9FA6C594-4C03-4201-94EC-76BDBB621D17}" presName="hierRoot2" presStyleCnt="0">
        <dgm:presLayoutVars>
          <dgm:hierBranch val="init"/>
        </dgm:presLayoutVars>
      </dgm:prSet>
      <dgm:spPr/>
    </dgm:pt>
    <dgm:pt modelId="{D96FDCDB-82EB-480A-A654-CE8F30358FFA}" type="pres">
      <dgm:prSet presAssocID="{9FA6C594-4C03-4201-94EC-76BDBB621D17}" presName="rootComposite" presStyleCnt="0"/>
      <dgm:spPr/>
    </dgm:pt>
    <dgm:pt modelId="{1C41DC01-34B8-44B6-9430-8D51FAA2E867}" type="pres">
      <dgm:prSet presAssocID="{9FA6C594-4C03-4201-94EC-76BDBB621D17}" presName="rootText" presStyleLbl="node4" presStyleIdx="0" presStyleCnt="1" custScaleX="132849">
        <dgm:presLayoutVars>
          <dgm:chPref val="3"/>
        </dgm:presLayoutVars>
      </dgm:prSet>
      <dgm:spPr/>
    </dgm:pt>
    <dgm:pt modelId="{2932AEED-CA0F-48D3-8327-4082D471CF20}" type="pres">
      <dgm:prSet presAssocID="{9FA6C594-4C03-4201-94EC-76BDBB621D17}" presName="rootConnector" presStyleLbl="node4" presStyleIdx="0" presStyleCnt="1"/>
      <dgm:spPr/>
    </dgm:pt>
    <dgm:pt modelId="{986EFE80-9FFC-4A09-BBE8-A7B9D01AE187}" type="pres">
      <dgm:prSet presAssocID="{9FA6C594-4C03-4201-94EC-76BDBB621D17}" presName="hierChild4" presStyleCnt="0"/>
      <dgm:spPr/>
    </dgm:pt>
    <dgm:pt modelId="{8C8B0179-9ABA-4FDB-9D6F-4B1FB4DBDEA0}" type="pres">
      <dgm:prSet presAssocID="{9FA6C594-4C03-4201-94EC-76BDBB621D17}" presName="hierChild5" presStyleCnt="0"/>
      <dgm:spPr/>
    </dgm:pt>
    <dgm:pt modelId="{36485258-D816-4869-996D-3255BBDF4F78}" type="pres">
      <dgm:prSet presAssocID="{6B93C311-A09A-4986-B6B0-6432F3E4D0CE}" presName="hierChild5" presStyleCnt="0"/>
      <dgm:spPr/>
    </dgm:pt>
    <dgm:pt modelId="{93AFAEA8-9D84-48DE-8331-BA5FA2306326}" type="pres">
      <dgm:prSet presAssocID="{E5880D25-3019-46F7-9FC8-180074A7FF16}" presName="Name37" presStyleLbl="parChTrans1D3" presStyleIdx="1" presStyleCnt="4"/>
      <dgm:spPr/>
    </dgm:pt>
    <dgm:pt modelId="{01A0960F-D5FE-4EB3-A421-197A221F85C4}" type="pres">
      <dgm:prSet presAssocID="{56B194CF-F59C-475D-9C5A-40B6A353C01E}" presName="hierRoot2" presStyleCnt="0">
        <dgm:presLayoutVars>
          <dgm:hierBranch val="init"/>
        </dgm:presLayoutVars>
      </dgm:prSet>
      <dgm:spPr/>
    </dgm:pt>
    <dgm:pt modelId="{078657B3-20C5-465C-A6CD-3244A8091F9F}" type="pres">
      <dgm:prSet presAssocID="{56B194CF-F59C-475D-9C5A-40B6A353C01E}" presName="rootComposite" presStyleCnt="0"/>
      <dgm:spPr/>
    </dgm:pt>
    <dgm:pt modelId="{9A0A8110-BE2C-4E2E-9441-04D9FFB33146}" type="pres">
      <dgm:prSet presAssocID="{56B194CF-F59C-475D-9C5A-40B6A353C01E}" presName="rootText" presStyleLbl="node3" presStyleIdx="1" presStyleCnt="3" custScaleX="120902">
        <dgm:presLayoutVars>
          <dgm:chPref val="3"/>
        </dgm:presLayoutVars>
      </dgm:prSet>
      <dgm:spPr/>
    </dgm:pt>
    <dgm:pt modelId="{39A8E09F-5624-4729-ADFF-BD8C4A705FA2}" type="pres">
      <dgm:prSet presAssocID="{56B194CF-F59C-475D-9C5A-40B6A353C01E}" presName="rootConnector" presStyleLbl="node3" presStyleIdx="1" presStyleCnt="3"/>
      <dgm:spPr/>
    </dgm:pt>
    <dgm:pt modelId="{E02E9543-C436-4CBC-A0D1-8DDA24FC2F71}" type="pres">
      <dgm:prSet presAssocID="{56B194CF-F59C-475D-9C5A-40B6A353C01E}" presName="hierChild4" presStyleCnt="0"/>
      <dgm:spPr/>
    </dgm:pt>
    <dgm:pt modelId="{0F328183-211F-4F5F-B671-CFE6622528F8}" type="pres">
      <dgm:prSet presAssocID="{56B194CF-F59C-475D-9C5A-40B6A353C01E}" presName="hierChild5" presStyleCnt="0"/>
      <dgm:spPr/>
    </dgm:pt>
    <dgm:pt modelId="{6FE8FB16-6DD0-43AC-B75D-E24DAB9A0307}" type="pres">
      <dgm:prSet presAssocID="{BE45550F-D57A-41D2-B51B-BB020975620D}" presName="Name37" presStyleLbl="parChTrans1D3" presStyleIdx="2" presStyleCnt="4"/>
      <dgm:spPr/>
    </dgm:pt>
    <dgm:pt modelId="{531DF6DD-58BB-4ADA-9BC1-9416505B88B9}" type="pres">
      <dgm:prSet presAssocID="{5A7FB64A-822F-4D8B-960D-FCA130D4E4E6}" presName="hierRoot2" presStyleCnt="0">
        <dgm:presLayoutVars>
          <dgm:hierBranch val="init"/>
        </dgm:presLayoutVars>
      </dgm:prSet>
      <dgm:spPr/>
    </dgm:pt>
    <dgm:pt modelId="{AD549FAF-2E58-4382-AE57-0F29B90DECD3}" type="pres">
      <dgm:prSet presAssocID="{5A7FB64A-822F-4D8B-960D-FCA130D4E4E6}" presName="rootComposite" presStyleCnt="0"/>
      <dgm:spPr/>
    </dgm:pt>
    <dgm:pt modelId="{6C85A1C2-0142-426D-9928-13B51854ED90}" type="pres">
      <dgm:prSet presAssocID="{5A7FB64A-822F-4D8B-960D-FCA130D4E4E6}" presName="rootText" presStyleLbl="node3" presStyleIdx="2" presStyleCnt="3" custScaleX="119081">
        <dgm:presLayoutVars>
          <dgm:chPref val="3"/>
        </dgm:presLayoutVars>
      </dgm:prSet>
      <dgm:spPr/>
    </dgm:pt>
    <dgm:pt modelId="{E7EECEEB-65CC-4C5B-8413-469FD2DABC7A}" type="pres">
      <dgm:prSet presAssocID="{5A7FB64A-822F-4D8B-960D-FCA130D4E4E6}" presName="rootConnector" presStyleLbl="node3" presStyleIdx="2" presStyleCnt="3"/>
      <dgm:spPr/>
    </dgm:pt>
    <dgm:pt modelId="{69B5D494-0D25-42A1-BA3A-A629477F37D2}" type="pres">
      <dgm:prSet presAssocID="{5A7FB64A-822F-4D8B-960D-FCA130D4E4E6}" presName="hierChild4" presStyleCnt="0"/>
      <dgm:spPr/>
    </dgm:pt>
    <dgm:pt modelId="{46057BA0-B844-456C-9BA6-5E5E670D67CB}" type="pres">
      <dgm:prSet presAssocID="{5A7FB64A-822F-4D8B-960D-FCA130D4E4E6}" presName="hierChild5" presStyleCnt="0"/>
      <dgm:spPr/>
    </dgm:pt>
    <dgm:pt modelId="{910B3D87-E3AA-4A7F-9457-1980EFECF123}" type="pres">
      <dgm:prSet presAssocID="{21F70A79-A0C6-4084-9C32-DE74ACCCA2C8}" presName="hierChild5" presStyleCnt="0"/>
      <dgm:spPr/>
    </dgm:pt>
    <dgm:pt modelId="{49816124-3C53-4A0B-8697-8F7AC8A387A3}" type="pres">
      <dgm:prSet presAssocID="{6E933F13-CF3F-46EA-9BA1-E7647E89D229}" presName="Name111" presStyleLbl="parChTrans1D3" presStyleIdx="3" presStyleCnt="4"/>
      <dgm:spPr/>
    </dgm:pt>
    <dgm:pt modelId="{2580EECB-A615-4875-83D0-77423CE9AF51}" type="pres">
      <dgm:prSet presAssocID="{15843810-452D-478D-91CA-0CF51E843526}" presName="hierRoot3" presStyleCnt="0">
        <dgm:presLayoutVars>
          <dgm:hierBranch val="init"/>
        </dgm:presLayoutVars>
      </dgm:prSet>
      <dgm:spPr/>
    </dgm:pt>
    <dgm:pt modelId="{56CB8D16-267E-461D-B1A5-E0137AB058F4}" type="pres">
      <dgm:prSet presAssocID="{15843810-452D-478D-91CA-0CF51E843526}" presName="rootComposite3" presStyleCnt="0"/>
      <dgm:spPr/>
    </dgm:pt>
    <dgm:pt modelId="{8BB664FC-E9A2-4CE7-AEDF-7179D6C0B572}" type="pres">
      <dgm:prSet presAssocID="{15843810-452D-478D-91CA-0CF51E843526}" presName="rootText3" presStyleLbl="asst2" presStyleIdx="0" presStyleCnt="1" custScaleX="132884">
        <dgm:presLayoutVars>
          <dgm:chPref val="3"/>
        </dgm:presLayoutVars>
      </dgm:prSet>
      <dgm:spPr/>
    </dgm:pt>
    <dgm:pt modelId="{FF47C29B-21A2-499A-B8E2-93074F359C33}" type="pres">
      <dgm:prSet presAssocID="{15843810-452D-478D-91CA-0CF51E843526}" presName="rootConnector3" presStyleLbl="asst2" presStyleIdx="0" presStyleCnt="1"/>
      <dgm:spPr/>
    </dgm:pt>
    <dgm:pt modelId="{910FEAA1-1190-4520-81C7-6BE20A3F52F5}" type="pres">
      <dgm:prSet presAssocID="{15843810-452D-478D-91CA-0CF51E843526}" presName="hierChild6" presStyleCnt="0"/>
      <dgm:spPr/>
    </dgm:pt>
    <dgm:pt modelId="{3F60655A-A362-4ED5-BF1A-33C6C6385F00}" type="pres">
      <dgm:prSet presAssocID="{15843810-452D-478D-91CA-0CF51E843526}" presName="hierChild7" presStyleCnt="0"/>
      <dgm:spPr/>
    </dgm:pt>
    <dgm:pt modelId="{A0A4FA20-13F3-4A94-AAF2-D445C060AE00}" type="pres">
      <dgm:prSet presAssocID="{A954AAD9-4265-451C-AFB9-8573BB4A1F9C}" presName="hierChild3" presStyleCnt="0"/>
      <dgm:spPr/>
    </dgm:pt>
  </dgm:ptLst>
  <dgm:cxnLst>
    <dgm:cxn modelId="{A5DDF807-FE3D-4549-A1D3-F24FF3BBBF77}" type="presOf" srcId="{21F70A79-A0C6-4084-9C32-DE74ACCCA2C8}" destId="{0CADF619-9375-42F3-A39C-2F245863A118}" srcOrd="0" destOrd="0" presId="urn:microsoft.com/office/officeart/2005/8/layout/orgChart1"/>
    <dgm:cxn modelId="{6AE0F608-279E-4677-9C59-DE81A02E2B7C}" type="presOf" srcId="{9FA6C594-4C03-4201-94EC-76BDBB621D17}" destId="{2932AEED-CA0F-48D3-8327-4082D471CF20}" srcOrd="1" destOrd="0" presId="urn:microsoft.com/office/officeart/2005/8/layout/orgChart1"/>
    <dgm:cxn modelId="{3416980C-0D69-4258-9A14-1D838119C92A}" type="presOf" srcId="{15843810-452D-478D-91CA-0CF51E843526}" destId="{8BB664FC-E9A2-4CE7-AEDF-7179D6C0B572}" srcOrd="0" destOrd="0" presId="urn:microsoft.com/office/officeart/2005/8/layout/orgChart1"/>
    <dgm:cxn modelId="{D1765D12-4AB9-4B11-9D43-3E3B1D230E02}" type="presOf" srcId="{E5880D25-3019-46F7-9FC8-180074A7FF16}" destId="{93AFAEA8-9D84-48DE-8331-BA5FA2306326}" srcOrd="0" destOrd="0" presId="urn:microsoft.com/office/officeart/2005/8/layout/orgChart1"/>
    <dgm:cxn modelId="{72ABC814-3A2E-4DEA-833D-F5C83272E5BD}" type="presOf" srcId="{C5DBBBA0-02A8-497B-A77C-C903AB4D1E40}" destId="{5B2CCDD3-F95C-4126-801B-F675CD51F7CE}" srcOrd="0" destOrd="0" presId="urn:microsoft.com/office/officeart/2005/8/layout/orgChart1"/>
    <dgm:cxn modelId="{C793C71F-EB0D-41F5-B8C1-A5B1F24B1712}" type="presOf" srcId="{A954AAD9-4265-451C-AFB9-8573BB4A1F9C}" destId="{37F09888-4E28-45F2-A30C-975B5B0CA765}" srcOrd="1" destOrd="0" presId="urn:microsoft.com/office/officeart/2005/8/layout/orgChart1"/>
    <dgm:cxn modelId="{37D10924-C4F9-478E-A840-19464B094678}" srcId="{21F70A79-A0C6-4084-9C32-DE74ACCCA2C8}" destId="{56B194CF-F59C-475D-9C5A-40B6A353C01E}" srcOrd="2" destOrd="0" parTransId="{E5880D25-3019-46F7-9FC8-180074A7FF16}" sibTransId="{5044F31C-1231-4427-A849-1AA3DFF2CAA5}"/>
    <dgm:cxn modelId="{5E3AA630-7105-4300-8CA2-0D8C27655E47}" type="presOf" srcId="{6E933F13-CF3F-46EA-9BA1-E7647E89D229}" destId="{49816124-3C53-4A0B-8697-8F7AC8A387A3}" srcOrd="0" destOrd="0" presId="urn:microsoft.com/office/officeart/2005/8/layout/orgChart1"/>
    <dgm:cxn modelId="{D25B5E38-FD63-462F-A114-57AFD48BC29D}" type="presOf" srcId="{5A7FB64A-822F-4D8B-960D-FCA130D4E4E6}" destId="{6C85A1C2-0142-426D-9928-13B51854ED90}" srcOrd="0" destOrd="0" presId="urn:microsoft.com/office/officeart/2005/8/layout/orgChart1"/>
    <dgm:cxn modelId="{D829EC3C-8C13-4CFE-8328-1BF7A021E72B}" type="presOf" srcId="{BE45550F-D57A-41D2-B51B-BB020975620D}" destId="{6FE8FB16-6DD0-43AC-B75D-E24DAB9A0307}" srcOrd="0" destOrd="0" presId="urn:microsoft.com/office/officeart/2005/8/layout/orgChart1"/>
    <dgm:cxn modelId="{EBA8F060-C021-4ADC-95AA-2A6836C26B3C}" srcId="{6B93C311-A09A-4986-B6B0-6432F3E4D0CE}" destId="{9FA6C594-4C03-4201-94EC-76BDBB621D17}" srcOrd="0" destOrd="0" parTransId="{1181C50A-96C8-4E0F-8D96-00E5C5811D4C}" sibTransId="{74D602D1-42B5-4DD4-AA5F-6881E480ADB8}"/>
    <dgm:cxn modelId="{10CFEC45-3884-4F19-A493-1D707027C9CF}" srcId="{DC2A3FC1-E48E-4101-B2A8-1E2D9E6D58A9}" destId="{A954AAD9-4265-451C-AFB9-8573BB4A1F9C}" srcOrd="0" destOrd="0" parTransId="{6A14AF30-6059-43A8-A3EB-FEA3F1543C07}" sibTransId="{078911BC-73BE-43DF-9404-4010B85ABB9C}"/>
    <dgm:cxn modelId="{03927446-497C-4E9F-95D1-5AE0BBB06381}" type="presOf" srcId="{6B93C311-A09A-4986-B6B0-6432F3E4D0CE}" destId="{DAB1AE70-D668-463D-9406-8274729781BB}" srcOrd="1" destOrd="0" presId="urn:microsoft.com/office/officeart/2005/8/layout/orgChart1"/>
    <dgm:cxn modelId="{A803DC68-FC20-4F5A-AFF0-8789A9146A07}" srcId="{21F70A79-A0C6-4084-9C32-DE74ACCCA2C8}" destId="{15843810-452D-478D-91CA-0CF51E843526}" srcOrd="0" destOrd="0" parTransId="{6E933F13-CF3F-46EA-9BA1-E7647E89D229}" sibTransId="{E9A551F4-9DDD-415B-A36B-8D3D16A2885E}"/>
    <dgm:cxn modelId="{F3D52851-B14B-4BCD-AC87-DCED45E5B4FF}" srcId="{21F70A79-A0C6-4084-9C32-DE74ACCCA2C8}" destId="{6B93C311-A09A-4986-B6B0-6432F3E4D0CE}" srcOrd="1" destOrd="0" parTransId="{AE969DF4-3B5A-420E-8776-4107E1A50485}" sibTransId="{CE82F03D-D104-4BE4-91F7-7F530622A416}"/>
    <dgm:cxn modelId="{5CC81D58-77DB-4078-ABC1-FB0856B4B114}" type="presOf" srcId="{5A7FB64A-822F-4D8B-960D-FCA130D4E4E6}" destId="{E7EECEEB-65CC-4C5B-8413-469FD2DABC7A}" srcOrd="1" destOrd="0" presId="urn:microsoft.com/office/officeart/2005/8/layout/orgChart1"/>
    <dgm:cxn modelId="{06CCBE7B-BC58-4CDF-A779-AFDAA1EE3506}" type="presOf" srcId="{1181C50A-96C8-4E0F-8D96-00E5C5811D4C}" destId="{15FEE3E5-450F-406A-8360-2A79281AF7AE}" srcOrd="0" destOrd="0" presId="urn:microsoft.com/office/officeart/2005/8/layout/orgChart1"/>
    <dgm:cxn modelId="{AA875388-6A04-4B76-A541-60F5E1516860}" type="presOf" srcId="{56B194CF-F59C-475D-9C5A-40B6A353C01E}" destId="{9A0A8110-BE2C-4E2E-9441-04D9FFB33146}" srcOrd="0" destOrd="0" presId="urn:microsoft.com/office/officeart/2005/8/layout/orgChart1"/>
    <dgm:cxn modelId="{E2485993-A374-4B18-89FA-6B2DF207B820}" srcId="{A954AAD9-4265-451C-AFB9-8573BB4A1F9C}" destId="{21F70A79-A0C6-4084-9C32-DE74ACCCA2C8}" srcOrd="0" destOrd="0" parTransId="{C5DBBBA0-02A8-497B-A77C-C903AB4D1E40}" sibTransId="{8EAAF98B-3F04-418E-AAE4-6D6CB7BA5DA0}"/>
    <dgm:cxn modelId="{AFB4C59C-1DA5-456F-A32F-E5C9BBD13F4A}" type="presOf" srcId="{9FA6C594-4C03-4201-94EC-76BDBB621D17}" destId="{1C41DC01-34B8-44B6-9430-8D51FAA2E867}" srcOrd="0" destOrd="0" presId="urn:microsoft.com/office/officeart/2005/8/layout/orgChart1"/>
    <dgm:cxn modelId="{A92EC89D-7ED2-4216-92B0-841D3887A428}" type="presOf" srcId="{21F70A79-A0C6-4084-9C32-DE74ACCCA2C8}" destId="{80A3CAA3-1F08-4D4B-9BEF-3C3AC8DD8651}" srcOrd="1" destOrd="0" presId="urn:microsoft.com/office/officeart/2005/8/layout/orgChart1"/>
    <dgm:cxn modelId="{2AAE6CAD-4B38-43FB-AC07-55BCACB5074E}" type="presOf" srcId="{6B93C311-A09A-4986-B6B0-6432F3E4D0CE}" destId="{C7708A67-F9F6-4FA9-A9B9-D6C18916B327}" srcOrd="0" destOrd="0" presId="urn:microsoft.com/office/officeart/2005/8/layout/orgChart1"/>
    <dgm:cxn modelId="{970951AD-A59C-45B1-B2CF-C040CCA3E2F9}" type="presOf" srcId="{15843810-452D-478D-91CA-0CF51E843526}" destId="{FF47C29B-21A2-499A-B8E2-93074F359C33}" srcOrd="1" destOrd="0" presId="urn:microsoft.com/office/officeart/2005/8/layout/orgChart1"/>
    <dgm:cxn modelId="{F2CBD5B8-9A8B-48D5-B08B-99B18F78941B}" type="presOf" srcId="{DC2A3FC1-E48E-4101-B2A8-1E2D9E6D58A9}" destId="{DA55C9F4-00FA-433F-A9D6-46B996B0C86A}" srcOrd="0" destOrd="0" presId="urn:microsoft.com/office/officeart/2005/8/layout/orgChart1"/>
    <dgm:cxn modelId="{F2814AC5-E3E4-4991-81AD-975ABF8C35BA}" type="presOf" srcId="{56B194CF-F59C-475D-9C5A-40B6A353C01E}" destId="{39A8E09F-5624-4729-ADFF-BD8C4A705FA2}" srcOrd="1" destOrd="0" presId="urn:microsoft.com/office/officeart/2005/8/layout/orgChart1"/>
    <dgm:cxn modelId="{C13C66D4-110E-4222-BCF1-33DDF9E3A4DC}" type="presOf" srcId="{AE969DF4-3B5A-420E-8776-4107E1A50485}" destId="{E361CB0C-9421-4ED7-A3F7-9C6585E0638C}" srcOrd="0" destOrd="0" presId="urn:microsoft.com/office/officeart/2005/8/layout/orgChart1"/>
    <dgm:cxn modelId="{B90606D8-B006-4FB4-80FF-FC147D64CD44}" type="presOf" srcId="{A954AAD9-4265-451C-AFB9-8573BB4A1F9C}" destId="{B5369D7A-EFD2-4686-952A-0083EFC3A4CF}" srcOrd="0" destOrd="0" presId="urn:microsoft.com/office/officeart/2005/8/layout/orgChart1"/>
    <dgm:cxn modelId="{6AA689D9-4934-4731-94F8-228AC0FDAA89}" srcId="{21F70A79-A0C6-4084-9C32-DE74ACCCA2C8}" destId="{5A7FB64A-822F-4D8B-960D-FCA130D4E4E6}" srcOrd="3" destOrd="0" parTransId="{BE45550F-D57A-41D2-B51B-BB020975620D}" sibTransId="{55CF20D0-B1B0-4B58-B8D0-2B1F6344B71F}"/>
    <dgm:cxn modelId="{EDB9AA9E-4862-4D21-B163-8EE081DE62E5}" type="presParOf" srcId="{DA55C9F4-00FA-433F-A9D6-46B996B0C86A}" destId="{7D96B7AB-CC4D-4655-8CE7-062106615B03}" srcOrd="0" destOrd="0" presId="urn:microsoft.com/office/officeart/2005/8/layout/orgChart1"/>
    <dgm:cxn modelId="{593D2BE5-BF33-4326-A002-3649830FB019}" type="presParOf" srcId="{7D96B7AB-CC4D-4655-8CE7-062106615B03}" destId="{072B7906-1B75-4C17-93D5-40183E10A651}" srcOrd="0" destOrd="0" presId="urn:microsoft.com/office/officeart/2005/8/layout/orgChart1"/>
    <dgm:cxn modelId="{725D6BE2-E16B-44B9-8AB3-A17E77557CAE}" type="presParOf" srcId="{072B7906-1B75-4C17-93D5-40183E10A651}" destId="{B5369D7A-EFD2-4686-952A-0083EFC3A4CF}" srcOrd="0" destOrd="0" presId="urn:microsoft.com/office/officeart/2005/8/layout/orgChart1"/>
    <dgm:cxn modelId="{AC2666CE-900F-4DC0-943F-A1961F13C22A}" type="presParOf" srcId="{072B7906-1B75-4C17-93D5-40183E10A651}" destId="{37F09888-4E28-45F2-A30C-975B5B0CA765}" srcOrd="1" destOrd="0" presId="urn:microsoft.com/office/officeart/2005/8/layout/orgChart1"/>
    <dgm:cxn modelId="{EA20A1D4-B085-495C-8142-638D43F60A75}" type="presParOf" srcId="{7D96B7AB-CC4D-4655-8CE7-062106615B03}" destId="{19EA0B80-022A-49A0-8627-5A0FE817D49A}" srcOrd="1" destOrd="0" presId="urn:microsoft.com/office/officeart/2005/8/layout/orgChart1"/>
    <dgm:cxn modelId="{074E9C40-43E9-4928-A471-77C57E415E6F}" type="presParOf" srcId="{19EA0B80-022A-49A0-8627-5A0FE817D49A}" destId="{5B2CCDD3-F95C-4126-801B-F675CD51F7CE}" srcOrd="0" destOrd="0" presId="urn:microsoft.com/office/officeart/2005/8/layout/orgChart1"/>
    <dgm:cxn modelId="{76607EC4-1CB0-4C1A-833D-ACF5A96FA9CA}" type="presParOf" srcId="{19EA0B80-022A-49A0-8627-5A0FE817D49A}" destId="{7D9834A4-456E-4F74-836C-3FB06D1E21AA}" srcOrd="1" destOrd="0" presId="urn:microsoft.com/office/officeart/2005/8/layout/orgChart1"/>
    <dgm:cxn modelId="{7B32B143-6800-4AD3-80E5-74A182F39743}" type="presParOf" srcId="{7D9834A4-456E-4F74-836C-3FB06D1E21AA}" destId="{67ADD3E1-DE96-4D57-9ECB-2BF0BE316BAD}" srcOrd="0" destOrd="0" presId="urn:microsoft.com/office/officeart/2005/8/layout/orgChart1"/>
    <dgm:cxn modelId="{826588E9-C33D-4C3A-980D-D416BDB8FB95}" type="presParOf" srcId="{67ADD3E1-DE96-4D57-9ECB-2BF0BE316BAD}" destId="{0CADF619-9375-42F3-A39C-2F245863A118}" srcOrd="0" destOrd="0" presId="urn:microsoft.com/office/officeart/2005/8/layout/orgChart1"/>
    <dgm:cxn modelId="{EE2B0431-8561-4D97-9F1E-738A8622F58A}" type="presParOf" srcId="{67ADD3E1-DE96-4D57-9ECB-2BF0BE316BAD}" destId="{80A3CAA3-1F08-4D4B-9BEF-3C3AC8DD8651}" srcOrd="1" destOrd="0" presId="urn:microsoft.com/office/officeart/2005/8/layout/orgChart1"/>
    <dgm:cxn modelId="{3816AF4A-5005-49CB-813B-5EAFBE42989A}" type="presParOf" srcId="{7D9834A4-456E-4F74-836C-3FB06D1E21AA}" destId="{B2685502-1BF8-433C-BF43-3080B09F9587}" srcOrd="1" destOrd="0" presId="urn:microsoft.com/office/officeart/2005/8/layout/orgChart1"/>
    <dgm:cxn modelId="{D164C296-9D25-4552-BF54-89D19C233886}" type="presParOf" srcId="{B2685502-1BF8-433C-BF43-3080B09F9587}" destId="{E361CB0C-9421-4ED7-A3F7-9C6585E0638C}" srcOrd="0" destOrd="0" presId="urn:microsoft.com/office/officeart/2005/8/layout/orgChart1"/>
    <dgm:cxn modelId="{B6FC22B3-4B8D-48CD-80DE-286B6B5DC99A}" type="presParOf" srcId="{B2685502-1BF8-433C-BF43-3080B09F9587}" destId="{747B0674-EC80-4400-8287-2B3295CD2554}" srcOrd="1" destOrd="0" presId="urn:microsoft.com/office/officeart/2005/8/layout/orgChart1"/>
    <dgm:cxn modelId="{DE43D0BD-AD16-443F-B9C2-7A125E726AE1}" type="presParOf" srcId="{747B0674-EC80-4400-8287-2B3295CD2554}" destId="{9F66A3E5-E3F9-48DC-9348-A15C08D1ADF9}" srcOrd="0" destOrd="0" presId="urn:microsoft.com/office/officeart/2005/8/layout/orgChart1"/>
    <dgm:cxn modelId="{9460431C-E94F-4E80-AC69-623CC41C0148}" type="presParOf" srcId="{9F66A3E5-E3F9-48DC-9348-A15C08D1ADF9}" destId="{C7708A67-F9F6-4FA9-A9B9-D6C18916B327}" srcOrd="0" destOrd="0" presId="urn:microsoft.com/office/officeart/2005/8/layout/orgChart1"/>
    <dgm:cxn modelId="{1069CCB6-168A-45A2-8C6C-6C7DE05E9844}" type="presParOf" srcId="{9F66A3E5-E3F9-48DC-9348-A15C08D1ADF9}" destId="{DAB1AE70-D668-463D-9406-8274729781BB}" srcOrd="1" destOrd="0" presId="urn:microsoft.com/office/officeart/2005/8/layout/orgChart1"/>
    <dgm:cxn modelId="{276DEB9A-50CD-4DE4-A9B2-68BE098B19A1}" type="presParOf" srcId="{747B0674-EC80-4400-8287-2B3295CD2554}" destId="{73359837-53EE-4C48-9C43-0455CCEE7E32}" srcOrd="1" destOrd="0" presId="urn:microsoft.com/office/officeart/2005/8/layout/orgChart1"/>
    <dgm:cxn modelId="{979DCA81-1132-41F7-B862-D809870973AD}" type="presParOf" srcId="{73359837-53EE-4C48-9C43-0455CCEE7E32}" destId="{15FEE3E5-450F-406A-8360-2A79281AF7AE}" srcOrd="0" destOrd="0" presId="urn:microsoft.com/office/officeart/2005/8/layout/orgChart1"/>
    <dgm:cxn modelId="{AD740539-CB3C-4CEA-9078-1D9736A46460}" type="presParOf" srcId="{73359837-53EE-4C48-9C43-0455CCEE7E32}" destId="{2D972692-BC03-48A9-B057-F81F22FEAC9E}" srcOrd="1" destOrd="0" presId="urn:microsoft.com/office/officeart/2005/8/layout/orgChart1"/>
    <dgm:cxn modelId="{4A82D13B-84C8-41C4-9B68-DA858978579F}" type="presParOf" srcId="{2D972692-BC03-48A9-B057-F81F22FEAC9E}" destId="{D96FDCDB-82EB-480A-A654-CE8F30358FFA}" srcOrd="0" destOrd="0" presId="urn:microsoft.com/office/officeart/2005/8/layout/orgChart1"/>
    <dgm:cxn modelId="{7B090B59-8AB5-47BE-A44D-A8C9B14227DD}" type="presParOf" srcId="{D96FDCDB-82EB-480A-A654-CE8F30358FFA}" destId="{1C41DC01-34B8-44B6-9430-8D51FAA2E867}" srcOrd="0" destOrd="0" presId="urn:microsoft.com/office/officeart/2005/8/layout/orgChart1"/>
    <dgm:cxn modelId="{07A78D65-ECE9-47D6-ADD0-F0DA41E726BD}" type="presParOf" srcId="{D96FDCDB-82EB-480A-A654-CE8F30358FFA}" destId="{2932AEED-CA0F-48D3-8327-4082D471CF20}" srcOrd="1" destOrd="0" presId="urn:microsoft.com/office/officeart/2005/8/layout/orgChart1"/>
    <dgm:cxn modelId="{7CDAFCBB-97FA-43B9-938A-50429ABCC566}" type="presParOf" srcId="{2D972692-BC03-48A9-B057-F81F22FEAC9E}" destId="{986EFE80-9FFC-4A09-BBE8-A7B9D01AE187}" srcOrd="1" destOrd="0" presId="urn:microsoft.com/office/officeart/2005/8/layout/orgChart1"/>
    <dgm:cxn modelId="{F610602B-E3AC-4DAA-A393-99548305EFBB}" type="presParOf" srcId="{2D972692-BC03-48A9-B057-F81F22FEAC9E}" destId="{8C8B0179-9ABA-4FDB-9D6F-4B1FB4DBDEA0}" srcOrd="2" destOrd="0" presId="urn:microsoft.com/office/officeart/2005/8/layout/orgChart1"/>
    <dgm:cxn modelId="{37B16936-7356-46CA-B57C-F904B530EFB0}" type="presParOf" srcId="{747B0674-EC80-4400-8287-2B3295CD2554}" destId="{36485258-D816-4869-996D-3255BBDF4F78}" srcOrd="2" destOrd="0" presId="urn:microsoft.com/office/officeart/2005/8/layout/orgChart1"/>
    <dgm:cxn modelId="{BDA2B741-C2B3-4591-A3F6-0C38122A4BD9}" type="presParOf" srcId="{B2685502-1BF8-433C-BF43-3080B09F9587}" destId="{93AFAEA8-9D84-48DE-8331-BA5FA2306326}" srcOrd="2" destOrd="0" presId="urn:microsoft.com/office/officeart/2005/8/layout/orgChart1"/>
    <dgm:cxn modelId="{85A1D6DE-071E-4D6F-B9F0-C9D27F482BEA}" type="presParOf" srcId="{B2685502-1BF8-433C-BF43-3080B09F9587}" destId="{01A0960F-D5FE-4EB3-A421-197A221F85C4}" srcOrd="3" destOrd="0" presId="urn:microsoft.com/office/officeart/2005/8/layout/orgChart1"/>
    <dgm:cxn modelId="{52EF7D52-0E9C-46FA-9CBD-24C666BD9071}" type="presParOf" srcId="{01A0960F-D5FE-4EB3-A421-197A221F85C4}" destId="{078657B3-20C5-465C-A6CD-3244A8091F9F}" srcOrd="0" destOrd="0" presId="urn:microsoft.com/office/officeart/2005/8/layout/orgChart1"/>
    <dgm:cxn modelId="{080DE991-F8D2-4FC6-8680-B58557C53C10}" type="presParOf" srcId="{078657B3-20C5-465C-A6CD-3244A8091F9F}" destId="{9A0A8110-BE2C-4E2E-9441-04D9FFB33146}" srcOrd="0" destOrd="0" presId="urn:microsoft.com/office/officeart/2005/8/layout/orgChart1"/>
    <dgm:cxn modelId="{D6266376-842D-494B-8CB1-073D2C5D2B8D}" type="presParOf" srcId="{078657B3-20C5-465C-A6CD-3244A8091F9F}" destId="{39A8E09F-5624-4729-ADFF-BD8C4A705FA2}" srcOrd="1" destOrd="0" presId="urn:microsoft.com/office/officeart/2005/8/layout/orgChart1"/>
    <dgm:cxn modelId="{DD896A46-BFDB-4C9D-9DFD-4AD250087934}" type="presParOf" srcId="{01A0960F-D5FE-4EB3-A421-197A221F85C4}" destId="{E02E9543-C436-4CBC-A0D1-8DDA24FC2F71}" srcOrd="1" destOrd="0" presId="urn:microsoft.com/office/officeart/2005/8/layout/orgChart1"/>
    <dgm:cxn modelId="{BA28B91D-28A8-4742-8374-0E7B4D48E22D}" type="presParOf" srcId="{01A0960F-D5FE-4EB3-A421-197A221F85C4}" destId="{0F328183-211F-4F5F-B671-CFE6622528F8}" srcOrd="2" destOrd="0" presId="urn:microsoft.com/office/officeart/2005/8/layout/orgChart1"/>
    <dgm:cxn modelId="{876C3779-F2CF-4C1B-A15A-62DB1F193063}" type="presParOf" srcId="{B2685502-1BF8-433C-BF43-3080B09F9587}" destId="{6FE8FB16-6DD0-43AC-B75D-E24DAB9A0307}" srcOrd="4" destOrd="0" presId="urn:microsoft.com/office/officeart/2005/8/layout/orgChart1"/>
    <dgm:cxn modelId="{54677192-1FD4-481C-868E-7FCC6B7F4C60}" type="presParOf" srcId="{B2685502-1BF8-433C-BF43-3080B09F9587}" destId="{531DF6DD-58BB-4ADA-9BC1-9416505B88B9}" srcOrd="5" destOrd="0" presId="urn:microsoft.com/office/officeart/2005/8/layout/orgChart1"/>
    <dgm:cxn modelId="{5294A20A-3C8A-4313-8B84-129451810DC6}" type="presParOf" srcId="{531DF6DD-58BB-4ADA-9BC1-9416505B88B9}" destId="{AD549FAF-2E58-4382-AE57-0F29B90DECD3}" srcOrd="0" destOrd="0" presId="urn:microsoft.com/office/officeart/2005/8/layout/orgChart1"/>
    <dgm:cxn modelId="{FB9C1FB8-4D01-41A7-A5C6-9FE483CE0B60}" type="presParOf" srcId="{AD549FAF-2E58-4382-AE57-0F29B90DECD3}" destId="{6C85A1C2-0142-426D-9928-13B51854ED90}" srcOrd="0" destOrd="0" presId="urn:microsoft.com/office/officeart/2005/8/layout/orgChart1"/>
    <dgm:cxn modelId="{1780D0F9-4F0E-4B6E-8757-D4D52351BCF3}" type="presParOf" srcId="{AD549FAF-2E58-4382-AE57-0F29B90DECD3}" destId="{E7EECEEB-65CC-4C5B-8413-469FD2DABC7A}" srcOrd="1" destOrd="0" presId="urn:microsoft.com/office/officeart/2005/8/layout/orgChart1"/>
    <dgm:cxn modelId="{458AD5EC-2534-4922-882D-25D2B6152FF3}" type="presParOf" srcId="{531DF6DD-58BB-4ADA-9BC1-9416505B88B9}" destId="{69B5D494-0D25-42A1-BA3A-A629477F37D2}" srcOrd="1" destOrd="0" presId="urn:microsoft.com/office/officeart/2005/8/layout/orgChart1"/>
    <dgm:cxn modelId="{2D0915D8-7C6C-485D-B44B-D098A8681584}" type="presParOf" srcId="{531DF6DD-58BB-4ADA-9BC1-9416505B88B9}" destId="{46057BA0-B844-456C-9BA6-5E5E670D67CB}" srcOrd="2" destOrd="0" presId="urn:microsoft.com/office/officeart/2005/8/layout/orgChart1"/>
    <dgm:cxn modelId="{37FE400B-16B3-480A-9398-C7799FA18C30}" type="presParOf" srcId="{7D9834A4-456E-4F74-836C-3FB06D1E21AA}" destId="{910B3D87-E3AA-4A7F-9457-1980EFECF123}" srcOrd="2" destOrd="0" presId="urn:microsoft.com/office/officeart/2005/8/layout/orgChart1"/>
    <dgm:cxn modelId="{D8655061-FA69-4BDE-AF32-951764740781}" type="presParOf" srcId="{910B3D87-E3AA-4A7F-9457-1980EFECF123}" destId="{49816124-3C53-4A0B-8697-8F7AC8A387A3}" srcOrd="0" destOrd="0" presId="urn:microsoft.com/office/officeart/2005/8/layout/orgChart1"/>
    <dgm:cxn modelId="{FEABF565-267B-49D3-90EA-69C2C02E28FB}" type="presParOf" srcId="{910B3D87-E3AA-4A7F-9457-1980EFECF123}" destId="{2580EECB-A615-4875-83D0-77423CE9AF51}" srcOrd="1" destOrd="0" presId="urn:microsoft.com/office/officeart/2005/8/layout/orgChart1"/>
    <dgm:cxn modelId="{DAA62AA7-55EA-4D03-8BDB-4498912EB4ED}" type="presParOf" srcId="{2580EECB-A615-4875-83D0-77423CE9AF51}" destId="{56CB8D16-267E-461D-B1A5-E0137AB058F4}" srcOrd="0" destOrd="0" presId="urn:microsoft.com/office/officeart/2005/8/layout/orgChart1"/>
    <dgm:cxn modelId="{43CD8720-3A84-4D47-A38E-CC58579F5633}" type="presParOf" srcId="{56CB8D16-267E-461D-B1A5-E0137AB058F4}" destId="{8BB664FC-E9A2-4CE7-AEDF-7179D6C0B572}" srcOrd="0" destOrd="0" presId="urn:microsoft.com/office/officeart/2005/8/layout/orgChart1"/>
    <dgm:cxn modelId="{D05C9485-7FD7-4434-8334-4C78DCCC1323}" type="presParOf" srcId="{56CB8D16-267E-461D-B1A5-E0137AB058F4}" destId="{FF47C29B-21A2-499A-B8E2-93074F359C33}" srcOrd="1" destOrd="0" presId="urn:microsoft.com/office/officeart/2005/8/layout/orgChart1"/>
    <dgm:cxn modelId="{879E722D-7734-4184-95AE-07B949549BD2}" type="presParOf" srcId="{2580EECB-A615-4875-83D0-77423CE9AF51}" destId="{910FEAA1-1190-4520-81C7-6BE20A3F52F5}" srcOrd="1" destOrd="0" presId="urn:microsoft.com/office/officeart/2005/8/layout/orgChart1"/>
    <dgm:cxn modelId="{F6C5D71D-C30F-4254-9558-044AF4F08366}" type="presParOf" srcId="{2580EECB-A615-4875-83D0-77423CE9AF51}" destId="{3F60655A-A362-4ED5-BF1A-33C6C6385F00}" srcOrd="2" destOrd="0" presId="urn:microsoft.com/office/officeart/2005/8/layout/orgChart1"/>
    <dgm:cxn modelId="{9CC87D41-1012-4DD3-B8D8-72EC756DA4D8}" type="presParOf" srcId="{7D96B7AB-CC4D-4655-8CE7-062106615B03}" destId="{A0A4FA20-13F3-4A94-AAF2-D445C060AE0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816124-3C53-4A0B-8697-8F7AC8A387A3}">
      <dsp:nvSpPr>
        <dsp:cNvPr id="0" name=""/>
        <dsp:cNvSpPr/>
      </dsp:nvSpPr>
      <dsp:spPr>
        <a:xfrm>
          <a:off x="3806630" y="1576705"/>
          <a:ext cx="136719" cy="598963"/>
        </a:xfrm>
        <a:custGeom>
          <a:avLst/>
          <a:gdLst/>
          <a:ahLst/>
          <a:cxnLst/>
          <a:rect l="0" t="0" r="0" b="0"/>
          <a:pathLst>
            <a:path>
              <a:moveTo>
                <a:pt x="136719" y="0"/>
              </a:moveTo>
              <a:lnTo>
                <a:pt x="136719" y="598963"/>
              </a:lnTo>
              <a:lnTo>
                <a:pt x="0" y="598963"/>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E8FB16-6DD0-43AC-B75D-E24DAB9A0307}">
      <dsp:nvSpPr>
        <dsp:cNvPr id="0" name=""/>
        <dsp:cNvSpPr/>
      </dsp:nvSpPr>
      <dsp:spPr>
        <a:xfrm>
          <a:off x="3943350" y="1576705"/>
          <a:ext cx="1866956" cy="1197927"/>
        </a:xfrm>
        <a:custGeom>
          <a:avLst/>
          <a:gdLst/>
          <a:ahLst/>
          <a:cxnLst/>
          <a:rect l="0" t="0" r="0" b="0"/>
          <a:pathLst>
            <a:path>
              <a:moveTo>
                <a:pt x="0" y="0"/>
              </a:moveTo>
              <a:lnTo>
                <a:pt x="0" y="1061207"/>
              </a:lnTo>
              <a:lnTo>
                <a:pt x="1866956" y="1061207"/>
              </a:lnTo>
              <a:lnTo>
                <a:pt x="1866956" y="1197927"/>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AFAEA8-9D84-48DE-8331-BA5FA2306326}">
      <dsp:nvSpPr>
        <dsp:cNvPr id="0" name=""/>
        <dsp:cNvSpPr/>
      </dsp:nvSpPr>
      <dsp:spPr>
        <a:xfrm>
          <a:off x="3897630" y="1576705"/>
          <a:ext cx="91440" cy="1197927"/>
        </a:xfrm>
        <a:custGeom>
          <a:avLst/>
          <a:gdLst/>
          <a:ahLst/>
          <a:cxnLst/>
          <a:rect l="0" t="0" r="0" b="0"/>
          <a:pathLst>
            <a:path>
              <a:moveTo>
                <a:pt x="45720" y="0"/>
              </a:moveTo>
              <a:lnTo>
                <a:pt x="45720" y="1061207"/>
              </a:lnTo>
              <a:lnTo>
                <a:pt x="76833" y="1061207"/>
              </a:lnTo>
              <a:lnTo>
                <a:pt x="76833" y="1197927"/>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FEE3E5-450F-406A-8360-2A79281AF7AE}">
      <dsp:nvSpPr>
        <dsp:cNvPr id="0" name=""/>
        <dsp:cNvSpPr/>
      </dsp:nvSpPr>
      <dsp:spPr>
        <a:xfrm>
          <a:off x="1462396" y="3425680"/>
          <a:ext cx="241916" cy="598963"/>
        </a:xfrm>
        <a:custGeom>
          <a:avLst/>
          <a:gdLst/>
          <a:ahLst/>
          <a:cxnLst/>
          <a:rect l="0" t="0" r="0" b="0"/>
          <a:pathLst>
            <a:path>
              <a:moveTo>
                <a:pt x="0" y="0"/>
              </a:moveTo>
              <a:lnTo>
                <a:pt x="0" y="598963"/>
              </a:lnTo>
              <a:lnTo>
                <a:pt x="241916" y="598963"/>
              </a:lnTo>
            </a:path>
          </a:pathLst>
        </a:custGeom>
        <a:no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61CB0C-9421-4ED7-A3F7-9C6585E0638C}">
      <dsp:nvSpPr>
        <dsp:cNvPr id="0" name=""/>
        <dsp:cNvSpPr/>
      </dsp:nvSpPr>
      <dsp:spPr>
        <a:xfrm>
          <a:off x="2107506" y="1576705"/>
          <a:ext cx="1835843" cy="1197927"/>
        </a:xfrm>
        <a:custGeom>
          <a:avLst/>
          <a:gdLst/>
          <a:ahLst/>
          <a:cxnLst/>
          <a:rect l="0" t="0" r="0" b="0"/>
          <a:pathLst>
            <a:path>
              <a:moveTo>
                <a:pt x="1835843" y="0"/>
              </a:moveTo>
              <a:lnTo>
                <a:pt x="1835843" y="1061207"/>
              </a:lnTo>
              <a:lnTo>
                <a:pt x="0" y="1061207"/>
              </a:lnTo>
              <a:lnTo>
                <a:pt x="0" y="1197927"/>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2CCDD3-F95C-4126-801B-F675CD51F7CE}">
      <dsp:nvSpPr>
        <dsp:cNvPr id="0" name=""/>
        <dsp:cNvSpPr/>
      </dsp:nvSpPr>
      <dsp:spPr>
        <a:xfrm>
          <a:off x="3874478" y="686944"/>
          <a:ext cx="91440" cy="238713"/>
        </a:xfrm>
        <a:custGeom>
          <a:avLst/>
          <a:gdLst/>
          <a:ahLst/>
          <a:cxnLst/>
          <a:rect l="0" t="0" r="0" b="0"/>
          <a:pathLst>
            <a:path>
              <a:moveTo>
                <a:pt x="45720" y="0"/>
              </a:moveTo>
              <a:lnTo>
                <a:pt x="45720" y="101993"/>
              </a:lnTo>
              <a:lnTo>
                <a:pt x="68871" y="101993"/>
              </a:lnTo>
              <a:lnTo>
                <a:pt x="68871" y="238713"/>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369D7A-EFD2-4686-952A-0083EFC3A4CF}">
      <dsp:nvSpPr>
        <dsp:cNvPr id="0" name=""/>
        <dsp:cNvSpPr/>
      </dsp:nvSpPr>
      <dsp:spPr>
        <a:xfrm>
          <a:off x="3071057" y="35897"/>
          <a:ext cx="1698283" cy="651047"/>
        </a:xfrm>
        <a:prstGeom prst="rect">
          <a:avLst/>
        </a:prstGeom>
        <a:solidFill>
          <a:schemeClr val="accent2"/>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ndara" panose="020E0502030303020204" pitchFamily="34" charset="0"/>
            </a:rPr>
            <a:t>AGM</a:t>
          </a:r>
        </a:p>
      </dsp:txBody>
      <dsp:txXfrm>
        <a:off x="3071057" y="35897"/>
        <a:ext cx="1698283" cy="651047"/>
      </dsp:txXfrm>
    </dsp:sp>
    <dsp:sp modelId="{0CADF619-9375-42F3-A39C-2F245863A118}">
      <dsp:nvSpPr>
        <dsp:cNvPr id="0" name=""/>
        <dsp:cNvSpPr/>
      </dsp:nvSpPr>
      <dsp:spPr>
        <a:xfrm>
          <a:off x="3120139" y="925657"/>
          <a:ext cx="1646420" cy="651047"/>
        </a:xfrm>
        <a:prstGeom prst="rect">
          <a:avLst/>
        </a:prstGeom>
        <a:solidFill>
          <a:schemeClr val="accent2"/>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ndara" panose="020E0502030303020204" pitchFamily="34" charset="0"/>
            </a:rPr>
            <a:t>Board of Directors</a:t>
          </a:r>
        </a:p>
      </dsp:txBody>
      <dsp:txXfrm>
        <a:off x="3120139" y="925657"/>
        <a:ext cx="1646420" cy="651047"/>
      </dsp:txXfrm>
    </dsp:sp>
    <dsp:sp modelId="{C7708A67-F9F6-4FA9-A9B9-D6C18916B327}">
      <dsp:nvSpPr>
        <dsp:cNvPr id="0" name=""/>
        <dsp:cNvSpPr/>
      </dsp:nvSpPr>
      <dsp:spPr>
        <a:xfrm>
          <a:off x="1301119" y="2774632"/>
          <a:ext cx="1612774" cy="651047"/>
        </a:xfrm>
        <a:prstGeom prst="rect">
          <a:avLst/>
        </a:prstGeom>
        <a:solidFill>
          <a:schemeClr val="accent2"/>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ndara" panose="020E0502030303020204" pitchFamily="34" charset="0"/>
            </a:rPr>
            <a:t>Finance &amp; Admi officer</a:t>
          </a:r>
        </a:p>
      </dsp:txBody>
      <dsp:txXfrm>
        <a:off x="1301119" y="2774632"/>
        <a:ext cx="1612774" cy="651047"/>
      </dsp:txXfrm>
    </dsp:sp>
    <dsp:sp modelId="{1C41DC01-34B8-44B6-9430-8D51FAA2E867}">
      <dsp:nvSpPr>
        <dsp:cNvPr id="0" name=""/>
        <dsp:cNvSpPr/>
      </dsp:nvSpPr>
      <dsp:spPr>
        <a:xfrm>
          <a:off x="1704313" y="3699120"/>
          <a:ext cx="1729820" cy="651047"/>
        </a:xfrm>
        <a:prstGeom prst="rect">
          <a:avLst/>
        </a:prstGeom>
        <a:solidFill>
          <a:schemeClr val="accent2"/>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ndara" panose="020E0502030303020204" pitchFamily="34" charset="0"/>
            </a:rPr>
            <a:t>Volunteers </a:t>
          </a:r>
        </a:p>
      </dsp:txBody>
      <dsp:txXfrm>
        <a:off x="1704313" y="3699120"/>
        <a:ext cx="1729820" cy="651047"/>
      </dsp:txXfrm>
    </dsp:sp>
    <dsp:sp modelId="{9A0A8110-BE2C-4E2E-9441-04D9FFB33146}">
      <dsp:nvSpPr>
        <dsp:cNvPr id="0" name=""/>
        <dsp:cNvSpPr/>
      </dsp:nvSpPr>
      <dsp:spPr>
        <a:xfrm>
          <a:off x="3187334" y="2774632"/>
          <a:ext cx="1574258" cy="651047"/>
        </a:xfrm>
        <a:prstGeom prst="rect">
          <a:avLst/>
        </a:prstGeom>
        <a:solidFill>
          <a:schemeClr val="accent2"/>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ndara" panose="020E0502030303020204" pitchFamily="34" charset="0"/>
            </a:rPr>
            <a:t>Programme Manager  </a:t>
          </a:r>
        </a:p>
      </dsp:txBody>
      <dsp:txXfrm>
        <a:off x="3187334" y="2774632"/>
        <a:ext cx="1574258" cy="651047"/>
      </dsp:txXfrm>
    </dsp:sp>
    <dsp:sp modelId="{6C85A1C2-0142-426D-9928-13B51854ED90}">
      <dsp:nvSpPr>
        <dsp:cNvPr id="0" name=""/>
        <dsp:cNvSpPr/>
      </dsp:nvSpPr>
      <dsp:spPr>
        <a:xfrm>
          <a:off x="5035032" y="2774632"/>
          <a:ext cx="1550547" cy="651047"/>
        </a:xfrm>
        <a:prstGeom prst="rect">
          <a:avLst/>
        </a:prstGeom>
        <a:solidFill>
          <a:schemeClr val="accent2"/>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ndara" panose="020E0502030303020204" pitchFamily="34" charset="0"/>
            </a:rPr>
            <a:t>MEAL Lead</a:t>
          </a:r>
        </a:p>
      </dsp:txBody>
      <dsp:txXfrm>
        <a:off x="5035032" y="2774632"/>
        <a:ext cx="1550547" cy="651047"/>
      </dsp:txXfrm>
    </dsp:sp>
    <dsp:sp modelId="{8BB664FC-E9A2-4CE7-AEDF-7179D6C0B572}">
      <dsp:nvSpPr>
        <dsp:cNvPr id="0" name=""/>
        <dsp:cNvSpPr/>
      </dsp:nvSpPr>
      <dsp:spPr>
        <a:xfrm>
          <a:off x="2076354" y="1850145"/>
          <a:ext cx="1730275" cy="651047"/>
        </a:xfrm>
        <a:prstGeom prst="rect">
          <a:avLst/>
        </a:prstGeom>
        <a:solidFill>
          <a:schemeClr val="accent2"/>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andara" panose="020E0502030303020204" pitchFamily="34" charset="0"/>
            </a:rPr>
            <a:t>Executive Director</a:t>
          </a:r>
        </a:p>
      </dsp:txBody>
      <dsp:txXfrm>
        <a:off x="2076354" y="1850145"/>
        <a:ext cx="1730275" cy="65104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5095D1-8ED6-41C4-9060-1FD9E31CAB97}"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3558666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095D1-8ED6-41C4-9060-1FD9E31CAB97}"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1842351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5095D1-8ED6-41C4-9060-1FD9E31CAB97}"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3236456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5095D1-8ED6-41C4-9060-1FD9E31CAB97}"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220648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5095D1-8ED6-41C4-9060-1FD9E31CAB97}"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1416712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5095D1-8ED6-41C4-9060-1FD9E31CAB97}"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1527147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095D1-8ED6-41C4-9060-1FD9E31CAB97}"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3736261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5095D1-8ED6-41C4-9060-1FD9E31CAB97}"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245569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5095D1-8ED6-41C4-9060-1FD9E31CAB97}"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318247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095D1-8ED6-41C4-9060-1FD9E31CAB97}"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412851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095D1-8ED6-41C4-9060-1FD9E31CAB97}"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1BB2C2-0E6F-4BDE-8910-0D633598995A}" type="slidenum">
              <a:rPr lang="en-US" smtClean="0"/>
              <a:t>‹#›</a:t>
            </a:fld>
            <a:endParaRPr lang="en-US"/>
          </a:p>
        </p:txBody>
      </p:sp>
    </p:spTree>
    <p:extLst>
      <p:ext uri="{BB962C8B-B14F-4D97-AF65-F5344CB8AC3E}">
        <p14:creationId xmlns:p14="http://schemas.microsoft.com/office/powerpoint/2010/main" val="4287029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073049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61011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0148600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15490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49110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5939107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64331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0137656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537571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9141327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endParaRPr lang="en-US" sz="1350" dirty="0">
              <a:solidFill>
                <a:srgbClr val="90C226">
                  <a:lumMod val="60000"/>
                  <a:lumOff val="40000"/>
                </a:srgbClr>
              </a:solidFill>
              <a:latin typeface="Arial"/>
            </a:endParaRPr>
          </a:p>
        </p:txBody>
      </p:sp>
    </p:spTree>
    <p:extLst>
      <p:ext uri="{BB962C8B-B14F-4D97-AF65-F5344CB8AC3E}">
        <p14:creationId xmlns:p14="http://schemas.microsoft.com/office/powerpoint/2010/main" val="2559695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718348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41368871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6834888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6448814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0268534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9768745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858613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0967791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919475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2421522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55136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1400266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948904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104346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1753672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endParaRPr lang="en-US" sz="1350" dirty="0">
              <a:solidFill>
                <a:srgbClr val="90C226">
                  <a:lumMod val="60000"/>
                  <a:lumOff val="40000"/>
                </a:srgbClr>
              </a:solidFill>
              <a:latin typeface="Arial"/>
            </a:endParaRPr>
          </a:p>
        </p:txBody>
      </p:sp>
    </p:spTree>
    <p:extLst>
      <p:ext uri="{BB962C8B-B14F-4D97-AF65-F5344CB8AC3E}">
        <p14:creationId xmlns:p14="http://schemas.microsoft.com/office/powerpoint/2010/main" val="39506797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2333160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1113133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8052379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1132583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5395261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8783904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593244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5855875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3620071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2660161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6932068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63071999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125473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685045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0293016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endParaRPr lang="en-US" sz="1350" dirty="0">
              <a:solidFill>
                <a:srgbClr val="90C226">
                  <a:lumMod val="60000"/>
                  <a:lumOff val="40000"/>
                </a:srgbClr>
              </a:solidFill>
              <a:latin typeface="Arial"/>
            </a:endParaRPr>
          </a:p>
        </p:txBody>
      </p:sp>
    </p:spTree>
    <p:extLst>
      <p:ext uri="{BB962C8B-B14F-4D97-AF65-F5344CB8AC3E}">
        <p14:creationId xmlns:p14="http://schemas.microsoft.com/office/powerpoint/2010/main" val="387662421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064778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7751039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8151233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773738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3100913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0654743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1628802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212368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58328011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73402459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21017983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92000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46428982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9905352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20425915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endParaRPr lang="en-US" sz="1350" dirty="0">
              <a:solidFill>
                <a:srgbClr val="90C226">
                  <a:lumMod val="60000"/>
                  <a:lumOff val="40000"/>
                </a:srgbClr>
              </a:solidFill>
              <a:latin typeface="Arial"/>
            </a:endParaRPr>
          </a:p>
        </p:txBody>
      </p:sp>
    </p:spTree>
    <p:extLst>
      <p:ext uri="{BB962C8B-B14F-4D97-AF65-F5344CB8AC3E}">
        <p14:creationId xmlns:p14="http://schemas.microsoft.com/office/powerpoint/2010/main" val="99228739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1794442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212346508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25145637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065282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0644724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59931732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90719540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407774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9139704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4248242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76577007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13929452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5159166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73851370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1550863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endParaRPr lang="en-US" sz="1350" dirty="0">
              <a:solidFill>
                <a:srgbClr val="90C226">
                  <a:lumMod val="60000"/>
                  <a:lumOff val="40000"/>
                </a:srgbClr>
              </a:solidFill>
              <a:latin typeface="Arial"/>
            </a:endParaRPr>
          </a:p>
        </p:txBody>
      </p:sp>
    </p:spTree>
    <p:extLst>
      <p:ext uri="{BB962C8B-B14F-4D97-AF65-F5344CB8AC3E}">
        <p14:creationId xmlns:p14="http://schemas.microsoft.com/office/powerpoint/2010/main" val="105065966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9280029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48442805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78417013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0202445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7481504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66209468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83416987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3287899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06076282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25831285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03391267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5700293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0318447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46833163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8121003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endParaRPr lang="en-US" sz="1350" dirty="0">
              <a:solidFill>
                <a:srgbClr val="90C226">
                  <a:lumMod val="60000"/>
                  <a:lumOff val="40000"/>
                </a:srgbClr>
              </a:solidFill>
              <a:latin typeface="Arial"/>
            </a:endParaRPr>
          </a:p>
        </p:txBody>
      </p:sp>
    </p:spTree>
    <p:extLst>
      <p:ext uri="{BB962C8B-B14F-4D97-AF65-F5344CB8AC3E}">
        <p14:creationId xmlns:p14="http://schemas.microsoft.com/office/powerpoint/2010/main" val="2086684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4411710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42213941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65719183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3768126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5167244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62575264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37988962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0350876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8482632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83251955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94491460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72549012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361214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86592657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0401876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endParaRPr lang="en-US" sz="1350" dirty="0">
              <a:solidFill>
                <a:srgbClr val="90C226">
                  <a:lumMod val="60000"/>
                  <a:lumOff val="40000"/>
                </a:srgbClr>
              </a:solidFill>
              <a:latin typeface="Arial"/>
            </a:endParaRPr>
          </a:p>
        </p:txBody>
      </p:sp>
    </p:spTree>
    <p:extLst>
      <p:ext uri="{BB962C8B-B14F-4D97-AF65-F5344CB8AC3E}">
        <p14:creationId xmlns:p14="http://schemas.microsoft.com/office/powerpoint/2010/main" val="387161042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6160857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pPr defTabSz="342900"/>
            <a:r>
              <a:rPr lang="en-US" sz="6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255570912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79988208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66142465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tint val="75000"/>
                  </a:prstClr>
                </a:solidFill>
              </a:rPr>
              <a:pPr/>
              <a:t>10/6/2026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706929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theme" Target="../theme/theme3.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theme" Target="../theme/theme4.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theme" Target="../theme/theme5.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theme" Target="../theme/theme6.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slideLayout" Target="../slideLayouts/slideLayout104.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theme" Target="../theme/theme7.xml"/><Relationship Id="rId2" Type="http://schemas.openxmlformats.org/officeDocument/2006/relationships/slideLayout" Target="../slideLayouts/slideLayout93.xml"/><Relationship Id="rId16" Type="http://schemas.openxmlformats.org/officeDocument/2006/relationships/slideLayout" Target="../slideLayouts/slideLayout107.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5.xml"/><Relationship Id="rId13" Type="http://schemas.openxmlformats.org/officeDocument/2006/relationships/slideLayout" Target="../slideLayouts/slideLayout120.xml"/><Relationship Id="rId3" Type="http://schemas.openxmlformats.org/officeDocument/2006/relationships/slideLayout" Target="../slideLayouts/slideLayout110.xml"/><Relationship Id="rId7" Type="http://schemas.openxmlformats.org/officeDocument/2006/relationships/slideLayout" Target="../slideLayouts/slideLayout114.xml"/><Relationship Id="rId12" Type="http://schemas.openxmlformats.org/officeDocument/2006/relationships/slideLayout" Target="../slideLayouts/slideLayout119.xml"/><Relationship Id="rId17" Type="http://schemas.openxmlformats.org/officeDocument/2006/relationships/theme" Target="../theme/theme8.xml"/><Relationship Id="rId2" Type="http://schemas.openxmlformats.org/officeDocument/2006/relationships/slideLayout" Target="../slideLayouts/slideLayout109.xml"/><Relationship Id="rId16" Type="http://schemas.openxmlformats.org/officeDocument/2006/relationships/slideLayout" Target="../slideLayouts/slideLayout123.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slideLayout" Target="../slideLayouts/slideLayout118.xml"/><Relationship Id="rId5" Type="http://schemas.openxmlformats.org/officeDocument/2006/relationships/slideLayout" Target="../slideLayouts/slideLayout112.xml"/><Relationship Id="rId15" Type="http://schemas.openxmlformats.org/officeDocument/2006/relationships/slideLayout" Target="../slideLayouts/slideLayout122.xml"/><Relationship Id="rId10" Type="http://schemas.openxmlformats.org/officeDocument/2006/relationships/slideLayout" Target="../slideLayouts/slideLayout117.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14" Type="http://schemas.openxmlformats.org/officeDocument/2006/relationships/slideLayout" Target="../slideLayouts/slideLayout1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5095D1-8ED6-41C4-9060-1FD9E31CAB97}" type="datetimeFigureOut">
              <a:rPr lang="en-US" smtClean="0"/>
              <a:t>10/6/2026</a:t>
            </a:fld>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1BB2C2-0E6F-4BDE-8910-0D633598995A}" type="slidenum">
              <a:rPr lang="en-US" smtClean="0"/>
              <a:t>‹#›</a:t>
            </a:fld>
            <a:endParaRPr lang="en-US"/>
          </a:p>
        </p:txBody>
      </p:sp>
    </p:spTree>
    <p:extLst>
      <p:ext uri="{BB962C8B-B14F-4D97-AF65-F5344CB8AC3E}">
        <p14:creationId xmlns:p14="http://schemas.microsoft.com/office/powerpoint/2010/main" val="41667989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342900"/>
            <a:fld id="{B61BEF0D-F0BB-DE4B-95CE-6DB70DBA9567}" type="datetimeFigureOut">
              <a:rPr lang="en-US" smtClean="0">
                <a:solidFill>
                  <a:prstClr val="black">
                    <a:tint val="75000"/>
                  </a:prstClr>
                </a:solidFill>
              </a:rPr>
              <a:pPr defTabSz="342900"/>
              <a:t>10/6/2026</a:t>
            </a:fld>
            <a:endParaRPr lang="en-US" dirty="0">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342900"/>
            <a:endParaRPr lang="en-US" dirty="0">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pPr defTabSz="342900"/>
            <a:fld id="{D57F1E4F-1CFF-5643-939E-217C01CDF565}" type="slidenum">
              <a:rPr lang="en-US" smtClean="0">
                <a:solidFill>
                  <a:srgbClr val="90C226"/>
                </a:solidFill>
              </a:rPr>
              <a:pPr defTabSz="342900"/>
              <a:t>‹#›</a:t>
            </a:fld>
            <a:endParaRPr lang="en-US" dirty="0">
              <a:solidFill>
                <a:srgbClr val="90C226"/>
              </a:solidFill>
            </a:endParaRPr>
          </a:p>
        </p:txBody>
      </p:sp>
    </p:spTree>
    <p:extLst>
      <p:ext uri="{BB962C8B-B14F-4D97-AF65-F5344CB8AC3E}">
        <p14:creationId xmlns:p14="http://schemas.microsoft.com/office/powerpoint/2010/main" val="38261442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342900"/>
            <a:fld id="{B61BEF0D-F0BB-DE4B-95CE-6DB70DBA9567}" type="datetimeFigureOut">
              <a:rPr lang="en-US" smtClean="0">
                <a:solidFill>
                  <a:prstClr val="black">
                    <a:tint val="75000"/>
                  </a:prstClr>
                </a:solidFill>
              </a:rPr>
              <a:pPr defTabSz="342900"/>
              <a:t>10/6/2026</a:t>
            </a:fld>
            <a:endParaRPr lang="en-US" dirty="0">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342900"/>
            <a:endParaRPr lang="en-US" dirty="0">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pPr defTabSz="342900"/>
            <a:fld id="{D57F1E4F-1CFF-5643-939E-217C01CDF565}" type="slidenum">
              <a:rPr lang="en-US" smtClean="0">
                <a:solidFill>
                  <a:srgbClr val="90C226"/>
                </a:solidFill>
              </a:rPr>
              <a:pPr defTabSz="342900"/>
              <a:t>‹#›</a:t>
            </a:fld>
            <a:endParaRPr lang="en-US" dirty="0">
              <a:solidFill>
                <a:srgbClr val="90C226"/>
              </a:solidFill>
            </a:endParaRPr>
          </a:p>
        </p:txBody>
      </p:sp>
    </p:spTree>
    <p:extLst>
      <p:ext uri="{BB962C8B-B14F-4D97-AF65-F5344CB8AC3E}">
        <p14:creationId xmlns:p14="http://schemas.microsoft.com/office/powerpoint/2010/main" val="191759270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342900"/>
            <a:fld id="{B61BEF0D-F0BB-DE4B-95CE-6DB70DBA9567}" type="datetimeFigureOut">
              <a:rPr lang="en-US" smtClean="0">
                <a:solidFill>
                  <a:prstClr val="black">
                    <a:tint val="75000"/>
                  </a:prstClr>
                </a:solidFill>
              </a:rPr>
              <a:pPr defTabSz="342900"/>
              <a:t>10/6/2026</a:t>
            </a:fld>
            <a:endParaRPr lang="en-US" dirty="0">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342900"/>
            <a:endParaRPr lang="en-US" dirty="0">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pPr defTabSz="342900"/>
            <a:fld id="{D57F1E4F-1CFF-5643-939E-217C01CDF565}" type="slidenum">
              <a:rPr lang="en-US" smtClean="0">
                <a:solidFill>
                  <a:srgbClr val="90C226"/>
                </a:solidFill>
              </a:rPr>
              <a:pPr defTabSz="342900"/>
              <a:t>‹#›</a:t>
            </a:fld>
            <a:endParaRPr lang="en-US" dirty="0">
              <a:solidFill>
                <a:srgbClr val="90C226"/>
              </a:solidFill>
            </a:endParaRPr>
          </a:p>
        </p:txBody>
      </p:sp>
    </p:spTree>
    <p:extLst>
      <p:ext uri="{BB962C8B-B14F-4D97-AF65-F5344CB8AC3E}">
        <p14:creationId xmlns:p14="http://schemas.microsoft.com/office/powerpoint/2010/main" val="378974355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342900"/>
            <a:fld id="{B61BEF0D-F0BB-DE4B-95CE-6DB70DBA9567}" type="datetimeFigureOut">
              <a:rPr lang="en-US" smtClean="0">
                <a:solidFill>
                  <a:prstClr val="black">
                    <a:tint val="75000"/>
                  </a:prstClr>
                </a:solidFill>
              </a:rPr>
              <a:pPr defTabSz="342900"/>
              <a:t>10/6/2026</a:t>
            </a:fld>
            <a:endParaRPr lang="en-US" dirty="0">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342900"/>
            <a:endParaRPr lang="en-US" dirty="0">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pPr defTabSz="342900"/>
            <a:fld id="{D57F1E4F-1CFF-5643-939E-217C01CDF565}" type="slidenum">
              <a:rPr lang="en-US" smtClean="0">
                <a:solidFill>
                  <a:srgbClr val="90C226"/>
                </a:solidFill>
              </a:rPr>
              <a:pPr defTabSz="342900"/>
              <a:t>‹#›</a:t>
            </a:fld>
            <a:endParaRPr lang="en-US" dirty="0">
              <a:solidFill>
                <a:srgbClr val="90C226"/>
              </a:solidFill>
            </a:endParaRPr>
          </a:p>
        </p:txBody>
      </p:sp>
    </p:spTree>
    <p:extLst>
      <p:ext uri="{BB962C8B-B14F-4D97-AF65-F5344CB8AC3E}">
        <p14:creationId xmlns:p14="http://schemas.microsoft.com/office/powerpoint/2010/main" val="2470388141"/>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342900"/>
            <a:fld id="{B61BEF0D-F0BB-DE4B-95CE-6DB70DBA9567}" type="datetimeFigureOut">
              <a:rPr lang="en-US" smtClean="0">
                <a:solidFill>
                  <a:prstClr val="black">
                    <a:tint val="75000"/>
                  </a:prstClr>
                </a:solidFill>
              </a:rPr>
              <a:pPr defTabSz="342900"/>
              <a:t>10/6/2026</a:t>
            </a:fld>
            <a:endParaRPr lang="en-US" dirty="0">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342900"/>
            <a:endParaRPr lang="en-US" dirty="0">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pPr defTabSz="342900"/>
            <a:fld id="{D57F1E4F-1CFF-5643-939E-217C01CDF565}" type="slidenum">
              <a:rPr lang="en-US" smtClean="0">
                <a:solidFill>
                  <a:srgbClr val="90C226"/>
                </a:solidFill>
              </a:rPr>
              <a:pPr defTabSz="342900"/>
              <a:t>‹#›</a:t>
            </a:fld>
            <a:endParaRPr lang="en-US" dirty="0">
              <a:solidFill>
                <a:srgbClr val="90C226"/>
              </a:solidFill>
            </a:endParaRPr>
          </a:p>
        </p:txBody>
      </p:sp>
    </p:spTree>
    <p:extLst>
      <p:ext uri="{BB962C8B-B14F-4D97-AF65-F5344CB8AC3E}">
        <p14:creationId xmlns:p14="http://schemas.microsoft.com/office/powerpoint/2010/main" val="1606521166"/>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342900"/>
            <a:fld id="{B61BEF0D-F0BB-DE4B-95CE-6DB70DBA9567}" type="datetimeFigureOut">
              <a:rPr lang="en-US" smtClean="0">
                <a:solidFill>
                  <a:prstClr val="black">
                    <a:tint val="75000"/>
                  </a:prstClr>
                </a:solidFill>
              </a:rPr>
              <a:pPr defTabSz="342900"/>
              <a:t>10/6/2026</a:t>
            </a:fld>
            <a:endParaRPr lang="en-US" dirty="0">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342900"/>
            <a:endParaRPr lang="en-US" dirty="0">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pPr defTabSz="342900"/>
            <a:fld id="{D57F1E4F-1CFF-5643-939E-217C01CDF565}" type="slidenum">
              <a:rPr lang="en-US" smtClean="0">
                <a:solidFill>
                  <a:srgbClr val="90C226"/>
                </a:solidFill>
              </a:rPr>
              <a:pPr defTabSz="342900"/>
              <a:t>‹#›</a:t>
            </a:fld>
            <a:endParaRPr lang="en-US" dirty="0">
              <a:solidFill>
                <a:srgbClr val="90C226"/>
              </a:solidFill>
            </a:endParaRPr>
          </a:p>
        </p:txBody>
      </p:sp>
    </p:spTree>
    <p:extLst>
      <p:ext uri="{BB962C8B-B14F-4D97-AF65-F5344CB8AC3E}">
        <p14:creationId xmlns:p14="http://schemas.microsoft.com/office/powerpoint/2010/main" val="3072195400"/>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342900"/>
            <a:fld id="{B61BEF0D-F0BB-DE4B-95CE-6DB70DBA9567}" type="datetimeFigureOut">
              <a:rPr lang="en-US" smtClean="0">
                <a:solidFill>
                  <a:prstClr val="black">
                    <a:tint val="75000"/>
                  </a:prstClr>
                </a:solidFill>
              </a:rPr>
              <a:pPr defTabSz="342900"/>
              <a:t>10/6/2026</a:t>
            </a:fld>
            <a:endParaRPr lang="en-US" dirty="0">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342900"/>
            <a:endParaRPr lang="en-US" dirty="0">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pPr defTabSz="342900"/>
            <a:fld id="{D57F1E4F-1CFF-5643-939E-217C01CDF565}" type="slidenum">
              <a:rPr lang="en-US" smtClean="0">
                <a:solidFill>
                  <a:srgbClr val="90C226"/>
                </a:solidFill>
              </a:rPr>
              <a:pPr defTabSz="342900"/>
              <a:t>‹#›</a:t>
            </a:fld>
            <a:endParaRPr lang="en-US" dirty="0">
              <a:solidFill>
                <a:srgbClr val="90C226"/>
              </a:solidFill>
            </a:endParaRPr>
          </a:p>
        </p:txBody>
      </p:sp>
    </p:spTree>
    <p:extLst>
      <p:ext uri="{BB962C8B-B14F-4D97-AF65-F5344CB8AC3E}">
        <p14:creationId xmlns:p14="http://schemas.microsoft.com/office/powerpoint/2010/main" val="2850003966"/>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image" Target="../media/image12.png"/><Relationship Id="rId1" Type="http://schemas.openxmlformats.org/officeDocument/2006/relationships/slideLayout" Target="../slideLayouts/slideLayout82.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g"/><Relationship Id="rId1" Type="http://schemas.openxmlformats.org/officeDocument/2006/relationships/slideLayout" Target="../slideLayouts/slideLayout93.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g"/><Relationship Id="rId1" Type="http://schemas.openxmlformats.org/officeDocument/2006/relationships/slideLayout" Target="../slideLayouts/slideLayout111.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1.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11.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11.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25.xml.rels><?xml version="1.0" encoding="UTF-8" standalone="yes"?>
<Relationships xmlns="http://schemas.openxmlformats.org/package/2006/relationships"><Relationship Id="rId3" Type="http://schemas.openxmlformats.org/officeDocument/2006/relationships/hyperlink" Target="mailto:nabwmalawi@gmail.com" TargetMode="External"/><Relationship Id="rId2" Type="http://schemas.openxmlformats.org/officeDocument/2006/relationships/image" Target="../media/image28.png"/><Relationship Id="rId1" Type="http://schemas.openxmlformats.org/officeDocument/2006/relationships/slideLayout" Target="../slideLayouts/slideLayout111.xml"/><Relationship Id="rId6" Type="http://schemas.openxmlformats.org/officeDocument/2006/relationships/image" Target="../media/image29.png"/><Relationship Id="rId5" Type="http://schemas.openxmlformats.org/officeDocument/2006/relationships/hyperlink" Target="http://nabwmalawi.wixsite.com/website" TargetMode="External"/><Relationship Id="rId4" Type="http://schemas.openxmlformats.org/officeDocument/2006/relationships/hyperlink" Target="https://web.facebook.com/profile.php?id=10006403204171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431046" y="318800"/>
            <a:ext cx="5023050" cy="4947263"/>
          </a:xfrm>
          <a:solidFill>
            <a:srgbClr val="9E2B5E">
              <a:alpha val="98824"/>
            </a:srgbClr>
          </a:solidFill>
        </p:spPr>
        <p:txBody>
          <a:bodyPr/>
          <a:lstStyle/>
          <a:p>
            <a:pPr marL="0" indent="0" algn="ctr">
              <a:buNone/>
            </a:pPr>
            <a:endParaRPr lang="en-US" dirty="0"/>
          </a:p>
          <a:p>
            <a:pPr marL="0" indent="0" algn="ctr">
              <a:buNone/>
            </a:pPr>
            <a:endParaRPr lang="en-US" sz="4800" dirty="0">
              <a:latin typeface="Candara" panose="020E0502030303020204" pitchFamily="34" charset="0"/>
            </a:endParaRPr>
          </a:p>
          <a:p>
            <a:pPr marL="0" indent="0" algn="ctr">
              <a:buNone/>
            </a:pPr>
            <a:r>
              <a:rPr lang="en-US" sz="4800" dirty="0">
                <a:latin typeface="Candara" panose="020E0502030303020204" pitchFamily="34" charset="0"/>
              </a:rPr>
              <a:t>NABW ORGANISATIONAL PROFILE</a:t>
            </a:r>
          </a:p>
        </p:txBody>
      </p:sp>
      <p:sp>
        <p:nvSpPr>
          <p:cNvPr id="9" name="Google Shape;211;p31"/>
          <p:cNvSpPr/>
          <p:nvPr/>
        </p:nvSpPr>
        <p:spPr>
          <a:xfrm>
            <a:off x="0" y="-57771"/>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0" name="Google Shape;213;p31"/>
          <p:cNvSpPr/>
          <p:nvPr/>
        </p:nvSpPr>
        <p:spPr>
          <a:xfrm>
            <a:off x="433350" y="98925"/>
            <a:ext cx="114600" cy="114600"/>
          </a:xfrm>
          <a:prstGeom prst="ellipse">
            <a:avLst/>
          </a:prstGeom>
          <a:solidFill>
            <a:schemeClr val="dk2"/>
          </a:solidFill>
          <a:ln>
            <a:noFill/>
          </a:ln>
        </p:spPr>
        <p:txBody>
          <a:bodyPr spcFirstLastPara="1" wrap="square" lIns="91425" tIns="91425" rIns="91425" bIns="91425" anchor="ctr" anchorCtr="0">
            <a:noAutofit/>
          </a:bodyPr>
          <a:lstStyle/>
          <a:p>
            <a:endParaRPr/>
          </a:p>
        </p:txBody>
      </p:sp>
      <p:sp>
        <p:nvSpPr>
          <p:cNvPr id="11" name="Google Shape;213;p31"/>
          <p:cNvSpPr/>
          <p:nvPr/>
        </p:nvSpPr>
        <p:spPr>
          <a:xfrm>
            <a:off x="656651" y="98900"/>
            <a:ext cx="114600" cy="114600"/>
          </a:xfrm>
          <a:prstGeom prst="ellipse">
            <a:avLst/>
          </a:prstGeom>
          <a:solidFill>
            <a:schemeClr val="dk2"/>
          </a:solidFill>
          <a:ln>
            <a:noFill/>
          </a:ln>
        </p:spPr>
        <p:txBody>
          <a:bodyPr spcFirstLastPara="1" wrap="square" lIns="91425" tIns="91425" rIns="91425" bIns="91425" anchor="ctr" anchorCtr="0">
            <a:noAutofit/>
          </a:bodyPr>
          <a:lstStyle/>
          <a:p>
            <a:endParaRPr/>
          </a:p>
        </p:txBody>
      </p:sp>
      <p:sp>
        <p:nvSpPr>
          <p:cNvPr id="12" name="Google Shape;213;p31"/>
          <p:cNvSpPr/>
          <p:nvPr/>
        </p:nvSpPr>
        <p:spPr>
          <a:xfrm>
            <a:off x="879952" y="98900"/>
            <a:ext cx="114600" cy="114600"/>
          </a:xfrm>
          <a:prstGeom prst="ellipse">
            <a:avLst/>
          </a:prstGeom>
          <a:solidFill>
            <a:schemeClr val="dk2"/>
          </a:solidFill>
          <a:ln>
            <a:noFill/>
          </a:ln>
        </p:spPr>
        <p:txBody>
          <a:bodyPr spcFirstLastPara="1" wrap="square" lIns="91425" tIns="91425" rIns="91425" bIns="91425" anchor="ctr" anchorCtr="0">
            <a:noAutofit/>
          </a:bodyPr>
          <a:lstStyle/>
          <a:p>
            <a:endParaRPr/>
          </a:p>
        </p:txBody>
      </p:sp>
      <p:cxnSp>
        <p:nvCxnSpPr>
          <p:cNvPr id="14" name="Google Shape;208;p31"/>
          <p:cNvCxnSpPr/>
          <p:nvPr/>
        </p:nvCxnSpPr>
        <p:spPr>
          <a:xfrm>
            <a:off x="3608510" y="3935930"/>
            <a:ext cx="2900700" cy="0"/>
          </a:xfrm>
          <a:prstGeom prst="straightConnector1">
            <a:avLst/>
          </a:prstGeom>
          <a:noFill/>
          <a:ln w="9525" cap="flat" cmpd="sng">
            <a:solidFill>
              <a:srgbClr val="FFFFFF"/>
            </a:solidFill>
            <a:prstDash val="solid"/>
            <a:round/>
            <a:headEnd type="none" w="med" len="med"/>
            <a:tailEnd type="none" w="med" len="med"/>
          </a:ln>
        </p:spPr>
      </p:cxnSp>
      <p:sp>
        <p:nvSpPr>
          <p:cNvPr id="15" name="Text Placeholder 2"/>
          <p:cNvSpPr txBox="1">
            <a:spLocks/>
          </p:cNvSpPr>
          <p:nvPr/>
        </p:nvSpPr>
        <p:spPr>
          <a:xfrm>
            <a:off x="323255" y="5371339"/>
            <a:ext cx="3868340" cy="13269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5" name="Picture 4">
            <a:extLst>
              <a:ext uri="{FF2B5EF4-FFF2-40B4-BE49-F238E27FC236}">
                <a16:creationId xmlns:a16="http://schemas.microsoft.com/office/drawing/2014/main" id="{E24693F1-43A9-4794-83E3-EF79BA8129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17435" y="5288365"/>
            <a:ext cx="3263723" cy="1569635"/>
          </a:xfrm>
          <a:prstGeom prst="rect">
            <a:avLst/>
          </a:prstGeom>
        </p:spPr>
      </p:pic>
    </p:spTree>
    <p:extLst>
      <p:ext uri="{BB962C8B-B14F-4D97-AF65-F5344CB8AC3E}">
        <p14:creationId xmlns:p14="http://schemas.microsoft.com/office/powerpoint/2010/main" val="3544789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627962"/>
            <a:ext cx="7886700" cy="749148"/>
          </a:xfrm>
        </p:spPr>
        <p:txBody>
          <a:bodyPr/>
          <a:lstStyle/>
          <a:p>
            <a:r>
              <a:rPr lang="en-US" dirty="0">
                <a:solidFill>
                  <a:schemeClr val="accent2"/>
                </a:solidFill>
              </a:rPr>
              <a:t>                                   </a:t>
            </a:r>
            <a:r>
              <a:rPr lang="en-US" dirty="0">
                <a:solidFill>
                  <a:srgbClr val="9C2B61"/>
                </a:solidFill>
                <a:latin typeface="Candara" panose="020E0502030303020204" pitchFamily="34" charset="0"/>
              </a:rPr>
              <a:t>About</a:t>
            </a:r>
            <a:r>
              <a:rPr lang="en-US" dirty="0">
                <a:solidFill>
                  <a:schemeClr val="accent2"/>
                </a:solidFill>
                <a:latin typeface="Candara" panose="020E0502030303020204" pitchFamily="34" charset="0"/>
              </a:rPr>
              <a:t> </a:t>
            </a:r>
            <a:r>
              <a:rPr lang="en-US" dirty="0">
                <a:solidFill>
                  <a:srgbClr val="FFB200"/>
                </a:solidFill>
                <a:latin typeface="Candara" panose="020E0502030303020204" pitchFamily="34" charset="0"/>
              </a:rPr>
              <a:t>Us</a:t>
            </a:r>
          </a:p>
        </p:txBody>
      </p:sp>
      <p:sp>
        <p:nvSpPr>
          <p:cNvPr id="3" name="Content Placeholder 2"/>
          <p:cNvSpPr>
            <a:spLocks noGrp="1"/>
          </p:cNvSpPr>
          <p:nvPr>
            <p:ph sz="half" idx="1"/>
          </p:nvPr>
        </p:nvSpPr>
        <p:spPr>
          <a:xfrm>
            <a:off x="441912" y="3141174"/>
            <a:ext cx="3581211" cy="2607498"/>
          </a:xfrm>
        </p:spPr>
        <p:txBody>
          <a:bodyPr>
            <a:normAutofit fontScale="85000" lnSpcReduction="1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r>
              <a:rPr lang="en-US" b="1" i="1" dirty="0">
                <a:solidFill>
                  <a:srgbClr val="FFB200"/>
                </a:solidFill>
                <a:latin typeface="Candara" panose="020E0502030303020204" pitchFamily="34" charset="0"/>
              </a:rPr>
              <a:t>WHO WE ARE</a:t>
            </a:r>
          </a:p>
        </p:txBody>
      </p:sp>
      <p:sp>
        <p:nvSpPr>
          <p:cNvPr id="4" name="Content Placeholder 3"/>
          <p:cNvSpPr>
            <a:spLocks noGrp="1"/>
          </p:cNvSpPr>
          <p:nvPr>
            <p:ph sz="half" idx="2"/>
          </p:nvPr>
        </p:nvSpPr>
        <p:spPr>
          <a:xfrm>
            <a:off x="4449212" y="1825625"/>
            <a:ext cx="4694788" cy="4351338"/>
          </a:xfrm>
          <a:solidFill>
            <a:schemeClr val="bg1">
              <a:lumMod val="95000"/>
            </a:schemeClr>
          </a:solidFill>
        </p:spPr>
        <p:txBody>
          <a:bodyPr>
            <a:normAutofit fontScale="85000" lnSpcReduction="10000"/>
          </a:bodyPr>
          <a:lstStyle/>
          <a:p>
            <a:pPr marL="0" marR="0" indent="0" algn="just">
              <a:lnSpc>
                <a:spcPct val="115000"/>
              </a:lnSpc>
              <a:spcBef>
                <a:spcPts val="0"/>
              </a:spcBef>
              <a:spcAft>
                <a:spcPts val="1000"/>
              </a:spcAft>
              <a:buNone/>
            </a:pPr>
            <a:endParaRPr lang="en-US" sz="2900" dirty="0">
              <a:latin typeface="Candara" panose="020E0502030303020204" pitchFamily="34" charset="0"/>
            </a:endParaRPr>
          </a:p>
          <a:p>
            <a:pPr marL="0" marR="0" indent="0" algn="just">
              <a:lnSpc>
                <a:spcPct val="115000"/>
              </a:lnSpc>
              <a:spcBef>
                <a:spcPts val="0"/>
              </a:spcBef>
              <a:spcAft>
                <a:spcPts val="1000"/>
              </a:spcAft>
              <a:buNone/>
            </a:pPr>
            <a:r>
              <a:rPr lang="en-US" sz="2000" dirty="0">
                <a:latin typeface="Candara" panose="020E0502030303020204" pitchFamily="34" charset="0"/>
              </a:rPr>
              <a:t>NABW is a women founded and led Non-profit and Non-governmental organisation </a:t>
            </a:r>
            <a:r>
              <a:rPr lang="en-US" sz="2000" dirty="0">
                <a:latin typeface="Candara" panose="020E0502030303020204" pitchFamily="34" charset="0"/>
                <a:ea typeface="SimSun" panose="02010600030101010101" pitchFamily="2" charset="-122"/>
                <a:cs typeface="Times New Roman" panose="02020603050405020304" pitchFamily="18" charset="0"/>
              </a:rPr>
              <a:t>dedicated to empowering women in business and leadership roles. </a:t>
            </a:r>
            <a:r>
              <a:rPr lang="en-US" sz="2000" dirty="0">
                <a:solidFill>
                  <a:prstClr val="black"/>
                </a:solidFill>
                <a:latin typeface="Candara" panose="020E0502030303020204" pitchFamily="34" charset="0"/>
              </a:rPr>
              <a:t>Founded in 1990 as an NGO under the Trusteeship Act of 1962 of the Laws of Malawi. </a:t>
            </a:r>
            <a:r>
              <a:rPr lang="en-US" sz="2000" dirty="0">
                <a:latin typeface="Candara" panose="020E0502030303020204" pitchFamily="34" charset="0"/>
                <a:ea typeface="SimSun" panose="02010600030101010101" pitchFamily="2" charset="-122"/>
                <a:cs typeface="Times New Roman" panose="02020603050405020304" pitchFamily="18" charset="0"/>
              </a:rPr>
              <a:t>We operate across three key thematic areas: economic empowerment, social advocacy, and climate action. Our Mission is </a:t>
            </a:r>
            <a:r>
              <a:rPr lang="en-US" sz="2000" dirty="0">
                <a:latin typeface="Candara" panose="020E0502030303020204" pitchFamily="34" charset="0"/>
              </a:rPr>
              <a:t>to  empower  and  uplift  the  lives  of  women  economically  and  socially  through entrepreneurship development, skills training, market access, information dissemination, access to finance and advocacy</a:t>
            </a:r>
            <a:endParaRPr lang="en-US" sz="2000" dirty="0">
              <a:latin typeface="Candara" panose="020E0502030303020204" pitchFamily="34" charset="0"/>
              <a:ea typeface="SimSun" panose="02010600030101010101" pitchFamily="2" charset="-122"/>
              <a:cs typeface="Times New Roman" panose="02020603050405020304" pitchFamily="18" charset="0"/>
            </a:endParaRPr>
          </a:p>
          <a:p>
            <a:pPr marL="0" indent="0">
              <a:buNone/>
            </a:pPr>
            <a:endParaRPr lang="en-US" dirty="0"/>
          </a:p>
        </p:txBody>
      </p:sp>
      <p:sp>
        <p:nvSpPr>
          <p:cNvPr id="6" name="Google Shape;211;p31"/>
          <p:cNvSpPr/>
          <p:nvPr/>
        </p:nvSpPr>
        <p:spPr>
          <a:xfrm>
            <a:off x="0" y="-57771"/>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7" name="Google Shape;518;p41"/>
          <p:cNvSpPr/>
          <p:nvPr/>
        </p:nvSpPr>
        <p:spPr>
          <a:xfrm rot="16200000" flipH="1">
            <a:off x="6456089" y="4211185"/>
            <a:ext cx="681036" cy="4694789"/>
          </a:xfrm>
          <a:prstGeom prst="rect">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343;p37"/>
          <p:cNvSpPr/>
          <p:nvPr/>
        </p:nvSpPr>
        <p:spPr>
          <a:xfrm>
            <a:off x="1335008" y="2117564"/>
            <a:ext cx="2312165" cy="2181339"/>
          </a:xfrm>
          <a:prstGeom prst="ellipse">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1" name="Google Shape;10739;p72"/>
          <p:cNvGrpSpPr/>
          <p:nvPr/>
        </p:nvGrpSpPr>
        <p:grpSpPr>
          <a:xfrm>
            <a:off x="2005070" y="2857649"/>
            <a:ext cx="914399" cy="711816"/>
            <a:chOff x="1310655" y="3360527"/>
            <a:chExt cx="306314" cy="347402"/>
          </a:xfrm>
          <a:solidFill>
            <a:schemeClr val="bg1"/>
          </a:solidFill>
        </p:grpSpPr>
        <p:sp>
          <p:nvSpPr>
            <p:cNvPr id="22" name="Google Shape;10740;p72"/>
            <p:cNvSpPr/>
            <p:nvPr/>
          </p:nvSpPr>
          <p:spPr>
            <a:xfrm>
              <a:off x="1440416" y="3531630"/>
              <a:ext cx="151652" cy="176299"/>
            </a:xfrm>
            <a:custGeom>
              <a:avLst/>
              <a:gdLst/>
              <a:ahLst/>
              <a:cxnLst/>
              <a:rect l="l" t="t" r="r" b="b"/>
              <a:pathLst>
                <a:path w="4787" h="5565" extrusionOk="0">
                  <a:moveTo>
                    <a:pt x="1851" y="0"/>
                  </a:moveTo>
                  <a:cubicBezTo>
                    <a:pt x="1838" y="0"/>
                    <a:pt x="1824" y="2"/>
                    <a:pt x="1810" y="4"/>
                  </a:cubicBezTo>
                  <a:cubicBezTo>
                    <a:pt x="1751" y="28"/>
                    <a:pt x="1715" y="52"/>
                    <a:pt x="1691" y="112"/>
                  </a:cubicBezTo>
                  <a:lnTo>
                    <a:pt x="1275" y="1255"/>
                  </a:lnTo>
                  <a:cubicBezTo>
                    <a:pt x="429" y="1767"/>
                    <a:pt x="1" y="2731"/>
                    <a:pt x="191" y="3695"/>
                  </a:cubicBezTo>
                  <a:cubicBezTo>
                    <a:pt x="310" y="4314"/>
                    <a:pt x="667" y="4826"/>
                    <a:pt x="1179" y="5172"/>
                  </a:cubicBezTo>
                  <a:cubicBezTo>
                    <a:pt x="1560" y="5422"/>
                    <a:pt x="2013" y="5565"/>
                    <a:pt x="2453" y="5565"/>
                  </a:cubicBezTo>
                  <a:cubicBezTo>
                    <a:pt x="2608" y="5565"/>
                    <a:pt x="2751" y="5541"/>
                    <a:pt x="2918" y="5517"/>
                  </a:cubicBezTo>
                  <a:cubicBezTo>
                    <a:pt x="3799" y="5338"/>
                    <a:pt x="4489" y="4672"/>
                    <a:pt x="4715" y="3803"/>
                  </a:cubicBezTo>
                  <a:cubicBezTo>
                    <a:pt x="4727" y="3719"/>
                    <a:pt x="4692" y="3624"/>
                    <a:pt x="4596" y="3612"/>
                  </a:cubicBezTo>
                  <a:cubicBezTo>
                    <a:pt x="4586" y="3611"/>
                    <a:pt x="4576" y="3610"/>
                    <a:pt x="4565" y="3610"/>
                  </a:cubicBezTo>
                  <a:cubicBezTo>
                    <a:pt x="4491" y="3610"/>
                    <a:pt x="4416" y="3648"/>
                    <a:pt x="4406" y="3731"/>
                  </a:cubicBezTo>
                  <a:cubicBezTo>
                    <a:pt x="4215" y="4469"/>
                    <a:pt x="3620" y="5053"/>
                    <a:pt x="2858" y="5207"/>
                  </a:cubicBezTo>
                  <a:cubicBezTo>
                    <a:pt x="2728" y="5231"/>
                    <a:pt x="2597" y="5243"/>
                    <a:pt x="2468" y="5243"/>
                  </a:cubicBezTo>
                  <a:cubicBezTo>
                    <a:pt x="2075" y="5243"/>
                    <a:pt x="1692" y="5134"/>
                    <a:pt x="1370" y="4910"/>
                  </a:cubicBezTo>
                  <a:cubicBezTo>
                    <a:pt x="917" y="4612"/>
                    <a:pt x="620" y="4160"/>
                    <a:pt x="524" y="3636"/>
                  </a:cubicBezTo>
                  <a:cubicBezTo>
                    <a:pt x="346" y="2790"/>
                    <a:pt x="739" y="1933"/>
                    <a:pt x="1501" y="1517"/>
                  </a:cubicBezTo>
                  <a:cubicBezTo>
                    <a:pt x="1537" y="1493"/>
                    <a:pt x="1560" y="1469"/>
                    <a:pt x="1572" y="1421"/>
                  </a:cubicBezTo>
                  <a:lnTo>
                    <a:pt x="1918" y="469"/>
                  </a:lnTo>
                  <a:lnTo>
                    <a:pt x="2608" y="1219"/>
                  </a:lnTo>
                  <a:cubicBezTo>
                    <a:pt x="2632" y="1243"/>
                    <a:pt x="2668" y="1255"/>
                    <a:pt x="2703" y="1255"/>
                  </a:cubicBezTo>
                  <a:cubicBezTo>
                    <a:pt x="3572" y="1362"/>
                    <a:pt x="4275" y="2005"/>
                    <a:pt x="4430" y="2850"/>
                  </a:cubicBezTo>
                  <a:cubicBezTo>
                    <a:pt x="4454" y="2945"/>
                    <a:pt x="4465" y="3041"/>
                    <a:pt x="4465" y="3136"/>
                  </a:cubicBezTo>
                  <a:cubicBezTo>
                    <a:pt x="4465" y="3209"/>
                    <a:pt x="4521" y="3283"/>
                    <a:pt x="4599" y="3283"/>
                  </a:cubicBezTo>
                  <a:cubicBezTo>
                    <a:pt x="4610" y="3283"/>
                    <a:pt x="4621" y="3281"/>
                    <a:pt x="4632" y="3279"/>
                  </a:cubicBezTo>
                  <a:cubicBezTo>
                    <a:pt x="4715" y="3279"/>
                    <a:pt x="4787" y="3207"/>
                    <a:pt x="4775" y="3124"/>
                  </a:cubicBezTo>
                  <a:cubicBezTo>
                    <a:pt x="4775" y="3017"/>
                    <a:pt x="4763" y="2898"/>
                    <a:pt x="4727" y="2790"/>
                  </a:cubicBezTo>
                  <a:cubicBezTo>
                    <a:pt x="4537" y="1826"/>
                    <a:pt x="3763" y="1100"/>
                    <a:pt x="2787" y="945"/>
                  </a:cubicBezTo>
                  <a:lnTo>
                    <a:pt x="1965" y="52"/>
                  </a:lnTo>
                  <a:cubicBezTo>
                    <a:pt x="1929" y="16"/>
                    <a:pt x="1892" y="0"/>
                    <a:pt x="1851" y="0"/>
                  </a:cubicBezTo>
                  <a:close/>
                </a:path>
              </a:pathLst>
            </a:custGeom>
            <a:grp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24" name="Google Shape;10742;p72"/>
            <p:cNvSpPr/>
            <p:nvPr/>
          </p:nvSpPr>
          <p:spPr>
            <a:xfrm>
              <a:off x="1310655" y="3360527"/>
              <a:ext cx="306314" cy="334572"/>
            </a:xfrm>
            <a:custGeom>
              <a:avLst/>
              <a:gdLst/>
              <a:ahLst/>
              <a:cxnLst/>
              <a:rect l="l" t="t" r="r" b="b"/>
              <a:pathLst>
                <a:path w="9669" h="10561" extrusionOk="0">
                  <a:moveTo>
                    <a:pt x="2430" y="7941"/>
                  </a:moveTo>
                  <a:lnTo>
                    <a:pt x="3120" y="8644"/>
                  </a:lnTo>
                  <a:lnTo>
                    <a:pt x="2989" y="8775"/>
                  </a:lnTo>
                  <a:lnTo>
                    <a:pt x="2656" y="8430"/>
                  </a:lnTo>
                  <a:cubicBezTo>
                    <a:pt x="2626" y="8400"/>
                    <a:pt x="2585" y="8385"/>
                    <a:pt x="2543" y="8385"/>
                  </a:cubicBezTo>
                  <a:cubicBezTo>
                    <a:pt x="2501" y="8385"/>
                    <a:pt x="2459" y="8400"/>
                    <a:pt x="2430" y="8430"/>
                  </a:cubicBezTo>
                  <a:lnTo>
                    <a:pt x="2073" y="8787"/>
                  </a:lnTo>
                  <a:cubicBezTo>
                    <a:pt x="2037" y="8823"/>
                    <a:pt x="2025" y="8858"/>
                    <a:pt x="2025" y="8906"/>
                  </a:cubicBezTo>
                  <a:cubicBezTo>
                    <a:pt x="2025" y="8953"/>
                    <a:pt x="2037" y="9001"/>
                    <a:pt x="2073" y="9025"/>
                  </a:cubicBezTo>
                  <a:lnTo>
                    <a:pt x="2418" y="9370"/>
                  </a:lnTo>
                  <a:lnTo>
                    <a:pt x="2275" y="9501"/>
                  </a:lnTo>
                  <a:lnTo>
                    <a:pt x="1942" y="9156"/>
                  </a:lnTo>
                  <a:cubicBezTo>
                    <a:pt x="1912" y="9126"/>
                    <a:pt x="1870" y="9111"/>
                    <a:pt x="1828" y="9111"/>
                  </a:cubicBezTo>
                  <a:cubicBezTo>
                    <a:pt x="1787" y="9111"/>
                    <a:pt x="1745" y="9126"/>
                    <a:pt x="1715" y="9156"/>
                  </a:cubicBezTo>
                  <a:lnTo>
                    <a:pt x="1358" y="9513"/>
                  </a:lnTo>
                  <a:cubicBezTo>
                    <a:pt x="1322" y="9549"/>
                    <a:pt x="1311" y="9585"/>
                    <a:pt x="1311" y="9632"/>
                  </a:cubicBezTo>
                  <a:cubicBezTo>
                    <a:pt x="1311" y="9680"/>
                    <a:pt x="1322" y="9727"/>
                    <a:pt x="1358" y="9751"/>
                  </a:cubicBezTo>
                  <a:lnTo>
                    <a:pt x="1703" y="10096"/>
                  </a:lnTo>
                  <a:lnTo>
                    <a:pt x="1584" y="10192"/>
                  </a:lnTo>
                  <a:lnTo>
                    <a:pt x="882" y="9489"/>
                  </a:lnTo>
                  <a:lnTo>
                    <a:pt x="2430" y="7941"/>
                  </a:lnTo>
                  <a:close/>
                  <a:moveTo>
                    <a:pt x="6496" y="1"/>
                  </a:moveTo>
                  <a:cubicBezTo>
                    <a:pt x="5951" y="1"/>
                    <a:pt x="5469" y="199"/>
                    <a:pt x="5121" y="548"/>
                  </a:cubicBezTo>
                  <a:cubicBezTo>
                    <a:pt x="4704" y="964"/>
                    <a:pt x="4513" y="1572"/>
                    <a:pt x="4597" y="2238"/>
                  </a:cubicBezTo>
                  <a:cubicBezTo>
                    <a:pt x="4656" y="2727"/>
                    <a:pt x="4871" y="3227"/>
                    <a:pt x="5180" y="3655"/>
                  </a:cubicBezTo>
                  <a:lnTo>
                    <a:pt x="3501" y="5334"/>
                  </a:lnTo>
                  <a:cubicBezTo>
                    <a:pt x="3442" y="5394"/>
                    <a:pt x="3442" y="5501"/>
                    <a:pt x="3501" y="5560"/>
                  </a:cubicBezTo>
                  <a:cubicBezTo>
                    <a:pt x="3525" y="5584"/>
                    <a:pt x="3573" y="5608"/>
                    <a:pt x="3620" y="5608"/>
                  </a:cubicBezTo>
                  <a:cubicBezTo>
                    <a:pt x="3668" y="5608"/>
                    <a:pt x="3704" y="5584"/>
                    <a:pt x="3739" y="5560"/>
                  </a:cubicBezTo>
                  <a:lnTo>
                    <a:pt x="5406" y="3893"/>
                  </a:lnTo>
                  <a:cubicBezTo>
                    <a:pt x="5454" y="3953"/>
                    <a:pt x="5502" y="4000"/>
                    <a:pt x="5549" y="4060"/>
                  </a:cubicBezTo>
                  <a:cubicBezTo>
                    <a:pt x="5609" y="4120"/>
                    <a:pt x="5656" y="4155"/>
                    <a:pt x="5716" y="4203"/>
                  </a:cubicBezTo>
                  <a:lnTo>
                    <a:pt x="2334" y="7584"/>
                  </a:lnTo>
                  <a:lnTo>
                    <a:pt x="691" y="9239"/>
                  </a:lnTo>
                  <a:lnTo>
                    <a:pt x="370" y="8918"/>
                  </a:lnTo>
                  <a:lnTo>
                    <a:pt x="3299" y="5989"/>
                  </a:lnTo>
                  <a:cubicBezTo>
                    <a:pt x="3358" y="5929"/>
                    <a:pt x="3358" y="5822"/>
                    <a:pt x="3299" y="5763"/>
                  </a:cubicBezTo>
                  <a:cubicBezTo>
                    <a:pt x="3275" y="5733"/>
                    <a:pt x="3236" y="5718"/>
                    <a:pt x="3196" y="5718"/>
                  </a:cubicBezTo>
                  <a:cubicBezTo>
                    <a:pt x="3156" y="5718"/>
                    <a:pt x="3114" y="5733"/>
                    <a:pt x="3085" y="5763"/>
                  </a:cubicBezTo>
                  <a:lnTo>
                    <a:pt x="48" y="8799"/>
                  </a:lnTo>
                  <a:cubicBezTo>
                    <a:pt x="13" y="8834"/>
                    <a:pt x="1" y="8882"/>
                    <a:pt x="1" y="8918"/>
                  </a:cubicBezTo>
                  <a:cubicBezTo>
                    <a:pt x="1" y="8965"/>
                    <a:pt x="13" y="9013"/>
                    <a:pt x="48" y="9037"/>
                  </a:cubicBezTo>
                  <a:lnTo>
                    <a:pt x="596" y="9585"/>
                  </a:lnTo>
                  <a:lnTo>
                    <a:pt x="1513" y="10513"/>
                  </a:lnTo>
                  <a:cubicBezTo>
                    <a:pt x="1549" y="10549"/>
                    <a:pt x="1596" y="10561"/>
                    <a:pt x="1632" y="10561"/>
                  </a:cubicBezTo>
                  <a:cubicBezTo>
                    <a:pt x="1680" y="10561"/>
                    <a:pt x="1727" y="10537"/>
                    <a:pt x="1763" y="10513"/>
                  </a:cubicBezTo>
                  <a:lnTo>
                    <a:pt x="2108" y="10156"/>
                  </a:lnTo>
                  <a:cubicBezTo>
                    <a:pt x="2144" y="10120"/>
                    <a:pt x="2156" y="10085"/>
                    <a:pt x="2156" y="10037"/>
                  </a:cubicBezTo>
                  <a:cubicBezTo>
                    <a:pt x="2156" y="9989"/>
                    <a:pt x="2144" y="9954"/>
                    <a:pt x="2108" y="9918"/>
                  </a:cubicBezTo>
                  <a:lnTo>
                    <a:pt x="1775" y="9573"/>
                  </a:lnTo>
                  <a:lnTo>
                    <a:pt x="1906" y="9442"/>
                  </a:lnTo>
                  <a:lnTo>
                    <a:pt x="2251" y="9787"/>
                  </a:lnTo>
                  <a:cubicBezTo>
                    <a:pt x="2281" y="9817"/>
                    <a:pt x="2320" y="9832"/>
                    <a:pt x="2358" y="9832"/>
                  </a:cubicBezTo>
                  <a:cubicBezTo>
                    <a:pt x="2397" y="9832"/>
                    <a:pt x="2436" y="9817"/>
                    <a:pt x="2465" y="9787"/>
                  </a:cubicBezTo>
                  <a:lnTo>
                    <a:pt x="2823" y="9430"/>
                  </a:lnTo>
                  <a:cubicBezTo>
                    <a:pt x="2858" y="9394"/>
                    <a:pt x="2870" y="9358"/>
                    <a:pt x="2870" y="9311"/>
                  </a:cubicBezTo>
                  <a:cubicBezTo>
                    <a:pt x="2870" y="9263"/>
                    <a:pt x="2858" y="9215"/>
                    <a:pt x="2823" y="9192"/>
                  </a:cubicBezTo>
                  <a:lnTo>
                    <a:pt x="2489" y="8846"/>
                  </a:lnTo>
                  <a:lnTo>
                    <a:pt x="2620" y="8715"/>
                  </a:lnTo>
                  <a:lnTo>
                    <a:pt x="2966" y="9061"/>
                  </a:lnTo>
                  <a:cubicBezTo>
                    <a:pt x="2995" y="9090"/>
                    <a:pt x="3034" y="9105"/>
                    <a:pt x="3073" y="9105"/>
                  </a:cubicBezTo>
                  <a:cubicBezTo>
                    <a:pt x="3111" y="9105"/>
                    <a:pt x="3150" y="9090"/>
                    <a:pt x="3180" y="9061"/>
                  </a:cubicBezTo>
                  <a:lnTo>
                    <a:pt x="3537" y="8703"/>
                  </a:lnTo>
                  <a:cubicBezTo>
                    <a:pt x="3597" y="8644"/>
                    <a:pt x="3597" y="8537"/>
                    <a:pt x="3537" y="8477"/>
                  </a:cubicBezTo>
                  <a:lnTo>
                    <a:pt x="2727" y="7656"/>
                  </a:lnTo>
                  <a:lnTo>
                    <a:pt x="6014" y="4370"/>
                  </a:lnTo>
                  <a:cubicBezTo>
                    <a:pt x="6549" y="4751"/>
                    <a:pt x="7168" y="4977"/>
                    <a:pt x="7752" y="4977"/>
                  </a:cubicBezTo>
                  <a:cubicBezTo>
                    <a:pt x="8026" y="4977"/>
                    <a:pt x="8276" y="4929"/>
                    <a:pt x="8514" y="4846"/>
                  </a:cubicBezTo>
                  <a:cubicBezTo>
                    <a:pt x="8597" y="4810"/>
                    <a:pt x="8633" y="4727"/>
                    <a:pt x="8597" y="4632"/>
                  </a:cubicBezTo>
                  <a:cubicBezTo>
                    <a:pt x="8580" y="4570"/>
                    <a:pt x="8523" y="4534"/>
                    <a:pt x="8461" y="4534"/>
                  </a:cubicBezTo>
                  <a:cubicBezTo>
                    <a:pt x="8439" y="4534"/>
                    <a:pt x="8417" y="4539"/>
                    <a:pt x="8395" y="4548"/>
                  </a:cubicBezTo>
                  <a:cubicBezTo>
                    <a:pt x="8192" y="4625"/>
                    <a:pt x="7973" y="4662"/>
                    <a:pt x="7746" y="4662"/>
                  </a:cubicBezTo>
                  <a:cubicBezTo>
                    <a:pt x="7093" y="4662"/>
                    <a:pt x="6380" y="4355"/>
                    <a:pt x="5823" y="3798"/>
                  </a:cubicBezTo>
                  <a:cubicBezTo>
                    <a:pt x="4847" y="2834"/>
                    <a:pt x="4668" y="1453"/>
                    <a:pt x="5406" y="726"/>
                  </a:cubicBezTo>
                  <a:cubicBezTo>
                    <a:pt x="5707" y="421"/>
                    <a:pt x="6119" y="272"/>
                    <a:pt x="6568" y="272"/>
                  </a:cubicBezTo>
                  <a:cubicBezTo>
                    <a:pt x="7204" y="272"/>
                    <a:pt x="7913" y="571"/>
                    <a:pt x="8478" y="1143"/>
                  </a:cubicBezTo>
                  <a:cubicBezTo>
                    <a:pt x="9454" y="2107"/>
                    <a:pt x="9633" y="3489"/>
                    <a:pt x="8895" y="4215"/>
                  </a:cubicBezTo>
                  <a:lnTo>
                    <a:pt x="8883" y="4239"/>
                  </a:lnTo>
                  <a:cubicBezTo>
                    <a:pt x="8823" y="4298"/>
                    <a:pt x="8823" y="4393"/>
                    <a:pt x="8883" y="4453"/>
                  </a:cubicBezTo>
                  <a:cubicBezTo>
                    <a:pt x="8913" y="4483"/>
                    <a:pt x="8954" y="4498"/>
                    <a:pt x="8996" y="4498"/>
                  </a:cubicBezTo>
                  <a:cubicBezTo>
                    <a:pt x="9038" y="4498"/>
                    <a:pt x="9079" y="4483"/>
                    <a:pt x="9109" y="4453"/>
                  </a:cubicBezTo>
                  <a:lnTo>
                    <a:pt x="9121" y="4441"/>
                  </a:lnTo>
                  <a:cubicBezTo>
                    <a:pt x="9502" y="4072"/>
                    <a:pt x="9669" y="3465"/>
                    <a:pt x="9585" y="2786"/>
                  </a:cubicBezTo>
                  <a:cubicBezTo>
                    <a:pt x="9502" y="2131"/>
                    <a:pt x="9169" y="1476"/>
                    <a:pt x="8645" y="964"/>
                  </a:cubicBezTo>
                  <a:cubicBezTo>
                    <a:pt x="8133" y="441"/>
                    <a:pt x="7478" y="95"/>
                    <a:pt x="6823" y="24"/>
                  </a:cubicBezTo>
                  <a:cubicBezTo>
                    <a:pt x="6712" y="8"/>
                    <a:pt x="6603" y="1"/>
                    <a:pt x="6496" y="1"/>
                  </a:cubicBezTo>
                  <a:close/>
                </a:path>
              </a:pathLst>
            </a:custGeom>
            <a:grp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25" name="Google Shape;10743;p72"/>
            <p:cNvSpPr/>
            <p:nvPr/>
          </p:nvSpPr>
          <p:spPr>
            <a:xfrm>
              <a:off x="1474377" y="3380453"/>
              <a:ext cx="122221" cy="118895"/>
            </a:xfrm>
            <a:custGeom>
              <a:avLst/>
              <a:gdLst/>
              <a:ahLst/>
              <a:cxnLst/>
              <a:rect l="l" t="t" r="r" b="b"/>
              <a:pathLst>
                <a:path w="3858" h="3753" extrusionOk="0">
                  <a:moveTo>
                    <a:pt x="1488" y="312"/>
                  </a:moveTo>
                  <a:cubicBezTo>
                    <a:pt x="1953" y="312"/>
                    <a:pt x="2453" y="526"/>
                    <a:pt x="2858" y="943"/>
                  </a:cubicBezTo>
                  <a:cubicBezTo>
                    <a:pt x="3536" y="1621"/>
                    <a:pt x="3691" y="2609"/>
                    <a:pt x="3167" y="3133"/>
                  </a:cubicBezTo>
                  <a:cubicBezTo>
                    <a:pt x="2965" y="3336"/>
                    <a:pt x="2667" y="3443"/>
                    <a:pt x="2346" y="3443"/>
                  </a:cubicBezTo>
                  <a:cubicBezTo>
                    <a:pt x="1881" y="3443"/>
                    <a:pt x="1381" y="3229"/>
                    <a:pt x="976" y="2812"/>
                  </a:cubicBezTo>
                  <a:cubicBezTo>
                    <a:pt x="631" y="2479"/>
                    <a:pt x="429" y="2050"/>
                    <a:pt x="369" y="1645"/>
                  </a:cubicBezTo>
                  <a:cubicBezTo>
                    <a:pt x="322" y="1240"/>
                    <a:pt x="429" y="883"/>
                    <a:pt x="667" y="633"/>
                  </a:cubicBezTo>
                  <a:cubicBezTo>
                    <a:pt x="869" y="419"/>
                    <a:pt x="1167" y="312"/>
                    <a:pt x="1488" y="312"/>
                  </a:cubicBezTo>
                  <a:close/>
                  <a:moveTo>
                    <a:pt x="1518" y="1"/>
                  </a:moveTo>
                  <a:cubicBezTo>
                    <a:pt x="1106" y="1"/>
                    <a:pt x="738" y="143"/>
                    <a:pt x="465" y="407"/>
                  </a:cubicBezTo>
                  <a:cubicBezTo>
                    <a:pt x="143" y="716"/>
                    <a:pt x="0" y="1181"/>
                    <a:pt x="72" y="1681"/>
                  </a:cubicBezTo>
                  <a:cubicBezTo>
                    <a:pt x="131" y="2181"/>
                    <a:pt x="381" y="2657"/>
                    <a:pt x="774" y="3038"/>
                  </a:cubicBezTo>
                  <a:cubicBezTo>
                    <a:pt x="1227" y="3502"/>
                    <a:pt x="1822" y="3752"/>
                    <a:pt x="2358" y="3752"/>
                  </a:cubicBezTo>
                  <a:cubicBezTo>
                    <a:pt x="2762" y="3752"/>
                    <a:pt x="3132" y="3622"/>
                    <a:pt x="3405" y="3348"/>
                  </a:cubicBezTo>
                  <a:cubicBezTo>
                    <a:pt x="3703" y="3038"/>
                    <a:pt x="3858" y="2574"/>
                    <a:pt x="3798" y="2074"/>
                  </a:cubicBezTo>
                  <a:cubicBezTo>
                    <a:pt x="3739" y="1586"/>
                    <a:pt x="3477" y="1109"/>
                    <a:pt x="3096" y="716"/>
                  </a:cubicBezTo>
                  <a:cubicBezTo>
                    <a:pt x="2703" y="335"/>
                    <a:pt x="2215" y="73"/>
                    <a:pt x="1738" y="14"/>
                  </a:cubicBezTo>
                  <a:cubicBezTo>
                    <a:pt x="1664" y="5"/>
                    <a:pt x="1590" y="1"/>
                    <a:pt x="1518" y="1"/>
                  </a:cubicBezTo>
                  <a:close/>
                </a:path>
              </a:pathLst>
            </a:custGeom>
            <a:grp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26" name="Google Shape;10744;p72"/>
            <p:cNvSpPr/>
            <p:nvPr/>
          </p:nvSpPr>
          <p:spPr>
            <a:xfrm>
              <a:off x="1510207" y="3632848"/>
              <a:ext cx="15492" cy="17741"/>
            </a:xfrm>
            <a:custGeom>
              <a:avLst/>
              <a:gdLst/>
              <a:ahLst/>
              <a:cxnLst/>
              <a:rect l="l" t="t" r="r" b="b"/>
              <a:pathLst>
                <a:path w="489" h="560" extrusionOk="0">
                  <a:moveTo>
                    <a:pt x="155" y="0"/>
                  </a:moveTo>
                  <a:cubicBezTo>
                    <a:pt x="72" y="0"/>
                    <a:pt x="0" y="72"/>
                    <a:pt x="0" y="167"/>
                  </a:cubicBezTo>
                  <a:cubicBezTo>
                    <a:pt x="0" y="227"/>
                    <a:pt x="24" y="262"/>
                    <a:pt x="72" y="298"/>
                  </a:cubicBezTo>
                  <a:lnTo>
                    <a:pt x="72" y="405"/>
                  </a:lnTo>
                  <a:cubicBezTo>
                    <a:pt x="72" y="488"/>
                    <a:pt x="143" y="560"/>
                    <a:pt x="238" y="560"/>
                  </a:cubicBezTo>
                  <a:cubicBezTo>
                    <a:pt x="322" y="560"/>
                    <a:pt x="393" y="488"/>
                    <a:pt x="393" y="405"/>
                  </a:cubicBezTo>
                  <a:lnTo>
                    <a:pt x="393" y="298"/>
                  </a:lnTo>
                  <a:cubicBezTo>
                    <a:pt x="441" y="262"/>
                    <a:pt x="477" y="227"/>
                    <a:pt x="477" y="167"/>
                  </a:cubicBezTo>
                  <a:cubicBezTo>
                    <a:pt x="488" y="72"/>
                    <a:pt x="417" y="0"/>
                    <a:pt x="322" y="0"/>
                  </a:cubicBezTo>
                  <a:close/>
                </a:path>
              </a:pathLst>
            </a:custGeom>
            <a:grp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grpSp>
      <p:cxnSp>
        <p:nvCxnSpPr>
          <p:cNvPr id="27" name="Google Shape;208;p31"/>
          <p:cNvCxnSpPr/>
          <p:nvPr/>
        </p:nvCxnSpPr>
        <p:spPr>
          <a:xfrm>
            <a:off x="1335008" y="5299114"/>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36850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 </a:t>
            </a:r>
            <a:r>
              <a:rPr lang="en-US" sz="9600" dirty="0">
                <a:latin typeface="Candara" panose="020E0502030303020204" pitchFamily="34" charset="0"/>
              </a:rPr>
              <a:t>7,000</a:t>
            </a:r>
          </a:p>
        </p:txBody>
      </p:sp>
      <p:sp>
        <p:nvSpPr>
          <p:cNvPr id="3" name="Text Placeholder 2"/>
          <p:cNvSpPr>
            <a:spLocks noGrp="1"/>
          </p:cNvSpPr>
          <p:nvPr>
            <p:ph type="body" idx="1"/>
          </p:nvPr>
        </p:nvSpPr>
        <p:spPr>
          <a:xfrm>
            <a:off x="838071" y="2385296"/>
            <a:ext cx="7886699" cy="545989"/>
          </a:xfrm>
        </p:spPr>
        <p:txBody>
          <a:bodyPr>
            <a:noAutofit/>
          </a:bodyPr>
          <a:lstStyle/>
          <a:p>
            <a:pPr algn="ctr"/>
            <a:r>
              <a:rPr lang="en-US" sz="2000" dirty="0">
                <a:latin typeface="Candara" panose="020E0502030303020204" pitchFamily="34" charset="0"/>
              </a:rPr>
              <a:t>NABW boasts a diverse membership base comprising 7,000 women-led  MSMEs</a:t>
            </a:r>
          </a:p>
        </p:txBody>
      </p:sp>
      <p:sp>
        <p:nvSpPr>
          <p:cNvPr id="7" name="Google Shape;211;p31"/>
          <p:cNvSpPr/>
          <p:nvPr/>
        </p:nvSpPr>
        <p:spPr>
          <a:xfrm>
            <a:off x="0" y="-6400"/>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11" name="Google Shape;518;p41"/>
          <p:cNvSpPr/>
          <p:nvPr/>
        </p:nvSpPr>
        <p:spPr>
          <a:xfrm flipH="1">
            <a:off x="-8" y="4399984"/>
            <a:ext cx="1052759" cy="2458016"/>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2" name="Google Shape;208;p31"/>
          <p:cNvCxnSpPr/>
          <p:nvPr/>
        </p:nvCxnSpPr>
        <p:spPr>
          <a:xfrm>
            <a:off x="855475" y="3669713"/>
            <a:ext cx="2900700" cy="0"/>
          </a:xfrm>
          <a:prstGeom prst="straightConnector1">
            <a:avLst/>
          </a:prstGeom>
          <a:noFill/>
          <a:ln w="9525" cap="flat" cmpd="sng">
            <a:solidFill>
              <a:srgbClr val="FFFFFF"/>
            </a:solidFill>
            <a:prstDash val="solid"/>
            <a:round/>
            <a:headEnd type="none" w="med" len="med"/>
            <a:tailEnd type="none" w="med" len="med"/>
          </a:ln>
        </p:spPr>
      </p:cxnSp>
      <p:cxnSp>
        <p:nvCxnSpPr>
          <p:cNvPr id="13" name="Google Shape;208;p31"/>
          <p:cNvCxnSpPr/>
          <p:nvPr/>
        </p:nvCxnSpPr>
        <p:spPr>
          <a:xfrm>
            <a:off x="529509" y="4494428"/>
            <a:ext cx="0" cy="2236206"/>
          </a:xfrm>
          <a:prstGeom prst="straightConnector1">
            <a:avLst/>
          </a:prstGeom>
          <a:noFill/>
          <a:ln w="9525" cap="flat" cmpd="sng">
            <a:solidFill>
              <a:srgbClr val="FFFFFF"/>
            </a:solidFill>
            <a:prstDash val="solid"/>
            <a:round/>
            <a:headEnd type="none" w="med" len="med"/>
            <a:tailEnd type="none" w="med" len="med"/>
          </a:ln>
        </p:spPr>
      </p:cxnSp>
      <p:sp>
        <p:nvSpPr>
          <p:cNvPr id="4" name="Content Placeholder 3"/>
          <p:cNvSpPr>
            <a:spLocks noGrp="1"/>
          </p:cNvSpPr>
          <p:nvPr>
            <p:ph sz="quarter" idx="4"/>
          </p:nvPr>
        </p:nvSpPr>
        <p:spPr>
          <a:xfrm>
            <a:off x="4511529" y="2951602"/>
            <a:ext cx="4213241" cy="3779032"/>
          </a:xfrm>
        </p:spPr>
        <p:txBody>
          <a:bodyPr/>
          <a:lstStyle/>
          <a:p>
            <a:pPr marL="0" indent="0">
              <a:buNone/>
            </a:pPr>
            <a:r>
              <a:rPr lang="en-US" sz="2000" b="1" dirty="0">
                <a:latin typeface="Candara" panose="020E0502030303020204" pitchFamily="34" charset="0"/>
              </a:rPr>
              <a:t>Location</a:t>
            </a:r>
          </a:p>
          <a:p>
            <a:pPr marL="0" indent="0">
              <a:buNone/>
            </a:pPr>
            <a:r>
              <a:rPr lang="en-US" sz="1400" dirty="0">
                <a:latin typeface="Candara" panose="020E0502030303020204" pitchFamily="34" charset="0"/>
              </a:rPr>
              <a:t>South</a:t>
            </a:r>
          </a:p>
          <a:p>
            <a:pPr marL="0" indent="0">
              <a:buNone/>
            </a:pPr>
            <a:r>
              <a:rPr lang="en-US" sz="1400" dirty="0">
                <a:latin typeface="Candara" panose="020E0502030303020204" pitchFamily="34" charset="0"/>
              </a:rPr>
              <a:t>Central  </a:t>
            </a:r>
          </a:p>
          <a:p>
            <a:pPr marL="0" indent="0">
              <a:buNone/>
            </a:pPr>
            <a:r>
              <a:rPr lang="en-US" sz="1400" dirty="0">
                <a:latin typeface="Candara" panose="020E0502030303020204" pitchFamily="34" charset="0"/>
              </a:rPr>
              <a:t>North  </a:t>
            </a:r>
          </a:p>
          <a:p>
            <a:pPr marL="0" indent="0">
              <a:buNone/>
            </a:pPr>
            <a:endParaRPr lang="en-US" sz="1400" dirty="0">
              <a:latin typeface="Candara" panose="020E0502030303020204" pitchFamily="34" charset="0"/>
            </a:endParaRPr>
          </a:p>
          <a:p>
            <a:pPr marL="0" indent="0">
              <a:buNone/>
            </a:pPr>
            <a:endParaRPr lang="en-US" sz="1400" dirty="0">
              <a:latin typeface="Candara" panose="020E0502030303020204" pitchFamily="34" charset="0"/>
            </a:endParaRPr>
          </a:p>
          <a:p>
            <a:pPr marL="0" indent="0">
              <a:buNone/>
            </a:pPr>
            <a:endParaRPr lang="en-US" sz="1400" dirty="0">
              <a:latin typeface="Candara" panose="020E0502030303020204" pitchFamily="34" charset="0"/>
            </a:endParaRPr>
          </a:p>
        </p:txBody>
      </p:sp>
      <p:pic>
        <p:nvPicPr>
          <p:cNvPr id="10"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5735" y="3137755"/>
            <a:ext cx="2910474" cy="3592880"/>
          </a:xfrm>
          <a:prstGeom prst="rect">
            <a:avLst/>
          </a:prstGeom>
        </p:spPr>
      </p:pic>
      <p:sp>
        <p:nvSpPr>
          <p:cNvPr id="5" name="Rectangle 4"/>
          <p:cNvSpPr/>
          <p:nvPr/>
        </p:nvSpPr>
        <p:spPr>
          <a:xfrm>
            <a:off x="1283011" y="6488668"/>
            <a:ext cx="3453171" cy="369332"/>
          </a:xfrm>
          <a:prstGeom prst="rect">
            <a:avLst/>
          </a:prstGeom>
        </p:spPr>
        <p:txBody>
          <a:bodyPr wrap="square">
            <a:spAutoFit/>
          </a:bodyPr>
          <a:lstStyle/>
          <a:p>
            <a:r>
              <a:rPr lang="en-US" dirty="0"/>
              <a:t>  = </a:t>
            </a:r>
            <a:r>
              <a:rPr lang="en-US" sz="1100" dirty="0">
                <a:latin typeface="Candara" panose="020E0502030303020204" pitchFamily="34" charset="0"/>
              </a:rPr>
              <a:t>NABW membership</a:t>
            </a:r>
          </a:p>
        </p:txBody>
      </p:sp>
      <p:sp>
        <p:nvSpPr>
          <p:cNvPr id="14" name="Google Shape;213;p31"/>
          <p:cNvSpPr/>
          <p:nvPr/>
        </p:nvSpPr>
        <p:spPr>
          <a:xfrm>
            <a:off x="1308137" y="6640308"/>
            <a:ext cx="114600" cy="114600"/>
          </a:xfrm>
          <a:prstGeom prst="ellipse">
            <a:avLst/>
          </a:prstGeom>
          <a:solidFill>
            <a:srgbClr val="FF0000"/>
          </a:solidFill>
          <a:ln>
            <a:noFill/>
          </a:ln>
        </p:spPr>
        <p:txBody>
          <a:bodyPr spcFirstLastPara="1" wrap="square" lIns="91425" tIns="91425" rIns="91425" bIns="91425" anchor="ctr" anchorCtr="0">
            <a:noAutofit/>
          </a:bodyPr>
          <a:lstStyle/>
          <a:p>
            <a:endParaRPr/>
          </a:p>
        </p:txBody>
      </p:sp>
      <p:sp>
        <p:nvSpPr>
          <p:cNvPr id="17" name="Google Shape;630;p44"/>
          <p:cNvSpPr/>
          <p:nvPr/>
        </p:nvSpPr>
        <p:spPr>
          <a:xfrm>
            <a:off x="5216875" y="3406712"/>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30;p44"/>
          <p:cNvSpPr/>
          <p:nvPr/>
        </p:nvSpPr>
        <p:spPr>
          <a:xfrm>
            <a:off x="5627329" y="3442279"/>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30;p44"/>
          <p:cNvSpPr/>
          <p:nvPr/>
        </p:nvSpPr>
        <p:spPr>
          <a:xfrm>
            <a:off x="6004242" y="3442279"/>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30;p44"/>
          <p:cNvSpPr/>
          <p:nvPr/>
        </p:nvSpPr>
        <p:spPr>
          <a:xfrm>
            <a:off x="6348638" y="3435031"/>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34;p44"/>
          <p:cNvSpPr/>
          <p:nvPr/>
        </p:nvSpPr>
        <p:spPr>
          <a:xfrm>
            <a:off x="6673292" y="3451275"/>
            <a:ext cx="171600" cy="171600"/>
          </a:xfrm>
          <a:prstGeom prst="ellipse">
            <a:avLst/>
          </a:pr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24;p44"/>
          <p:cNvSpPr txBox="1"/>
          <p:nvPr/>
        </p:nvSpPr>
        <p:spPr>
          <a:xfrm>
            <a:off x="6925549" y="3435031"/>
            <a:ext cx="580200" cy="3133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dk1"/>
                </a:solidFill>
                <a:latin typeface="Righteous"/>
                <a:ea typeface="Righteous"/>
                <a:cs typeface="Righteous"/>
                <a:sym typeface="Righteous"/>
              </a:rPr>
              <a:t>40%</a:t>
            </a:r>
            <a:endParaRPr sz="1400" b="1" dirty="0">
              <a:solidFill>
                <a:schemeClr val="dk1"/>
              </a:solidFill>
              <a:latin typeface="Righteous"/>
              <a:ea typeface="Righteous"/>
              <a:cs typeface="Righteous"/>
              <a:sym typeface="Righteous"/>
            </a:endParaRPr>
          </a:p>
        </p:txBody>
      </p:sp>
      <p:sp>
        <p:nvSpPr>
          <p:cNvPr id="23" name="Google Shape;630;p44"/>
          <p:cNvSpPr/>
          <p:nvPr/>
        </p:nvSpPr>
        <p:spPr>
          <a:xfrm>
            <a:off x="5216875" y="3746771"/>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30;p44"/>
          <p:cNvSpPr/>
          <p:nvPr/>
        </p:nvSpPr>
        <p:spPr>
          <a:xfrm>
            <a:off x="5627329" y="3743137"/>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30;p44"/>
          <p:cNvSpPr/>
          <p:nvPr/>
        </p:nvSpPr>
        <p:spPr>
          <a:xfrm>
            <a:off x="6004242" y="3754358"/>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34;p44"/>
          <p:cNvSpPr/>
          <p:nvPr/>
        </p:nvSpPr>
        <p:spPr>
          <a:xfrm>
            <a:off x="6646381" y="3791094"/>
            <a:ext cx="171600" cy="171600"/>
          </a:xfrm>
          <a:prstGeom prst="ellipse">
            <a:avLst/>
          </a:pr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34;p44"/>
          <p:cNvSpPr/>
          <p:nvPr/>
        </p:nvSpPr>
        <p:spPr>
          <a:xfrm>
            <a:off x="6333341" y="3800275"/>
            <a:ext cx="171600" cy="151466"/>
          </a:xfrm>
          <a:prstGeom prst="ellipse">
            <a:avLst/>
          </a:pr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24;p44"/>
          <p:cNvSpPr txBox="1"/>
          <p:nvPr/>
        </p:nvSpPr>
        <p:spPr>
          <a:xfrm>
            <a:off x="6920678" y="3769266"/>
            <a:ext cx="580200" cy="3133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dk1"/>
                </a:solidFill>
                <a:latin typeface="Righteous"/>
                <a:ea typeface="Righteous"/>
                <a:cs typeface="Righteous"/>
                <a:sym typeface="Righteous"/>
              </a:rPr>
              <a:t>35%</a:t>
            </a:r>
            <a:endParaRPr sz="1400" b="1" dirty="0">
              <a:solidFill>
                <a:schemeClr val="dk1"/>
              </a:solidFill>
              <a:latin typeface="Righteous"/>
              <a:ea typeface="Righteous"/>
              <a:cs typeface="Righteous"/>
              <a:sym typeface="Righteous"/>
            </a:endParaRPr>
          </a:p>
        </p:txBody>
      </p:sp>
      <p:sp>
        <p:nvSpPr>
          <p:cNvPr id="30" name="Google Shape;630;p44"/>
          <p:cNvSpPr/>
          <p:nvPr/>
        </p:nvSpPr>
        <p:spPr>
          <a:xfrm>
            <a:off x="5224347" y="4059949"/>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630;p44"/>
          <p:cNvSpPr/>
          <p:nvPr/>
        </p:nvSpPr>
        <p:spPr>
          <a:xfrm>
            <a:off x="5638461" y="4072572"/>
            <a:ext cx="171600" cy="171600"/>
          </a:xfrm>
          <a:prstGeom prst="ellipse">
            <a:avLst/>
          </a:prstGeom>
          <a:gradFill>
            <a:gsLst>
              <a:gs pos="0">
                <a:srgbClr val="3660BC"/>
              </a:gs>
              <a:gs pos="100000">
                <a:schemeClr val="dk2"/>
              </a:gs>
            </a:gsLst>
            <a:lin ang="18900732"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634;p44"/>
          <p:cNvSpPr/>
          <p:nvPr/>
        </p:nvSpPr>
        <p:spPr>
          <a:xfrm>
            <a:off x="6017929" y="4085071"/>
            <a:ext cx="171600" cy="171600"/>
          </a:xfrm>
          <a:prstGeom prst="ellipse">
            <a:avLst/>
          </a:pr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34;p44"/>
          <p:cNvSpPr/>
          <p:nvPr/>
        </p:nvSpPr>
        <p:spPr>
          <a:xfrm>
            <a:off x="6318304" y="4090060"/>
            <a:ext cx="171600" cy="171600"/>
          </a:xfrm>
          <a:prstGeom prst="ellipse">
            <a:avLst/>
          </a:pr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634;p44"/>
          <p:cNvSpPr/>
          <p:nvPr/>
        </p:nvSpPr>
        <p:spPr>
          <a:xfrm>
            <a:off x="6654154" y="4090060"/>
            <a:ext cx="171600" cy="171600"/>
          </a:xfrm>
          <a:prstGeom prst="ellipse">
            <a:avLst/>
          </a:prstGeom>
          <a:noFill/>
          <a:ln w="9525" cap="flat" cmpd="sng">
            <a:solidFill>
              <a:schemeClr val="accent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624;p44"/>
          <p:cNvSpPr txBox="1"/>
          <p:nvPr/>
        </p:nvSpPr>
        <p:spPr>
          <a:xfrm>
            <a:off x="6904962" y="4042341"/>
            <a:ext cx="580200" cy="3133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dk1"/>
                </a:solidFill>
                <a:latin typeface="Righteous"/>
                <a:ea typeface="Righteous"/>
                <a:cs typeface="Righteous"/>
                <a:sym typeface="Righteous"/>
              </a:rPr>
              <a:t>25%</a:t>
            </a:r>
            <a:endParaRPr sz="1400" b="1" dirty="0">
              <a:solidFill>
                <a:schemeClr val="dk1"/>
              </a:solidFill>
              <a:latin typeface="Righteous"/>
              <a:ea typeface="Righteous"/>
              <a:cs typeface="Righteous"/>
              <a:sym typeface="Righteous"/>
            </a:endParaRPr>
          </a:p>
        </p:txBody>
      </p:sp>
      <p:sp>
        <p:nvSpPr>
          <p:cNvPr id="37" name="Google Shape;587;p44"/>
          <p:cNvSpPr/>
          <p:nvPr/>
        </p:nvSpPr>
        <p:spPr>
          <a:xfrm>
            <a:off x="6747446" y="4791300"/>
            <a:ext cx="737716" cy="722699"/>
          </a:xfrm>
          <a:prstGeom prst="donut">
            <a:avLst>
              <a:gd name="adj" fmla="val 15746"/>
            </a:avLst>
          </a:prstGeom>
          <a:noFill/>
          <a:ln w="9525" cap="flat" cmpd="sng">
            <a:solidFill>
              <a:srgbClr val="3660BC"/>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587;p44"/>
          <p:cNvSpPr/>
          <p:nvPr/>
        </p:nvSpPr>
        <p:spPr>
          <a:xfrm>
            <a:off x="4616447" y="4758391"/>
            <a:ext cx="779500" cy="739004"/>
          </a:xfrm>
          <a:prstGeom prst="donut">
            <a:avLst>
              <a:gd name="adj" fmla="val 15746"/>
            </a:avLst>
          </a:prstGeom>
          <a:noFill/>
          <a:ln w="9525" cap="flat" cmpd="sng">
            <a:solidFill>
              <a:srgbClr val="3660BC"/>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588;p44"/>
          <p:cNvSpPr/>
          <p:nvPr/>
        </p:nvSpPr>
        <p:spPr>
          <a:xfrm rot="5400000" flipH="1">
            <a:off x="4673547" y="4774994"/>
            <a:ext cx="722400" cy="722400"/>
          </a:xfrm>
          <a:prstGeom prst="blockArc">
            <a:avLst>
              <a:gd name="adj1" fmla="val 11961659"/>
              <a:gd name="adj2" fmla="val 21589907"/>
              <a:gd name="adj3" fmla="val 15780"/>
            </a:avLst>
          </a:prstGeom>
          <a:gradFill>
            <a:gsLst>
              <a:gs pos="0">
                <a:srgbClr val="3660BC"/>
              </a:gs>
              <a:gs pos="100000">
                <a:srgbClr val="6FA8DC"/>
              </a:gs>
            </a:gsLst>
            <a:lin ang="10801400" scaled="0"/>
          </a:gradFill>
          <a:ln w="9525" cap="flat" cmpd="sng">
            <a:solidFill>
              <a:srgbClr val="3660BC"/>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41" name="Google Shape;646;p44"/>
          <p:cNvGrpSpPr/>
          <p:nvPr/>
        </p:nvGrpSpPr>
        <p:grpSpPr>
          <a:xfrm>
            <a:off x="4891943" y="5000892"/>
            <a:ext cx="228507" cy="303513"/>
            <a:chOff x="4903389" y="1500214"/>
            <a:chExt cx="267854" cy="355735"/>
          </a:xfrm>
        </p:grpSpPr>
        <p:sp>
          <p:nvSpPr>
            <p:cNvPr id="42" name="Google Shape;647;p44"/>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648;p44"/>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649;p44"/>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650;p44"/>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651;p44"/>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7" name="Google Shape;646;p44"/>
          <p:cNvGrpSpPr/>
          <p:nvPr/>
        </p:nvGrpSpPr>
        <p:grpSpPr>
          <a:xfrm>
            <a:off x="6966555" y="4990594"/>
            <a:ext cx="228507" cy="303513"/>
            <a:chOff x="4903389" y="1500214"/>
            <a:chExt cx="267854" cy="355735"/>
          </a:xfrm>
        </p:grpSpPr>
        <p:sp>
          <p:nvSpPr>
            <p:cNvPr id="48" name="Google Shape;647;p44"/>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648;p44"/>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649;p44"/>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650;p44"/>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651;p44"/>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53" name="Google Shape;590;p44"/>
          <p:cNvSpPr/>
          <p:nvPr/>
        </p:nvSpPr>
        <p:spPr>
          <a:xfrm rot="5400000" flipH="1">
            <a:off x="6747446" y="4802186"/>
            <a:ext cx="722400" cy="722400"/>
          </a:xfrm>
          <a:prstGeom prst="blockArc">
            <a:avLst>
              <a:gd name="adj1" fmla="val 8836278"/>
              <a:gd name="adj2" fmla="val 21589907"/>
              <a:gd name="adj3" fmla="val 15780"/>
            </a:avLst>
          </a:prstGeom>
          <a:gradFill>
            <a:gsLst>
              <a:gs pos="0">
                <a:srgbClr val="3660BC"/>
              </a:gs>
              <a:gs pos="100000">
                <a:srgbClr val="6FA8DC"/>
              </a:gs>
            </a:gsLst>
            <a:lin ang="10801400" scaled="0"/>
          </a:gradFill>
          <a:ln w="9525" cap="flat" cmpd="sng">
            <a:solidFill>
              <a:srgbClr val="3660BC"/>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636;p44"/>
          <p:cNvSpPr txBox="1"/>
          <p:nvPr/>
        </p:nvSpPr>
        <p:spPr>
          <a:xfrm>
            <a:off x="5496423" y="5013581"/>
            <a:ext cx="580200" cy="278400"/>
          </a:xfrm>
          <a:prstGeom prst="rect">
            <a:avLst/>
          </a:prstGeom>
          <a:noFill/>
          <a:ln>
            <a:noFill/>
          </a:ln>
        </p:spPr>
        <p:txBody>
          <a:bodyPr spcFirstLastPara="1" wrap="square" lIns="91425" tIns="91425" rIns="91425" bIns="91425" anchor="ctr" anchorCtr="0">
            <a:noAutofit/>
          </a:bodyPr>
          <a:lstStyle/>
          <a:p>
            <a:pPr>
              <a:buClr>
                <a:srgbClr val="000000"/>
              </a:buClr>
              <a:buFont typeface="Arial"/>
              <a:buNone/>
            </a:pPr>
            <a:r>
              <a:rPr lang="en" sz="1400" b="1" kern="0" dirty="0">
                <a:solidFill>
                  <a:srgbClr val="191919"/>
                </a:solidFill>
                <a:latin typeface="Righteous"/>
                <a:ea typeface="Righteous"/>
                <a:cs typeface="Righteous"/>
                <a:sym typeface="Righteous"/>
              </a:rPr>
              <a:t>35%</a:t>
            </a:r>
            <a:endParaRPr sz="1400" b="1" kern="0" dirty="0">
              <a:solidFill>
                <a:srgbClr val="191919"/>
              </a:solidFill>
              <a:latin typeface="Righteous"/>
              <a:ea typeface="Righteous"/>
              <a:cs typeface="Righteous"/>
              <a:sym typeface="Righteous"/>
            </a:endParaRPr>
          </a:p>
        </p:txBody>
      </p:sp>
      <p:sp>
        <p:nvSpPr>
          <p:cNvPr id="55" name="Google Shape;636;p44"/>
          <p:cNvSpPr txBox="1"/>
          <p:nvPr/>
        </p:nvSpPr>
        <p:spPr>
          <a:xfrm>
            <a:off x="7578808" y="5013581"/>
            <a:ext cx="580200" cy="278400"/>
          </a:xfrm>
          <a:prstGeom prst="rect">
            <a:avLst/>
          </a:prstGeom>
          <a:noFill/>
          <a:ln>
            <a:noFill/>
          </a:ln>
        </p:spPr>
        <p:txBody>
          <a:bodyPr spcFirstLastPara="1" wrap="square" lIns="91425" tIns="91425" rIns="91425" bIns="91425" anchor="ctr" anchorCtr="0">
            <a:noAutofit/>
          </a:bodyPr>
          <a:lstStyle/>
          <a:p>
            <a:pPr>
              <a:buClr>
                <a:srgbClr val="000000"/>
              </a:buClr>
              <a:buFont typeface="Arial"/>
              <a:buNone/>
            </a:pPr>
            <a:r>
              <a:rPr lang="en" sz="1400" b="1" kern="0" dirty="0">
                <a:solidFill>
                  <a:srgbClr val="191919"/>
                </a:solidFill>
                <a:latin typeface="Righteous"/>
                <a:ea typeface="Righteous"/>
                <a:cs typeface="Righteous"/>
                <a:sym typeface="Righteous"/>
              </a:rPr>
              <a:t>65%</a:t>
            </a:r>
            <a:endParaRPr sz="1400" b="1" kern="0" dirty="0">
              <a:solidFill>
                <a:srgbClr val="191919"/>
              </a:solidFill>
              <a:latin typeface="Righteous"/>
              <a:ea typeface="Righteous"/>
              <a:cs typeface="Righteous"/>
              <a:sym typeface="Righteous"/>
            </a:endParaRPr>
          </a:p>
        </p:txBody>
      </p:sp>
      <p:sp>
        <p:nvSpPr>
          <p:cNvPr id="56" name="Google Shape;591;p44"/>
          <p:cNvSpPr txBox="1"/>
          <p:nvPr/>
        </p:nvSpPr>
        <p:spPr>
          <a:xfrm>
            <a:off x="4557143" y="5696414"/>
            <a:ext cx="953782" cy="2784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400" kern="0" dirty="0">
                <a:solidFill>
                  <a:srgbClr val="191919"/>
                </a:solidFill>
                <a:latin typeface="Candara" panose="020E0502030303020204" pitchFamily="34" charset="0"/>
                <a:ea typeface="Assistant"/>
                <a:cs typeface="Assistant"/>
                <a:sym typeface="Assistant"/>
              </a:rPr>
              <a:t>Youth Members</a:t>
            </a:r>
            <a:endParaRPr sz="1400" kern="0" dirty="0">
              <a:solidFill>
                <a:srgbClr val="191919"/>
              </a:solidFill>
              <a:latin typeface="Candara" panose="020E0502030303020204" pitchFamily="34" charset="0"/>
              <a:ea typeface="Assistant"/>
              <a:cs typeface="Assistant"/>
              <a:sym typeface="Assistant"/>
            </a:endParaRPr>
          </a:p>
        </p:txBody>
      </p:sp>
      <p:sp>
        <p:nvSpPr>
          <p:cNvPr id="57" name="Google Shape;591;p44"/>
          <p:cNvSpPr txBox="1"/>
          <p:nvPr/>
        </p:nvSpPr>
        <p:spPr>
          <a:xfrm>
            <a:off x="6702559" y="5712994"/>
            <a:ext cx="948911" cy="2784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400" kern="0" dirty="0">
                <a:solidFill>
                  <a:srgbClr val="191919"/>
                </a:solidFill>
                <a:latin typeface="Candara" panose="020E0502030303020204" pitchFamily="34" charset="0"/>
                <a:ea typeface="Assistant"/>
                <a:cs typeface="Assistant"/>
                <a:sym typeface="Assistant"/>
              </a:rPr>
              <a:t>Women Members</a:t>
            </a:r>
            <a:endParaRPr sz="1400" kern="0" dirty="0">
              <a:solidFill>
                <a:srgbClr val="191919"/>
              </a:solidFill>
              <a:latin typeface="Candara" panose="020E0502030303020204" pitchFamily="34" charset="0"/>
              <a:ea typeface="Assistant"/>
              <a:cs typeface="Assistant"/>
              <a:sym typeface="Assistant"/>
            </a:endParaRPr>
          </a:p>
        </p:txBody>
      </p:sp>
    </p:spTree>
    <p:extLst>
      <p:ext uri="{BB962C8B-B14F-4D97-AF65-F5344CB8AC3E}">
        <p14:creationId xmlns:p14="http://schemas.microsoft.com/office/powerpoint/2010/main" val="3754116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9"/>
            <a:ext cx="7886700" cy="838982"/>
          </a:xfrm>
        </p:spPr>
        <p:txBody>
          <a:bodyPr/>
          <a:lstStyle/>
          <a:p>
            <a:r>
              <a:rPr lang="en-US" dirty="0"/>
              <a:t>                  </a:t>
            </a:r>
            <a:r>
              <a:rPr lang="en-US" dirty="0">
                <a:solidFill>
                  <a:srgbClr val="9C2B61"/>
                </a:solidFill>
                <a:latin typeface="Candara" panose="020E0502030303020204" pitchFamily="34" charset="0"/>
              </a:rPr>
              <a:t>Our</a:t>
            </a:r>
            <a:r>
              <a:rPr lang="en-US" dirty="0">
                <a:solidFill>
                  <a:schemeClr val="accent2"/>
                </a:solidFill>
                <a:latin typeface="Candara" panose="020E0502030303020204" pitchFamily="34" charset="0"/>
              </a:rPr>
              <a:t> </a:t>
            </a:r>
            <a:r>
              <a:rPr lang="en-US" dirty="0">
                <a:solidFill>
                  <a:srgbClr val="FFB200"/>
                </a:solidFill>
                <a:latin typeface="Candara" panose="020E0502030303020204" pitchFamily="34" charset="0"/>
              </a:rPr>
              <a:t>purpose</a:t>
            </a:r>
            <a:r>
              <a:rPr lang="en-US" dirty="0">
                <a:solidFill>
                  <a:schemeClr val="accent2"/>
                </a:solidFill>
                <a:latin typeface="Candara" panose="020E0502030303020204" pitchFamily="34" charset="0"/>
              </a:rPr>
              <a:t> </a:t>
            </a:r>
          </a:p>
        </p:txBody>
      </p:sp>
      <p:sp>
        <p:nvSpPr>
          <p:cNvPr id="4" name="Google Shape;211;p31"/>
          <p:cNvSpPr/>
          <p:nvPr/>
        </p:nvSpPr>
        <p:spPr>
          <a:xfrm>
            <a:off x="0" y="-57771"/>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5" name="Google Shape;343;p37"/>
          <p:cNvSpPr/>
          <p:nvPr/>
        </p:nvSpPr>
        <p:spPr>
          <a:xfrm>
            <a:off x="1303699" y="1830966"/>
            <a:ext cx="923453" cy="912233"/>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345;p37"/>
          <p:cNvSpPr/>
          <p:nvPr/>
        </p:nvSpPr>
        <p:spPr>
          <a:xfrm>
            <a:off x="6909581" y="1812064"/>
            <a:ext cx="941561" cy="912233"/>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337;p37"/>
          <p:cNvSpPr txBox="1">
            <a:spLocks/>
          </p:cNvSpPr>
          <p:nvPr/>
        </p:nvSpPr>
        <p:spPr>
          <a:xfrm>
            <a:off x="722025" y="2806570"/>
            <a:ext cx="2086800"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2500"/>
              <a:buFont typeface="Righteous"/>
              <a:buNone/>
              <a:tabLst/>
              <a:defRPr/>
            </a:pPr>
            <a:r>
              <a:rPr lang="en-US" kern="0" dirty="0">
                <a:solidFill>
                  <a:srgbClr val="191919"/>
                </a:solidFill>
                <a:latin typeface="Candara" panose="020E0502030303020204" pitchFamily="34" charset="0"/>
              </a:rPr>
              <a:t>Vision</a:t>
            </a:r>
            <a:endParaRPr kumimoji="0" lang="en-US" sz="2500" b="0"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8" name="Google Shape;341;p37"/>
          <p:cNvSpPr txBox="1">
            <a:spLocks/>
          </p:cNvSpPr>
          <p:nvPr/>
        </p:nvSpPr>
        <p:spPr>
          <a:xfrm>
            <a:off x="6328146" y="2806570"/>
            <a:ext cx="2086800"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2500"/>
              <a:buFont typeface="Righteous"/>
              <a:buNone/>
              <a:tabLst/>
              <a:defRPr/>
            </a:pPr>
            <a:r>
              <a:rPr kumimoji="0" lang="en-US" sz="2500" b="0" i="0" u="none" strike="noStrike" kern="0" cap="none" spc="0" normalizeH="0" baseline="0" noProof="0" dirty="0">
                <a:ln>
                  <a:noFill/>
                </a:ln>
                <a:solidFill>
                  <a:srgbClr val="191919"/>
                </a:solidFill>
                <a:effectLst/>
                <a:uLnTx/>
                <a:uFillTx/>
                <a:latin typeface="Candara" panose="020E0502030303020204" pitchFamily="34" charset="0"/>
                <a:sym typeface="Righteous"/>
              </a:rPr>
              <a:t>Mission</a:t>
            </a:r>
          </a:p>
        </p:txBody>
      </p:sp>
      <p:sp>
        <p:nvSpPr>
          <p:cNvPr id="9" name="Google Shape;338;p37"/>
          <p:cNvSpPr txBox="1">
            <a:spLocks/>
          </p:cNvSpPr>
          <p:nvPr/>
        </p:nvSpPr>
        <p:spPr>
          <a:xfrm>
            <a:off x="262549" y="3685657"/>
            <a:ext cx="3367891" cy="13752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lvl="0" algn="just"/>
            <a:r>
              <a:rPr lang="en-US" dirty="0"/>
              <a:t>      </a:t>
            </a:r>
            <a:r>
              <a:rPr lang="en-US" dirty="0">
                <a:latin typeface="Candara" panose="020E0502030303020204" pitchFamily="34" charset="0"/>
              </a:rPr>
              <a:t>Liberated, socially empowered and economically active women of Malawi who contribute significantly to the political and economic development of Malawi       </a:t>
            </a:r>
          </a:p>
        </p:txBody>
      </p:sp>
      <p:sp>
        <p:nvSpPr>
          <p:cNvPr id="10" name="Google Shape;342;p37"/>
          <p:cNvSpPr txBox="1">
            <a:spLocks/>
          </p:cNvSpPr>
          <p:nvPr/>
        </p:nvSpPr>
        <p:spPr>
          <a:xfrm>
            <a:off x="5124261" y="3370052"/>
            <a:ext cx="3861869" cy="95877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endParaRPr lang="en-US" dirty="0"/>
          </a:p>
          <a:p>
            <a:pPr marL="0" lvl="0" indent="0">
              <a:buClr>
                <a:srgbClr val="191919"/>
              </a:buClr>
            </a:pPr>
            <a:endParaRPr lang="en-US" dirty="0"/>
          </a:p>
          <a:p>
            <a:pPr marL="0" lvl="0" indent="0">
              <a:buClr>
                <a:srgbClr val="191919"/>
              </a:buClr>
            </a:pPr>
            <a:endParaRPr lang="en-US" dirty="0"/>
          </a:p>
          <a:p>
            <a:pPr marL="0" lvl="0" indent="0">
              <a:buClr>
                <a:srgbClr val="191919"/>
              </a:buClr>
            </a:pPr>
            <a:endParaRPr lang="en-US" dirty="0"/>
          </a:p>
          <a:p>
            <a:pPr marL="0" lvl="0" indent="0">
              <a:buClr>
                <a:srgbClr val="191919"/>
              </a:buClr>
            </a:pPr>
            <a:endParaRPr lang="en-US" dirty="0"/>
          </a:p>
          <a:p>
            <a:pPr marL="0" lvl="0" indent="0" algn="just">
              <a:buClr>
                <a:srgbClr val="191919"/>
              </a:buClr>
            </a:pPr>
            <a:r>
              <a:rPr lang="en-US" dirty="0">
                <a:latin typeface="Candara" panose="020E0502030303020204" pitchFamily="34" charset="0"/>
              </a:rPr>
              <a:t>To  empower  and  uplift  the  lives  of  women  economically  and  socially  through entrepreneurship development, skills training, market access, information dissemination, access to finance and advocacy among urban and rural women</a:t>
            </a:r>
            <a:r>
              <a:rPr lang="en-US" b="1" dirty="0">
                <a:latin typeface="Candara" panose="020E0502030303020204" pitchFamily="34" charset="0"/>
              </a:rPr>
              <a:t> </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grpSp>
        <p:nvGrpSpPr>
          <p:cNvPr id="11" name="Google Shape;347;p37"/>
          <p:cNvGrpSpPr/>
          <p:nvPr/>
        </p:nvGrpSpPr>
        <p:grpSpPr>
          <a:xfrm>
            <a:off x="1476261" y="2152215"/>
            <a:ext cx="561860" cy="372475"/>
            <a:chOff x="2769100" y="2806425"/>
            <a:chExt cx="373375" cy="372475"/>
          </a:xfrm>
        </p:grpSpPr>
        <p:sp>
          <p:nvSpPr>
            <p:cNvPr id="12" name="Google Shape;348;p37"/>
            <p:cNvSpPr/>
            <p:nvPr/>
          </p:nvSpPr>
          <p:spPr>
            <a:xfrm>
              <a:off x="2769100" y="2978250"/>
              <a:ext cx="42400" cy="41400"/>
            </a:xfrm>
            <a:custGeom>
              <a:avLst/>
              <a:gdLst/>
              <a:ahLst/>
              <a:cxnLst/>
              <a:rect l="l" t="t" r="r" b="b"/>
              <a:pathLst>
                <a:path w="1696" h="1656" extrusionOk="0">
                  <a:moveTo>
                    <a:pt x="234" y="1"/>
                  </a:moveTo>
                  <a:cubicBezTo>
                    <a:pt x="179" y="1"/>
                    <a:pt x="125" y="23"/>
                    <a:pt x="89" y="68"/>
                  </a:cubicBezTo>
                  <a:cubicBezTo>
                    <a:pt x="0" y="157"/>
                    <a:pt x="0" y="300"/>
                    <a:pt x="89" y="371"/>
                  </a:cubicBezTo>
                  <a:lnTo>
                    <a:pt x="1303" y="1584"/>
                  </a:lnTo>
                  <a:cubicBezTo>
                    <a:pt x="1338" y="1620"/>
                    <a:pt x="1392" y="1656"/>
                    <a:pt x="1445" y="1656"/>
                  </a:cubicBezTo>
                  <a:cubicBezTo>
                    <a:pt x="1499" y="1656"/>
                    <a:pt x="1552" y="1620"/>
                    <a:pt x="1606" y="1584"/>
                  </a:cubicBezTo>
                  <a:cubicBezTo>
                    <a:pt x="1695" y="1495"/>
                    <a:pt x="1695" y="1352"/>
                    <a:pt x="1606" y="1281"/>
                  </a:cubicBezTo>
                  <a:lnTo>
                    <a:pt x="393" y="68"/>
                  </a:lnTo>
                  <a:cubicBezTo>
                    <a:pt x="348" y="23"/>
                    <a:pt x="290" y="1"/>
                    <a:pt x="2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349;p37"/>
            <p:cNvSpPr/>
            <p:nvPr/>
          </p:nvSpPr>
          <p:spPr>
            <a:xfrm>
              <a:off x="2769100" y="2806525"/>
              <a:ext cx="373375" cy="372375"/>
            </a:xfrm>
            <a:custGeom>
              <a:avLst/>
              <a:gdLst/>
              <a:ahLst/>
              <a:cxnLst/>
              <a:rect l="l" t="t" r="r" b="b"/>
              <a:pathLst>
                <a:path w="14935" h="14895" extrusionOk="0">
                  <a:moveTo>
                    <a:pt x="3533" y="10095"/>
                  </a:moveTo>
                  <a:cubicBezTo>
                    <a:pt x="3676" y="10095"/>
                    <a:pt x="3819" y="10148"/>
                    <a:pt x="3926" y="10256"/>
                  </a:cubicBezTo>
                  <a:cubicBezTo>
                    <a:pt x="4140" y="10470"/>
                    <a:pt x="4140" y="10826"/>
                    <a:pt x="3926" y="11041"/>
                  </a:cubicBezTo>
                  <a:lnTo>
                    <a:pt x="3711" y="11237"/>
                  </a:lnTo>
                  <a:cubicBezTo>
                    <a:pt x="3604" y="11344"/>
                    <a:pt x="3466" y="11397"/>
                    <a:pt x="3328" y="11397"/>
                  </a:cubicBezTo>
                  <a:cubicBezTo>
                    <a:pt x="3190" y="11397"/>
                    <a:pt x="3051" y="11344"/>
                    <a:pt x="2944" y="11237"/>
                  </a:cubicBezTo>
                  <a:cubicBezTo>
                    <a:pt x="2712" y="11023"/>
                    <a:pt x="2712" y="10684"/>
                    <a:pt x="2944" y="10470"/>
                  </a:cubicBezTo>
                  <a:lnTo>
                    <a:pt x="3140" y="10256"/>
                  </a:lnTo>
                  <a:cubicBezTo>
                    <a:pt x="3248" y="10148"/>
                    <a:pt x="3390" y="10095"/>
                    <a:pt x="3533" y="10095"/>
                  </a:cubicBezTo>
                  <a:close/>
                  <a:moveTo>
                    <a:pt x="5121" y="10684"/>
                  </a:moveTo>
                  <a:cubicBezTo>
                    <a:pt x="5264" y="10684"/>
                    <a:pt x="5407" y="10737"/>
                    <a:pt x="5514" y="10844"/>
                  </a:cubicBezTo>
                  <a:cubicBezTo>
                    <a:pt x="5603" y="10951"/>
                    <a:pt x="5674" y="11094"/>
                    <a:pt x="5674" y="11237"/>
                  </a:cubicBezTo>
                  <a:cubicBezTo>
                    <a:pt x="5674" y="11380"/>
                    <a:pt x="5603" y="11522"/>
                    <a:pt x="5514" y="11629"/>
                  </a:cubicBezTo>
                  <a:lnTo>
                    <a:pt x="4389" y="12736"/>
                  </a:lnTo>
                  <a:cubicBezTo>
                    <a:pt x="4282" y="12843"/>
                    <a:pt x="4144" y="12896"/>
                    <a:pt x="4006" y="12896"/>
                  </a:cubicBezTo>
                  <a:cubicBezTo>
                    <a:pt x="3868" y="12896"/>
                    <a:pt x="3729" y="12843"/>
                    <a:pt x="3622" y="12736"/>
                  </a:cubicBezTo>
                  <a:cubicBezTo>
                    <a:pt x="3408" y="12522"/>
                    <a:pt x="3408" y="12183"/>
                    <a:pt x="3622" y="11968"/>
                  </a:cubicBezTo>
                  <a:lnTo>
                    <a:pt x="4728" y="10844"/>
                  </a:lnTo>
                  <a:cubicBezTo>
                    <a:pt x="4836" y="10737"/>
                    <a:pt x="4978" y="10684"/>
                    <a:pt x="5121" y="10684"/>
                  </a:cubicBezTo>
                  <a:close/>
                  <a:moveTo>
                    <a:pt x="5710" y="12272"/>
                  </a:moveTo>
                  <a:cubicBezTo>
                    <a:pt x="5853" y="12272"/>
                    <a:pt x="5995" y="12325"/>
                    <a:pt x="6102" y="12432"/>
                  </a:cubicBezTo>
                  <a:cubicBezTo>
                    <a:pt x="6192" y="12539"/>
                    <a:pt x="6263" y="12682"/>
                    <a:pt x="6263" y="12825"/>
                  </a:cubicBezTo>
                  <a:cubicBezTo>
                    <a:pt x="6263" y="12932"/>
                    <a:pt x="6227" y="13039"/>
                    <a:pt x="6156" y="13128"/>
                  </a:cubicBezTo>
                  <a:lnTo>
                    <a:pt x="5781" y="13521"/>
                  </a:lnTo>
                  <a:cubicBezTo>
                    <a:pt x="5674" y="13628"/>
                    <a:pt x="5536" y="13681"/>
                    <a:pt x="5398" y="13681"/>
                  </a:cubicBezTo>
                  <a:cubicBezTo>
                    <a:pt x="5259" y="13681"/>
                    <a:pt x="5121" y="13628"/>
                    <a:pt x="5014" y="13521"/>
                  </a:cubicBezTo>
                  <a:cubicBezTo>
                    <a:pt x="4907" y="13414"/>
                    <a:pt x="4853" y="13289"/>
                    <a:pt x="4853" y="13128"/>
                  </a:cubicBezTo>
                  <a:cubicBezTo>
                    <a:pt x="4853" y="12985"/>
                    <a:pt x="4907" y="12843"/>
                    <a:pt x="5014" y="12736"/>
                  </a:cubicBezTo>
                  <a:lnTo>
                    <a:pt x="5317" y="12432"/>
                  </a:lnTo>
                  <a:cubicBezTo>
                    <a:pt x="5424" y="12325"/>
                    <a:pt x="5567" y="12272"/>
                    <a:pt x="5710" y="12272"/>
                  </a:cubicBezTo>
                  <a:close/>
                  <a:moveTo>
                    <a:pt x="6887" y="13253"/>
                  </a:moveTo>
                  <a:cubicBezTo>
                    <a:pt x="7030" y="13253"/>
                    <a:pt x="7173" y="13307"/>
                    <a:pt x="7280" y="13414"/>
                  </a:cubicBezTo>
                  <a:cubicBezTo>
                    <a:pt x="7369" y="13521"/>
                    <a:pt x="7441" y="13663"/>
                    <a:pt x="7441" y="13806"/>
                  </a:cubicBezTo>
                  <a:cubicBezTo>
                    <a:pt x="7441" y="13949"/>
                    <a:pt x="7369" y="14092"/>
                    <a:pt x="7262" y="14199"/>
                  </a:cubicBezTo>
                  <a:lnTo>
                    <a:pt x="7173" y="14306"/>
                  </a:lnTo>
                  <a:lnTo>
                    <a:pt x="7155" y="14306"/>
                  </a:lnTo>
                  <a:cubicBezTo>
                    <a:pt x="7066" y="14413"/>
                    <a:pt x="6923" y="14466"/>
                    <a:pt x="6780" y="14466"/>
                  </a:cubicBezTo>
                  <a:cubicBezTo>
                    <a:pt x="6620" y="14466"/>
                    <a:pt x="6495" y="14413"/>
                    <a:pt x="6388" y="14306"/>
                  </a:cubicBezTo>
                  <a:cubicBezTo>
                    <a:pt x="6209" y="14110"/>
                    <a:pt x="6174" y="13824"/>
                    <a:pt x="6316" y="13610"/>
                  </a:cubicBezTo>
                  <a:lnTo>
                    <a:pt x="6495" y="13414"/>
                  </a:lnTo>
                  <a:cubicBezTo>
                    <a:pt x="6602" y="13307"/>
                    <a:pt x="6745" y="13253"/>
                    <a:pt x="6887" y="13253"/>
                  </a:cubicBezTo>
                  <a:close/>
                  <a:moveTo>
                    <a:pt x="234" y="0"/>
                  </a:moveTo>
                  <a:cubicBezTo>
                    <a:pt x="179" y="0"/>
                    <a:pt x="125" y="23"/>
                    <a:pt x="89" y="67"/>
                  </a:cubicBezTo>
                  <a:cubicBezTo>
                    <a:pt x="0" y="139"/>
                    <a:pt x="0" y="282"/>
                    <a:pt x="89" y="371"/>
                  </a:cubicBezTo>
                  <a:lnTo>
                    <a:pt x="4318" y="4599"/>
                  </a:lnTo>
                  <a:lnTo>
                    <a:pt x="3801" y="5099"/>
                  </a:lnTo>
                  <a:cubicBezTo>
                    <a:pt x="3711" y="5188"/>
                    <a:pt x="3711" y="5331"/>
                    <a:pt x="3801" y="5402"/>
                  </a:cubicBezTo>
                  <a:cubicBezTo>
                    <a:pt x="3836" y="5456"/>
                    <a:pt x="3908" y="5474"/>
                    <a:pt x="3961" y="5474"/>
                  </a:cubicBezTo>
                  <a:cubicBezTo>
                    <a:pt x="4015" y="5474"/>
                    <a:pt x="4068" y="5456"/>
                    <a:pt x="4104" y="5402"/>
                  </a:cubicBezTo>
                  <a:lnTo>
                    <a:pt x="4693" y="4831"/>
                  </a:lnTo>
                  <a:lnTo>
                    <a:pt x="6870" y="5349"/>
                  </a:lnTo>
                  <a:lnTo>
                    <a:pt x="5888" y="6348"/>
                  </a:lnTo>
                  <a:cubicBezTo>
                    <a:pt x="5692" y="6526"/>
                    <a:pt x="5585" y="6776"/>
                    <a:pt x="5585" y="7044"/>
                  </a:cubicBezTo>
                  <a:cubicBezTo>
                    <a:pt x="5585" y="7311"/>
                    <a:pt x="5692" y="7561"/>
                    <a:pt x="5888" y="7758"/>
                  </a:cubicBezTo>
                  <a:cubicBezTo>
                    <a:pt x="6067" y="7945"/>
                    <a:pt x="6330" y="8043"/>
                    <a:pt x="6595" y="8043"/>
                  </a:cubicBezTo>
                  <a:cubicBezTo>
                    <a:pt x="6861" y="8043"/>
                    <a:pt x="7128" y="7945"/>
                    <a:pt x="7316" y="7740"/>
                  </a:cubicBezTo>
                  <a:lnTo>
                    <a:pt x="8279" y="6741"/>
                  </a:lnTo>
                  <a:lnTo>
                    <a:pt x="11669" y="10131"/>
                  </a:lnTo>
                  <a:lnTo>
                    <a:pt x="12008" y="10470"/>
                  </a:lnTo>
                  <a:cubicBezTo>
                    <a:pt x="12222" y="10684"/>
                    <a:pt x="12222" y="11023"/>
                    <a:pt x="12008" y="11237"/>
                  </a:cubicBezTo>
                  <a:cubicBezTo>
                    <a:pt x="11901" y="11344"/>
                    <a:pt x="11758" y="11397"/>
                    <a:pt x="11616" y="11397"/>
                  </a:cubicBezTo>
                  <a:cubicBezTo>
                    <a:pt x="11473" y="11397"/>
                    <a:pt x="11330" y="11344"/>
                    <a:pt x="11223" y="11237"/>
                  </a:cubicBezTo>
                  <a:lnTo>
                    <a:pt x="9439" y="9453"/>
                  </a:lnTo>
                  <a:cubicBezTo>
                    <a:pt x="9394" y="9408"/>
                    <a:pt x="9336" y="9386"/>
                    <a:pt x="9278" y="9386"/>
                  </a:cubicBezTo>
                  <a:cubicBezTo>
                    <a:pt x="9220" y="9386"/>
                    <a:pt x="9162" y="9408"/>
                    <a:pt x="9118" y="9453"/>
                  </a:cubicBezTo>
                  <a:cubicBezTo>
                    <a:pt x="9029" y="9542"/>
                    <a:pt x="9029" y="9667"/>
                    <a:pt x="9118" y="9756"/>
                  </a:cubicBezTo>
                  <a:lnTo>
                    <a:pt x="11330" y="11968"/>
                  </a:lnTo>
                  <a:cubicBezTo>
                    <a:pt x="11544" y="12183"/>
                    <a:pt x="11544" y="12522"/>
                    <a:pt x="11330" y="12736"/>
                  </a:cubicBezTo>
                  <a:cubicBezTo>
                    <a:pt x="11223" y="12843"/>
                    <a:pt x="11080" y="12896"/>
                    <a:pt x="10938" y="12896"/>
                  </a:cubicBezTo>
                  <a:cubicBezTo>
                    <a:pt x="10795" y="12896"/>
                    <a:pt x="10652" y="12843"/>
                    <a:pt x="10545" y="12736"/>
                  </a:cubicBezTo>
                  <a:lnTo>
                    <a:pt x="8351" y="10541"/>
                  </a:lnTo>
                  <a:cubicBezTo>
                    <a:pt x="8306" y="10496"/>
                    <a:pt x="8248" y="10474"/>
                    <a:pt x="8190" y="10474"/>
                  </a:cubicBezTo>
                  <a:cubicBezTo>
                    <a:pt x="8132" y="10474"/>
                    <a:pt x="8074" y="10496"/>
                    <a:pt x="8029" y="10541"/>
                  </a:cubicBezTo>
                  <a:cubicBezTo>
                    <a:pt x="7958" y="10630"/>
                    <a:pt x="7958" y="10755"/>
                    <a:pt x="8029" y="10844"/>
                  </a:cubicBezTo>
                  <a:lnTo>
                    <a:pt x="9939" y="12736"/>
                  </a:lnTo>
                  <a:cubicBezTo>
                    <a:pt x="10028" y="12843"/>
                    <a:pt x="10099" y="12985"/>
                    <a:pt x="10099" y="13128"/>
                  </a:cubicBezTo>
                  <a:cubicBezTo>
                    <a:pt x="10099" y="13289"/>
                    <a:pt x="10028" y="13414"/>
                    <a:pt x="9939" y="13521"/>
                  </a:cubicBezTo>
                  <a:cubicBezTo>
                    <a:pt x="9831" y="13628"/>
                    <a:pt x="9689" y="13681"/>
                    <a:pt x="9546" y="13681"/>
                  </a:cubicBezTo>
                  <a:cubicBezTo>
                    <a:pt x="9403" y="13681"/>
                    <a:pt x="9261" y="13628"/>
                    <a:pt x="9153" y="13521"/>
                  </a:cubicBezTo>
                  <a:lnTo>
                    <a:pt x="7262" y="11629"/>
                  </a:lnTo>
                  <a:cubicBezTo>
                    <a:pt x="7218" y="11585"/>
                    <a:pt x="7160" y="11563"/>
                    <a:pt x="7102" y="11563"/>
                  </a:cubicBezTo>
                  <a:cubicBezTo>
                    <a:pt x="7044" y="11563"/>
                    <a:pt x="6986" y="11585"/>
                    <a:pt x="6941" y="11629"/>
                  </a:cubicBezTo>
                  <a:cubicBezTo>
                    <a:pt x="6870" y="11719"/>
                    <a:pt x="6870" y="11844"/>
                    <a:pt x="6941" y="11933"/>
                  </a:cubicBezTo>
                  <a:lnTo>
                    <a:pt x="8458" y="13449"/>
                  </a:lnTo>
                  <a:cubicBezTo>
                    <a:pt x="8600" y="13663"/>
                    <a:pt x="8565" y="13949"/>
                    <a:pt x="8386" y="14127"/>
                  </a:cubicBezTo>
                  <a:cubicBezTo>
                    <a:pt x="8282" y="14244"/>
                    <a:pt x="8139" y="14299"/>
                    <a:pt x="7993" y="14299"/>
                  </a:cubicBezTo>
                  <a:cubicBezTo>
                    <a:pt x="7915" y="14299"/>
                    <a:pt x="7836" y="14283"/>
                    <a:pt x="7762" y="14252"/>
                  </a:cubicBezTo>
                  <a:cubicBezTo>
                    <a:pt x="7833" y="14110"/>
                    <a:pt x="7869" y="13967"/>
                    <a:pt x="7869" y="13806"/>
                  </a:cubicBezTo>
                  <a:cubicBezTo>
                    <a:pt x="7869" y="13539"/>
                    <a:pt x="7762" y="13289"/>
                    <a:pt x="7583" y="13110"/>
                  </a:cubicBezTo>
                  <a:cubicBezTo>
                    <a:pt x="7389" y="12916"/>
                    <a:pt x="7152" y="12819"/>
                    <a:pt x="6905" y="12819"/>
                  </a:cubicBezTo>
                  <a:cubicBezTo>
                    <a:pt x="6834" y="12819"/>
                    <a:pt x="6763" y="12827"/>
                    <a:pt x="6691" y="12843"/>
                  </a:cubicBezTo>
                  <a:cubicBezTo>
                    <a:pt x="6691" y="12843"/>
                    <a:pt x="6691" y="12825"/>
                    <a:pt x="6691" y="12825"/>
                  </a:cubicBezTo>
                  <a:cubicBezTo>
                    <a:pt x="6691" y="12557"/>
                    <a:pt x="6584" y="12307"/>
                    <a:pt x="6406" y="12129"/>
                  </a:cubicBezTo>
                  <a:cubicBezTo>
                    <a:pt x="6263" y="11986"/>
                    <a:pt x="6085" y="11897"/>
                    <a:pt x="5888" y="11861"/>
                  </a:cubicBezTo>
                  <a:cubicBezTo>
                    <a:pt x="6031" y="11683"/>
                    <a:pt x="6102" y="11469"/>
                    <a:pt x="6102" y="11237"/>
                  </a:cubicBezTo>
                  <a:cubicBezTo>
                    <a:pt x="6102" y="10969"/>
                    <a:pt x="5995" y="10719"/>
                    <a:pt x="5817" y="10541"/>
                  </a:cubicBezTo>
                  <a:cubicBezTo>
                    <a:pt x="5621" y="10345"/>
                    <a:pt x="5389" y="10256"/>
                    <a:pt x="5121" y="10256"/>
                  </a:cubicBezTo>
                  <a:cubicBezTo>
                    <a:pt x="4889" y="10256"/>
                    <a:pt x="4675" y="10327"/>
                    <a:pt x="4497" y="10470"/>
                  </a:cubicBezTo>
                  <a:cubicBezTo>
                    <a:pt x="4461" y="10273"/>
                    <a:pt x="4372" y="10095"/>
                    <a:pt x="4229" y="9952"/>
                  </a:cubicBezTo>
                  <a:cubicBezTo>
                    <a:pt x="4050" y="9774"/>
                    <a:pt x="3801" y="9667"/>
                    <a:pt x="3533" y="9667"/>
                  </a:cubicBezTo>
                  <a:cubicBezTo>
                    <a:pt x="3408" y="9667"/>
                    <a:pt x="3301" y="9685"/>
                    <a:pt x="3194" y="9720"/>
                  </a:cubicBezTo>
                  <a:lnTo>
                    <a:pt x="2320" y="8864"/>
                  </a:lnTo>
                  <a:cubicBezTo>
                    <a:pt x="2284" y="8828"/>
                    <a:pt x="2231" y="8810"/>
                    <a:pt x="2175" y="8810"/>
                  </a:cubicBezTo>
                  <a:cubicBezTo>
                    <a:pt x="2119" y="8810"/>
                    <a:pt x="2061" y="8828"/>
                    <a:pt x="2016" y="8864"/>
                  </a:cubicBezTo>
                  <a:cubicBezTo>
                    <a:pt x="1927" y="8953"/>
                    <a:pt x="1927" y="9096"/>
                    <a:pt x="2016" y="9185"/>
                  </a:cubicBezTo>
                  <a:lnTo>
                    <a:pt x="2819" y="9970"/>
                  </a:lnTo>
                  <a:lnTo>
                    <a:pt x="2623" y="10148"/>
                  </a:lnTo>
                  <a:cubicBezTo>
                    <a:pt x="2248" y="10541"/>
                    <a:pt x="2248" y="11166"/>
                    <a:pt x="2623" y="11558"/>
                  </a:cubicBezTo>
                  <a:cubicBezTo>
                    <a:pt x="2784" y="11701"/>
                    <a:pt x="2962" y="11790"/>
                    <a:pt x="3158" y="11826"/>
                  </a:cubicBezTo>
                  <a:cubicBezTo>
                    <a:pt x="2926" y="12218"/>
                    <a:pt x="2980" y="12718"/>
                    <a:pt x="3301" y="13039"/>
                  </a:cubicBezTo>
                  <a:cubicBezTo>
                    <a:pt x="3497" y="13235"/>
                    <a:pt x="3747" y="13342"/>
                    <a:pt x="3997" y="13342"/>
                  </a:cubicBezTo>
                  <a:cubicBezTo>
                    <a:pt x="4140" y="13342"/>
                    <a:pt x="4282" y="13307"/>
                    <a:pt x="4425" y="13253"/>
                  </a:cubicBezTo>
                  <a:cubicBezTo>
                    <a:pt x="4443" y="13467"/>
                    <a:pt x="4532" y="13663"/>
                    <a:pt x="4693" y="13824"/>
                  </a:cubicBezTo>
                  <a:cubicBezTo>
                    <a:pt x="4889" y="14020"/>
                    <a:pt x="5139" y="14127"/>
                    <a:pt x="5389" y="14127"/>
                  </a:cubicBezTo>
                  <a:cubicBezTo>
                    <a:pt x="5531" y="14127"/>
                    <a:pt x="5674" y="14092"/>
                    <a:pt x="5799" y="14038"/>
                  </a:cubicBezTo>
                  <a:cubicBezTo>
                    <a:pt x="5817" y="14252"/>
                    <a:pt x="5924" y="14449"/>
                    <a:pt x="6085" y="14609"/>
                  </a:cubicBezTo>
                  <a:cubicBezTo>
                    <a:pt x="6263" y="14788"/>
                    <a:pt x="6513" y="14895"/>
                    <a:pt x="6780" y="14895"/>
                  </a:cubicBezTo>
                  <a:cubicBezTo>
                    <a:pt x="7030" y="14895"/>
                    <a:pt x="7280" y="14805"/>
                    <a:pt x="7476" y="14609"/>
                  </a:cubicBezTo>
                  <a:lnTo>
                    <a:pt x="7494" y="14591"/>
                  </a:lnTo>
                  <a:cubicBezTo>
                    <a:pt x="7655" y="14681"/>
                    <a:pt x="7815" y="14734"/>
                    <a:pt x="7994" y="14734"/>
                  </a:cubicBezTo>
                  <a:cubicBezTo>
                    <a:pt x="8243" y="14734"/>
                    <a:pt x="8511" y="14645"/>
                    <a:pt x="8690" y="14449"/>
                  </a:cubicBezTo>
                  <a:cubicBezTo>
                    <a:pt x="8832" y="14306"/>
                    <a:pt x="8922" y="14127"/>
                    <a:pt x="8975" y="13931"/>
                  </a:cubicBezTo>
                  <a:cubicBezTo>
                    <a:pt x="9136" y="14056"/>
                    <a:pt x="9332" y="14127"/>
                    <a:pt x="9546" y="14127"/>
                  </a:cubicBezTo>
                  <a:cubicBezTo>
                    <a:pt x="9814" y="14127"/>
                    <a:pt x="10046" y="14020"/>
                    <a:pt x="10242" y="13824"/>
                  </a:cubicBezTo>
                  <a:cubicBezTo>
                    <a:pt x="10402" y="13663"/>
                    <a:pt x="10492" y="13467"/>
                    <a:pt x="10527" y="13253"/>
                  </a:cubicBezTo>
                  <a:cubicBezTo>
                    <a:pt x="10651" y="13309"/>
                    <a:pt x="10785" y="13336"/>
                    <a:pt x="10920" y="13336"/>
                  </a:cubicBezTo>
                  <a:cubicBezTo>
                    <a:pt x="11176" y="13336"/>
                    <a:pt x="11435" y="13237"/>
                    <a:pt x="11634" y="13039"/>
                  </a:cubicBezTo>
                  <a:cubicBezTo>
                    <a:pt x="11955" y="12718"/>
                    <a:pt x="12008" y="12218"/>
                    <a:pt x="11776" y="11826"/>
                  </a:cubicBezTo>
                  <a:cubicBezTo>
                    <a:pt x="11973" y="11790"/>
                    <a:pt x="12151" y="11701"/>
                    <a:pt x="12312" y="11558"/>
                  </a:cubicBezTo>
                  <a:cubicBezTo>
                    <a:pt x="12704" y="11166"/>
                    <a:pt x="12704" y="10541"/>
                    <a:pt x="12312" y="10148"/>
                  </a:cubicBezTo>
                  <a:lnTo>
                    <a:pt x="12133" y="9970"/>
                  </a:lnTo>
                  <a:lnTo>
                    <a:pt x="14863" y="7240"/>
                  </a:lnTo>
                  <a:cubicBezTo>
                    <a:pt x="14934" y="7169"/>
                    <a:pt x="14934" y="7026"/>
                    <a:pt x="14863" y="6937"/>
                  </a:cubicBezTo>
                  <a:cubicBezTo>
                    <a:pt x="14819" y="6892"/>
                    <a:pt x="14761" y="6870"/>
                    <a:pt x="14703" y="6870"/>
                  </a:cubicBezTo>
                  <a:cubicBezTo>
                    <a:pt x="14645" y="6870"/>
                    <a:pt x="14587" y="6892"/>
                    <a:pt x="14542" y="6937"/>
                  </a:cubicBezTo>
                  <a:lnTo>
                    <a:pt x="11812" y="9667"/>
                  </a:lnTo>
                  <a:lnTo>
                    <a:pt x="8440" y="6277"/>
                  </a:lnTo>
                  <a:cubicBezTo>
                    <a:pt x="8386" y="6241"/>
                    <a:pt x="8333" y="6223"/>
                    <a:pt x="8279" y="6223"/>
                  </a:cubicBezTo>
                  <a:cubicBezTo>
                    <a:pt x="8226" y="6223"/>
                    <a:pt x="8172" y="6241"/>
                    <a:pt x="8119" y="6277"/>
                  </a:cubicBezTo>
                  <a:lnTo>
                    <a:pt x="6995" y="7436"/>
                  </a:lnTo>
                  <a:cubicBezTo>
                    <a:pt x="6900" y="7550"/>
                    <a:pt x="6745" y="7613"/>
                    <a:pt x="6586" y="7613"/>
                  </a:cubicBezTo>
                  <a:cubicBezTo>
                    <a:pt x="6445" y="7613"/>
                    <a:pt x="6301" y="7563"/>
                    <a:pt x="6192" y="7454"/>
                  </a:cubicBezTo>
                  <a:cubicBezTo>
                    <a:pt x="5977" y="7222"/>
                    <a:pt x="5977" y="6865"/>
                    <a:pt x="6192" y="6651"/>
                  </a:cubicBezTo>
                  <a:lnTo>
                    <a:pt x="7298" y="5545"/>
                  </a:lnTo>
                  <a:lnTo>
                    <a:pt x="10367" y="4814"/>
                  </a:lnTo>
                  <a:cubicBezTo>
                    <a:pt x="10402" y="4796"/>
                    <a:pt x="10438" y="4778"/>
                    <a:pt x="10474" y="4742"/>
                  </a:cubicBezTo>
                  <a:lnTo>
                    <a:pt x="11812" y="3422"/>
                  </a:lnTo>
                  <a:cubicBezTo>
                    <a:pt x="11883" y="3333"/>
                    <a:pt x="11883" y="3190"/>
                    <a:pt x="11812" y="3101"/>
                  </a:cubicBezTo>
                  <a:cubicBezTo>
                    <a:pt x="11767" y="3065"/>
                    <a:pt x="11709" y="3047"/>
                    <a:pt x="11651" y="3047"/>
                  </a:cubicBezTo>
                  <a:cubicBezTo>
                    <a:pt x="11593" y="3047"/>
                    <a:pt x="11535" y="3065"/>
                    <a:pt x="11491" y="3101"/>
                  </a:cubicBezTo>
                  <a:lnTo>
                    <a:pt x="10206" y="4403"/>
                  </a:lnTo>
                  <a:lnTo>
                    <a:pt x="7476" y="5045"/>
                  </a:lnTo>
                  <a:lnTo>
                    <a:pt x="4728" y="4403"/>
                  </a:lnTo>
                  <a:lnTo>
                    <a:pt x="393" y="67"/>
                  </a:lnTo>
                  <a:cubicBezTo>
                    <a:pt x="348" y="23"/>
                    <a:pt x="290" y="0"/>
                    <a:pt x="23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350;p37"/>
            <p:cNvSpPr/>
            <p:nvPr/>
          </p:nvSpPr>
          <p:spPr>
            <a:xfrm>
              <a:off x="3072425" y="2806525"/>
              <a:ext cx="70050" cy="69050"/>
            </a:xfrm>
            <a:custGeom>
              <a:avLst/>
              <a:gdLst/>
              <a:ahLst/>
              <a:cxnLst/>
              <a:rect l="l" t="t" r="r" b="b"/>
              <a:pathLst>
                <a:path w="2802" h="2762" extrusionOk="0">
                  <a:moveTo>
                    <a:pt x="2570" y="0"/>
                  </a:moveTo>
                  <a:cubicBezTo>
                    <a:pt x="2512" y="0"/>
                    <a:pt x="2454" y="23"/>
                    <a:pt x="2409" y="67"/>
                  </a:cubicBezTo>
                  <a:lnTo>
                    <a:pt x="89" y="2387"/>
                  </a:lnTo>
                  <a:cubicBezTo>
                    <a:pt x="0" y="2476"/>
                    <a:pt x="0" y="2601"/>
                    <a:pt x="89" y="2690"/>
                  </a:cubicBezTo>
                  <a:cubicBezTo>
                    <a:pt x="125" y="2744"/>
                    <a:pt x="179" y="2762"/>
                    <a:pt x="250" y="2762"/>
                  </a:cubicBezTo>
                  <a:cubicBezTo>
                    <a:pt x="304" y="2762"/>
                    <a:pt x="357" y="2744"/>
                    <a:pt x="393" y="2690"/>
                  </a:cubicBezTo>
                  <a:lnTo>
                    <a:pt x="2730" y="371"/>
                  </a:lnTo>
                  <a:cubicBezTo>
                    <a:pt x="2801" y="282"/>
                    <a:pt x="2801" y="139"/>
                    <a:pt x="2730" y="67"/>
                  </a:cubicBezTo>
                  <a:cubicBezTo>
                    <a:pt x="2686" y="23"/>
                    <a:pt x="2628" y="0"/>
                    <a:pt x="257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351;p37"/>
            <p:cNvSpPr/>
            <p:nvPr/>
          </p:nvSpPr>
          <p:spPr>
            <a:xfrm>
              <a:off x="3082225" y="2929200"/>
              <a:ext cx="24575" cy="23550"/>
            </a:xfrm>
            <a:custGeom>
              <a:avLst/>
              <a:gdLst/>
              <a:ahLst/>
              <a:cxnLst/>
              <a:rect l="l" t="t" r="r" b="b"/>
              <a:pathLst>
                <a:path w="983" h="942" extrusionOk="0">
                  <a:moveTo>
                    <a:pt x="732" y="0"/>
                  </a:moveTo>
                  <a:cubicBezTo>
                    <a:pt x="674" y="0"/>
                    <a:pt x="616" y="23"/>
                    <a:pt x="572" y="67"/>
                  </a:cubicBezTo>
                  <a:lnTo>
                    <a:pt x="72" y="567"/>
                  </a:lnTo>
                  <a:cubicBezTo>
                    <a:pt x="1" y="656"/>
                    <a:pt x="1" y="781"/>
                    <a:pt x="72" y="870"/>
                  </a:cubicBezTo>
                  <a:cubicBezTo>
                    <a:pt x="126" y="906"/>
                    <a:pt x="179" y="941"/>
                    <a:pt x="233" y="941"/>
                  </a:cubicBezTo>
                  <a:cubicBezTo>
                    <a:pt x="286" y="941"/>
                    <a:pt x="340" y="906"/>
                    <a:pt x="393" y="870"/>
                  </a:cubicBezTo>
                  <a:lnTo>
                    <a:pt x="893" y="370"/>
                  </a:lnTo>
                  <a:cubicBezTo>
                    <a:pt x="982" y="281"/>
                    <a:pt x="982" y="156"/>
                    <a:pt x="893" y="67"/>
                  </a:cubicBezTo>
                  <a:cubicBezTo>
                    <a:pt x="848" y="23"/>
                    <a:pt x="790" y="0"/>
                    <a:pt x="73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352;p37"/>
            <p:cNvSpPr/>
            <p:nvPr/>
          </p:nvSpPr>
          <p:spPr>
            <a:xfrm>
              <a:off x="3018900" y="2957300"/>
              <a:ext cx="59350" cy="32925"/>
            </a:xfrm>
            <a:custGeom>
              <a:avLst/>
              <a:gdLst/>
              <a:ahLst/>
              <a:cxnLst/>
              <a:rect l="l" t="t" r="r" b="b"/>
              <a:pathLst>
                <a:path w="2374" h="1317" extrusionOk="0">
                  <a:moveTo>
                    <a:pt x="2139" y="0"/>
                  </a:moveTo>
                  <a:cubicBezTo>
                    <a:pt x="2083" y="0"/>
                    <a:pt x="2025" y="23"/>
                    <a:pt x="1981" y="67"/>
                  </a:cubicBezTo>
                  <a:lnTo>
                    <a:pt x="1624" y="424"/>
                  </a:lnTo>
                  <a:cubicBezTo>
                    <a:pt x="1338" y="710"/>
                    <a:pt x="964" y="870"/>
                    <a:pt x="553" y="870"/>
                  </a:cubicBezTo>
                  <a:lnTo>
                    <a:pt x="214" y="870"/>
                  </a:lnTo>
                  <a:cubicBezTo>
                    <a:pt x="89" y="870"/>
                    <a:pt x="0" y="977"/>
                    <a:pt x="0" y="1084"/>
                  </a:cubicBezTo>
                  <a:cubicBezTo>
                    <a:pt x="0" y="1209"/>
                    <a:pt x="89" y="1316"/>
                    <a:pt x="214" y="1316"/>
                  </a:cubicBezTo>
                  <a:lnTo>
                    <a:pt x="553" y="1316"/>
                  </a:lnTo>
                  <a:cubicBezTo>
                    <a:pt x="1071" y="1316"/>
                    <a:pt x="1570" y="1102"/>
                    <a:pt x="1927" y="745"/>
                  </a:cubicBezTo>
                  <a:lnTo>
                    <a:pt x="2284" y="371"/>
                  </a:lnTo>
                  <a:cubicBezTo>
                    <a:pt x="2373" y="299"/>
                    <a:pt x="2373" y="156"/>
                    <a:pt x="2284" y="67"/>
                  </a:cubicBezTo>
                  <a:cubicBezTo>
                    <a:pt x="2248" y="23"/>
                    <a:pt x="2195" y="0"/>
                    <a:pt x="213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353;p37"/>
            <p:cNvSpPr/>
            <p:nvPr/>
          </p:nvSpPr>
          <p:spPr>
            <a:xfrm>
              <a:off x="3071075" y="2980050"/>
              <a:ext cx="20550" cy="19525"/>
            </a:xfrm>
            <a:custGeom>
              <a:avLst/>
              <a:gdLst/>
              <a:ahLst/>
              <a:cxnLst/>
              <a:rect l="l" t="t" r="r" b="b"/>
              <a:pathLst>
                <a:path w="822" h="781" extrusionOk="0">
                  <a:moveTo>
                    <a:pt x="233" y="0"/>
                  </a:moveTo>
                  <a:cubicBezTo>
                    <a:pt x="175" y="0"/>
                    <a:pt x="117" y="23"/>
                    <a:pt x="72" y="67"/>
                  </a:cubicBezTo>
                  <a:cubicBezTo>
                    <a:pt x="1" y="156"/>
                    <a:pt x="1" y="281"/>
                    <a:pt x="72" y="370"/>
                  </a:cubicBezTo>
                  <a:lnTo>
                    <a:pt x="429" y="727"/>
                  </a:lnTo>
                  <a:cubicBezTo>
                    <a:pt x="482" y="763"/>
                    <a:pt x="536" y="781"/>
                    <a:pt x="589" y="781"/>
                  </a:cubicBezTo>
                  <a:cubicBezTo>
                    <a:pt x="643" y="781"/>
                    <a:pt x="697" y="763"/>
                    <a:pt x="750" y="727"/>
                  </a:cubicBezTo>
                  <a:cubicBezTo>
                    <a:pt x="821" y="638"/>
                    <a:pt x="821" y="495"/>
                    <a:pt x="750" y="424"/>
                  </a:cubicBezTo>
                  <a:lnTo>
                    <a:pt x="393" y="67"/>
                  </a:lnTo>
                  <a:cubicBezTo>
                    <a:pt x="349" y="23"/>
                    <a:pt x="291" y="0"/>
                    <a:pt x="23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354;p37"/>
            <p:cNvSpPr/>
            <p:nvPr/>
          </p:nvSpPr>
          <p:spPr>
            <a:xfrm>
              <a:off x="2899350" y="2806425"/>
              <a:ext cx="112875" cy="99050"/>
            </a:xfrm>
            <a:custGeom>
              <a:avLst/>
              <a:gdLst/>
              <a:ahLst/>
              <a:cxnLst/>
              <a:rect l="l" t="t" r="r" b="b"/>
              <a:pathLst>
                <a:path w="4515" h="3962" extrusionOk="0">
                  <a:moveTo>
                    <a:pt x="1267" y="0"/>
                  </a:moveTo>
                  <a:cubicBezTo>
                    <a:pt x="959" y="0"/>
                    <a:pt x="651" y="107"/>
                    <a:pt x="411" y="321"/>
                  </a:cubicBezTo>
                  <a:cubicBezTo>
                    <a:pt x="161" y="571"/>
                    <a:pt x="18" y="892"/>
                    <a:pt x="0" y="1231"/>
                  </a:cubicBezTo>
                  <a:cubicBezTo>
                    <a:pt x="0" y="1588"/>
                    <a:pt x="125" y="1909"/>
                    <a:pt x="375" y="2159"/>
                  </a:cubicBezTo>
                  <a:lnTo>
                    <a:pt x="589" y="2391"/>
                  </a:lnTo>
                  <a:cubicBezTo>
                    <a:pt x="634" y="2427"/>
                    <a:pt x="692" y="2444"/>
                    <a:pt x="750" y="2444"/>
                  </a:cubicBezTo>
                  <a:cubicBezTo>
                    <a:pt x="808" y="2444"/>
                    <a:pt x="866" y="2427"/>
                    <a:pt x="910" y="2391"/>
                  </a:cubicBezTo>
                  <a:cubicBezTo>
                    <a:pt x="982" y="2302"/>
                    <a:pt x="982" y="2159"/>
                    <a:pt x="910" y="2070"/>
                  </a:cubicBezTo>
                  <a:lnTo>
                    <a:pt x="678" y="1856"/>
                  </a:lnTo>
                  <a:cubicBezTo>
                    <a:pt x="518" y="1695"/>
                    <a:pt x="428" y="1481"/>
                    <a:pt x="446" y="1249"/>
                  </a:cubicBezTo>
                  <a:cubicBezTo>
                    <a:pt x="446" y="1017"/>
                    <a:pt x="536" y="803"/>
                    <a:pt x="714" y="660"/>
                  </a:cubicBezTo>
                  <a:cubicBezTo>
                    <a:pt x="868" y="515"/>
                    <a:pt x="1073" y="444"/>
                    <a:pt x="1277" y="444"/>
                  </a:cubicBezTo>
                  <a:cubicBezTo>
                    <a:pt x="1474" y="444"/>
                    <a:pt x="1671" y="511"/>
                    <a:pt x="1820" y="642"/>
                  </a:cubicBezTo>
                  <a:cubicBezTo>
                    <a:pt x="1927" y="749"/>
                    <a:pt x="1999" y="856"/>
                    <a:pt x="2052" y="981"/>
                  </a:cubicBezTo>
                  <a:cubicBezTo>
                    <a:pt x="2088" y="1071"/>
                    <a:pt x="2159" y="1142"/>
                    <a:pt x="2266" y="1142"/>
                  </a:cubicBezTo>
                  <a:cubicBezTo>
                    <a:pt x="2355" y="1142"/>
                    <a:pt x="2427" y="1071"/>
                    <a:pt x="2463" y="981"/>
                  </a:cubicBezTo>
                  <a:cubicBezTo>
                    <a:pt x="2516" y="856"/>
                    <a:pt x="2587" y="749"/>
                    <a:pt x="2694" y="642"/>
                  </a:cubicBezTo>
                  <a:cubicBezTo>
                    <a:pt x="2852" y="511"/>
                    <a:pt x="3049" y="444"/>
                    <a:pt x="3245" y="444"/>
                  </a:cubicBezTo>
                  <a:cubicBezTo>
                    <a:pt x="3446" y="444"/>
                    <a:pt x="3647" y="515"/>
                    <a:pt x="3801" y="660"/>
                  </a:cubicBezTo>
                  <a:cubicBezTo>
                    <a:pt x="3979" y="803"/>
                    <a:pt x="4068" y="1017"/>
                    <a:pt x="4068" y="1249"/>
                  </a:cubicBezTo>
                  <a:cubicBezTo>
                    <a:pt x="4086" y="1481"/>
                    <a:pt x="3997" y="1695"/>
                    <a:pt x="3836" y="1856"/>
                  </a:cubicBezTo>
                  <a:lnTo>
                    <a:pt x="2266" y="3444"/>
                  </a:lnTo>
                  <a:lnTo>
                    <a:pt x="1624" y="2801"/>
                  </a:lnTo>
                  <a:cubicBezTo>
                    <a:pt x="1579" y="2757"/>
                    <a:pt x="1526" y="2734"/>
                    <a:pt x="1472" y="2734"/>
                  </a:cubicBezTo>
                  <a:cubicBezTo>
                    <a:pt x="1419" y="2734"/>
                    <a:pt x="1365" y="2757"/>
                    <a:pt x="1321" y="2801"/>
                  </a:cubicBezTo>
                  <a:cubicBezTo>
                    <a:pt x="1231" y="2891"/>
                    <a:pt x="1231" y="3015"/>
                    <a:pt x="1321" y="3105"/>
                  </a:cubicBezTo>
                  <a:lnTo>
                    <a:pt x="2106" y="3908"/>
                  </a:lnTo>
                  <a:cubicBezTo>
                    <a:pt x="2141" y="3943"/>
                    <a:pt x="2195" y="3961"/>
                    <a:pt x="2266" y="3961"/>
                  </a:cubicBezTo>
                  <a:cubicBezTo>
                    <a:pt x="2320" y="3961"/>
                    <a:pt x="2373" y="3943"/>
                    <a:pt x="2409" y="3908"/>
                  </a:cubicBezTo>
                  <a:lnTo>
                    <a:pt x="4140" y="2159"/>
                  </a:lnTo>
                  <a:cubicBezTo>
                    <a:pt x="4390" y="1909"/>
                    <a:pt x="4514" y="1588"/>
                    <a:pt x="4514" y="1231"/>
                  </a:cubicBezTo>
                  <a:cubicBezTo>
                    <a:pt x="4497" y="892"/>
                    <a:pt x="4354" y="571"/>
                    <a:pt x="4104" y="321"/>
                  </a:cubicBezTo>
                  <a:cubicBezTo>
                    <a:pt x="3863" y="107"/>
                    <a:pt x="3555" y="0"/>
                    <a:pt x="3250" y="0"/>
                  </a:cubicBezTo>
                  <a:cubicBezTo>
                    <a:pt x="2944" y="0"/>
                    <a:pt x="2641" y="107"/>
                    <a:pt x="2409" y="321"/>
                  </a:cubicBezTo>
                  <a:cubicBezTo>
                    <a:pt x="2355" y="375"/>
                    <a:pt x="2302" y="428"/>
                    <a:pt x="2266" y="482"/>
                  </a:cubicBezTo>
                  <a:cubicBezTo>
                    <a:pt x="2213" y="428"/>
                    <a:pt x="2159" y="375"/>
                    <a:pt x="2124" y="321"/>
                  </a:cubicBezTo>
                  <a:cubicBezTo>
                    <a:pt x="1883" y="107"/>
                    <a:pt x="1575" y="0"/>
                    <a:pt x="126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9" name="Google Shape;355;p37"/>
          <p:cNvGrpSpPr/>
          <p:nvPr/>
        </p:nvGrpSpPr>
        <p:grpSpPr>
          <a:xfrm>
            <a:off x="7094863" y="2005070"/>
            <a:ext cx="605927" cy="572877"/>
            <a:chOff x="2203925" y="3377300"/>
            <a:chExt cx="372925" cy="372575"/>
          </a:xfrm>
        </p:grpSpPr>
        <p:sp>
          <p:nvSpPr>
            <p:cNvPr id="20" name="Google Shape;356;p37"/>
            <p:cNvSpPr/>
            <p:nvPr/>
          </p:nvSpPr>
          <p:spPr>
            <a:xfrm>
              <a:off x="2203925" y="3377300"/>
              <a:ext cx="372925" cy="372575"/>
            </a:xfrm>
            <a:custGeom>
              <a:avLst/>
              <a:gdLst/>
              <a:ahLst/>
              <a:cxnLst/>
              <a:rect l="l" t="t" r="r" b="b"/>
              <a:pathLst>
                <a:path w="14917" h="14903" extrusionOk="0">
                  <a:moveTo>
                    <a:pt x="13507" y="432"/>
                  </a:moveTo>
                  <a:lnTo>
                    <a:pt x="13507" y="1360"/>
                  </a:lnTo>
                  <a:lnTo>
                    <a:pt x="10670" y="1360"/>
                  </a:lnTo>
                  <a:lnTo>
                    <a:pt x="10670" y="432"/>
                  </a:lnTo>
                  <a:close/>
                  <a:moveTo>
                    <a:pt x="1160" y="1627"/>
                  </a:moveTo>
                  <a:lnTo>
                    <a:pt x="1160" y="4446"/>
                  </a:lnTo>
                  <a:lnTo>
                    <a:pt x="447" y="4446"/>
                  </a:lnTo>
                  <a:lnTo>
                    <a:pt x="447" y="1627"/>
                  </a:lnTo>
                  <a:close/>
                  <a:moveTo>
                    <a:pt x="10242" y="1181"/>
                  </a:moveTo>
                  <a:lnTo>
                    <a:pt x="10242" y="1592"/>
                  </a:lnTo>
                  <a:cubicBezTo>
                    <a:pt x="10242" y="1699"/>
                    <a:pt x="10331" y="1806"/>
                    <a:pt x="10456" y="1806"/>
                  </a:cubicBezTo>
                  <a:lnTo>
                    <a:pt x="13936" y="1806"/>
                  </a:lnTo>
                  <a:cubicBezTo>
                    <a:pt x="14061" y="1806"/>
                    <a:pt x="14168" y="1895"/>
                    <a:pt x="14185" y="2020"/>
                  </a:cubicBezTo>
                  <a:cubicBezTo>
                    <a:pt x="14185" y="2073"/>
                    <a:pt x="14168" y="2127"/>
                    <a:pt x="14114" y="2180"/>
                  </a:cubicBezTo>
                  <a:cubicBezTo>
                    <a:pt x="14078" y="2216"/>
                    <a:pt x="14025" y="2252"/>
                    <a:pt x="13954" y="2252"/>
                  </a:cubicBezTo>
                  <a:lnTo>
                    <a:pt x="13044" y="2252"/>
                  </a:lnTo>
                  <a:cubicBezTo>
                    <a:pt x="12919" y="2252"/>
                    <a:pt x="12829" y="2341"/>
                    <a:pt x="12829" y="2466"/>
                  </a:cubicBezTo>
                  <a:cubicBezTo>
                    <a:pt x="12829" y="2591"/>
                    <a:pt x="12919" y="2680"/>
                    <a:pt x="13044" y="2680"/>
                  </a:cubicBezTo>
                  <a:lnTo>
                    <a:pt x="14257" y="2680"/>
                  </a:lnTo>
                  <a:cubicBezTo>
                    <a:pt x="14310" y="2680"/>
                    <a:pt x="14364" y="2716"/>
                    <a:pt x="14417" y="2751"/>
                  </a:cubicBezTo>
                  <a:cubicBezTo>
                    <a:pt x="14453" y="2805"/>
                    <a:pt x="14471" y="2858"/>
                    <a:pt x="14471" y="2912"/>
                  </a:cubicBezTo>
                  <a:cubicBezTo>
                    <a:pt x="14471" y="3037"/>
                    <a:pt x="14364" y="3126"/>
                    <a:pt x="14239" y="3126"/>
                  </a:cubicBezTo>
                  <a:lnTo>
                    <a:pt x="13044" y="3126"/>
                  </a:lnTo>
                  <a:cubicBezTo>
                    <a:pt x="12919" y="3126"/>
                    <a:pt x="12829" y="3233"/>
                    <a:pt x="12829" y="3340"/>
                  </a:cubicBezTo>
                  <a:cubicBezTo>
                    <a:pt x="12829" y="3465"/>
                    <a:pt x="12919" y="3572"/>
                    <a:pt x="13044" y="3572"/>
                  </a:cubicBezTo>
                  <a:lnTo>
                    <a:pt x="13954" y="3572"/>
                  </a:lnTo>
                  <a:cubicBezTo>
                    <a:pt x="14025" y="3572"/>
                    <a:pt x="14078" y="3590"/>
                    <a:pt x="14114" y="3626"/>
                  </a:cubicBezTo>
                  <a:cubicBezTo>
                    <a:pt x="14168" y="3679"/>
                    <a:pt x="14185" y="3733"/>
                    <a:pt x="14185" y="3804"/>
                  </a:cubicBezTo>
                  <a:cubicBezTo>
                    <a:pt x="14168" y="3911"/>
                    <a:pt x="14061" y="4018"/>
                    <a:pt x="13936" y="4018"/>
                  </a:cubicBezTo>
                  <a:lnTo>
                    <a:pt x="13079" y="4018"/>
                  </a:lnTo>
                  <a:cubicBezTo>
                    <a:pt x="12954" y="4018"/>
                    <a:pt x="12847" y="4107"/>
                    <a:pt x="12847" y="4232"/>
                  </a:cubicBezTo>
                  <a:cubicBezTo>
                    <a:pt x="12847" y="4357"/>
                    <a:pt x="12954" y="4446"/>
                    <a:pt x="13079" y="4446"/>
                  </a:cubicBezTo>
                  <a:lnTo>
                    <a:pt x="13507" y="4446"/>
                  </a:lnTo>
                  <a:cubicBezTo>
                    <a:pt x="13579" y="4446"/>
                    <a:pt x="13632" y="4464"/>
                    <a:pt x="13668" y="4518"/>
                  </a:cubicBezTo>
                  <a:cubicBezTo>
                    <a:pt x="13722" y="4553"/>
                    <a:pt x="13739" y="4625"/>
                    <a:pt x="13739" y="4678"/>
                  </a:cubicBezTo>
                  <a:cubicBezTo>
                    <a:pt x="13739" y="4803"/>
                    <a:pt x="13632" y="4892"/>
                    <a:pt x="13507" y="4892"/>
                  </a:cubicBezTo>
                  <a:lnTo>
                    <a:pt x="9421" y="4892"/>
                  </a:lnTo>
                  <a:cubicBezTo>
                    <a:pt x="9261" y="4892"/>
                    <a:pt x="9082" y="4839"/>
                    <a:pt x="8940" y="4750"/>
                  </a:cubicBezTo>
                  <a:lnTo>
                    <a:pt x="8761" y="4643"/>
                  </a:lnTo>
                  <a:cubicBezTo>
                    <a:pt x="8547" y="4518"/>
                    <a:pt x="8297" y="4446"/>
                    <a:pt x="8048" y="4446"/>
                  </a:cubicBezTo>
                  <a:lnTo>
                    <a:pt x="5121" y="4446"/>
                  </a:lnTo>
                  <a:lnTo>
                    <a:pt x="5121" y="1627"/>
                  </a:lnTo>
                  <a:lnTo>
                    <a:pt x="8048" y="1627"/>
                  </a:lnTo>
                  <a:cubicBezTo>
                    <a:pt x="8297" y="1627"/>
                    <a:pt x="8547" y="1556"/>
                    <a:pt x="8761" y="1431"/>
                  </a:cubicBezTo>
                  <a:lnTo>
                    <a:pt x="8940" y="1324"/>
                  </a:lnTo>
                  <a:cubicBezTo>
                    <a:pt x="9082" y="1235"/>
                    <a:pt x="9261" y="1181"/>
                    <a:pt x="9421" y="1181"/>
                  </a:cubicBezTo>
                  <a:close/>
                  <a:moveTo>
                    <a:pt x="2713" y="432"/>
                  </a:moveTo>
                  <a:cubicBezTo>
                    <a:pt x="2820" y="432"/>
                    <a:pt x="2927" y="539"/>
                    <a:pt x="2927" y="664"/>
                  </a:cubicBezTo>
                  <a:lnTo>
                    <a:pt x="2927" y="1859"/>
                  </a:lnTo>
                  <a:cubicBezTo>
                    <a:pt x="2927" y="1984"/>
                    <a:pt x="3016" y="2073"/>
                    <a:pt x="3141" y="2073"/>
                  </a:cubicBezTo>
                  <a:cubicBezTo>
                    <a:pt x="3266" y="2073"/>
                    <a:pt x="3355" y="1984"/>
                    <a:pt x="3355" y="1859"/>
                  </a:cubicBezTo>
                  <a:lnTo>
                    <a:pt x="3355" y="949"/>
                  </a:lnTo>
                  <a:cubicBezTo>
                    <a:pt x="3355" y="896"/>
                    <a:pt x="3373" y="824"/>
                    <a:pt x="3426" y="789"/>
                  </a:cubicBezTo>
                  <a:cubicBezTo>
                    <a:pt x="3455" y="760"/>
                    <a:pt x="3508" y="730"/>
                    <a:pt x="3556" y="730"/>
                  </a:cubicBezTo>
                  <a:cubicBezTo>
                    <a:pt x="3567" y="730"/>
                    <a:pt x="3577" y="732"/>
                    <a:pt x="3587" y="735"/>
                  </a:cubicBezTo>
                  <a:cubicBezTo>
                    <a:pt x="3712" y="735"/>
                    <a:pt x="3801" y="842"/>
                    <a:pt x="3801" y="967"/>
                  </a:cubicBezTo>
                  <a:lnTo>
                    <a:pt x="3801" y="1841"/>
                  </a:lnTo>
                  <a:cubicBezTo>
                    <a:pt x="3801" y="1948"/>
                    <a:pt x="3890" y="2055"/>
                    <a:pt x="4015" y="2055"/>
                  </a:cubicBezTo>
                  <a:cubicBezTo>
                    <a:pt x="4140" y="2055"/>
                    <a:pt x="4229" y="1948"/>
                    <a:pt x="4229" y="1841"/>
                  </a:cubicBezTo>
                  <a:lnTo>
                    <a:pt x="4229" y="1395"/>
                  </a:lnTo>
                  <a:cubicBezTo>
                    <a:pt x="4229" y="1324"/>
                    <a:pt x="4265" y="1270"/>
                    <a:pt x="4301" y="1235"/>
                  </a:cubicBezTo>
                  <a:cubicBezTo>
                    <a:pt x="4354" y="1181"/>
                    <a:pt x="4408" y="1163"/>
                    <a:pt x="4479" y="1163"/>
                  </a:cubicBezTo>
                  <a:cubicBezTo>
                    <a:pt x="4586" y="1181"/>
                    <a:pt x="4675" y="1288"/>
                    <a:pt x="4675" y="1395"/>
                  </a:cubicBezTo>
                  <a:lnTo>
                    <a:pt x="4675" y="5695"/>
                  </a:lnTo>
                  <a:cubicBezTo>
                    <a:pt x="4675" y="5874"/>
                    <a:pt x="4640" y="6034"/>
                    <a:pt x="4550" y="6195"/>
                  </a:cubicBezTo>
                  <a:lnTo>
                    <a:pt x="4443" y="6373"/>
                  </a:lnTo>
                  <a:cubicBezTo>
                    <a:pt x="4318" y="6588"/>
                    <a:pt x="4247" y="6837"/>
                    <a:pt x="4247" y="7087"/>
                  </a:cubicBezTo>
                  <a:lnTo>
                    <a:pt x="4247" y="8247"/>
                  </a:lnTo>
                  <a:cubicBezTo>
                    <a:pt x="4247" y="8372"/>
                    <a:pt x="4336" y="8461"/>
                    <a:pt x="4461" y="8461"/>
                  </a:cubicBezTo>
                  <a:cubicBezTo>
                    <a:pt x="4586" y="8461"/>
                    <a:pt x="4675" y="8372"/>
                    <a:pt x="4675" y="8247"/>
                  </a:cubicBezTo>
                  <a:lnTo>
                    <a:pt x="4675" y="7087"/>
                  </a:lnTo>
                  <a:cubicBezTo>
                    <a:pt x="4675" y="6909"/>
                    <a:pt x="4729" y="6748"/>
                    <a:pt x="4818" y="6588"/>
                  </a:cubicBezTo>
                  <a:lnTo>
                    <a:pt x="4925" y="6409"/>
                  </a:lnTo>
                  <a:cubicBezTo>
                    <a:pt x="5050" y="6195"/>
                    <a:pt x="5121" y="5945"/>
                    <a:pt x="5121" y="5695"/>
                  </a:cubicBezTo>
                  <a:lnTo>
                    <a:pt x="5121" y="4892"/>
                  </a:lnTo>
                  <a:lnTo>
                    <a:pt x="8048" y="4892"/>
                  </a:lnTo>
                  <a:cubicBezTo>
                    <a:pt x="8208" y="4892"/>
                    <a:pt x="8387" y="4928"/>
                    <a:pt x="8529" y="5017"/>
                  </a:cubicBezTo>
                  <a:lnTo>
                    <a:pt x="8708" y="5124"/>
                  </a:lnTo>
                  <a:cubicBezTo>
                    <a:pt x="8922" y="5267"/>
                    <a:pt x="9172" y="5321"/>
                    <a:pt x="9421" y="5321"/>
                  </a:cubicBezTo>
                  <a:lnTo>
                    <a:pt x="10242" y="5321"/>
                  </a:lnTo>
                  <a:lnTo>
                    <a:pt x="10242" y="7819"/>
                  </a:lnTo>
                  <a:cubicBezTo>
                    <a:pt x="10242" y="7979"/>
                    <a:pt x="10189" y="8158"/>
                    <a:pt x="10099" y="8300"/>
                  </a:cubicBezTo>
                  <a:lnTo>
                    <a:pt x="9992" y="8479"/>
                  </a:lnTo>
                  <a:cubicBezTo>
                    <a:pt x="9868" y="8693"/>
                    <a:pt x="9796" y="8943"/>
                    <a:pt x="9796" y="9193"/>
                  </a:cubicBezTo>
                  <a:lnTo>
                    <a:pt x="9796" y="10013"/>
                  </a:lnTo>
                  <a:lnTo>
                    <a:pt x="6870" y="10013"/>
                  </a:lnTo>
                  <a:cubicBezTo>
                    <a:pt x="6709" y="10013"/>
                    <a:pt x="6531" y="9960"/>
                    <a:pt x="6388" y="9871"/>
                  </a:cubicBezTo>
                  <a:lnTo>
                    <a:pt x="6210" y="9764"/>
                  </a:lnTo>
                  <a:cubicBezTo>
                    <a:pt x="5996" y="9639"/>
                    <a:pt x="5746" y="9567"/>
                    <a:pt x="5496" y="9567"/>
                  </a:cubicBezTo>
                  <a:lnTo>
                    <a:pt x="4675" y="9567"/>
                  </a:lnTo>
                  <a:lnTo>
                    <a:pt x="4675" y="9264"/>
                  </a:lnTo>
                  <a:cubicBezTo>
                    <a:pt x="4675" y="9157"/>
                    <a:pt x="4586" y="9050"/>
                    <a:pt x="4461" y="9050"/>
                  </a:cubicBezTo>
                  <a:cubicBezTo>
                    <a:pt x="4336" y="9050"/>
                    <a:pt x="4247" y="9157"/>
                    <a:pt x="4247" y="9264"/>
                  </a:cubicBezTo>
                  <a:lnTo>
                    <a:pt x="4247" y="9567"/>
                  </a:lnTo>
                  <a:lnTo>
                    <a:pt x="1410" y="9567"/>
                  </a:lnTo>
                  <a:lnTo>
                    <a:pt x="1410" y="7087"/>
                  </a:lnTo>
                  <a:cubicBezTo>
                    <a:pt x="1410" y="6837"/>
                    <a:pt x="1339" y="6588"/>
                    <a:pt x="1214" y="6373"/>
                  </a:cubicBezTo>
                  <a:lnTo>
                    <a:pt x="1107" y="6195"/>
                  </a:lnTo>
                  <a:cubicBezTo>
                    <a:pt x="1018" y="6034"/>
                    <a:pt x="982" y="5874"/>
                    <a:pt x="982" y="5695"/>
                  </a:cubicBezTo>
                  <a:lnTo>
                    <a:pt x="982" y="4892"/>
                  </a:lnTo>
                  <a:lnTo>
                    <a:pt x="1374" y="4892"/>
                  </a:lnTo>
                  <a:cubicBezTo>
                    <a:pt x="1499" y="4892"/>
                    <a:pt x="1589" y="4785"/>
                    <a:pt x="1589" y="4678"/>
                  </a:cubicBezTo>
                  <a:lnTo>
                    <a:pt x="1589" y="967"/>
                  </a:lnTo>
                  <a:cubicBezTo>
                    <a:pt x="1589" y="842"/>
                    <a:pt x="1678" y="735"/>
                    <a:pt x="1803" y="735"/>
                  </a:cubicBezTo>
                  <a:cubicBezTo>
                    <a:pt x="1812" y="732"/>
                    <a:pt x="1823" y="730"/>
                    <a:pt x="1834" y="730"/>
                  </a:cubicBezTo>
                  <a:cubicBezTo>
                    <a:pt x="1881" y="730"/>
                    <a:pt x="1934" y="760"/>
                    <a:pt x="1963" y="789"/>
                  </a:cubicBezTo>
                  <a:cubicBezTo>
                    <a:pt x="2017" y="824"/>
                    <a:pt x="2035" y="896"/>
                    <a:pt x="2035" y="949"/>
                  </a:cubicBezTo>
                  <a:lnTo>
                    <a:pt x="2035" y="1859"/>
                  </a:lnTo>
                  <a:cubicBezTo>
                    <a:pt x="2035" y="1984"/>
                    <a:pt x="2142" y="2073"/>
                    <a:pt x="2249" y="2073"/>
                  </a:cubicBezTo>
                  <a:cubicBezTo>
                    <a:pt x="2374" y="2073"/>
                    <a:pt x="2481" y="1984"/>
                    <a:pt x="2481" y="1859"/>
                  </a:cubicBezTo>
                  <a:lnTo>
                    <a:pt x="2481" y="664"/>
                  </a:lnTo>
                  <a:cubicBezTo>
                    <a:pt x="2481" y="592"/>
                    <a:pt x="2499" y="539"/>
                    <a:pt x="2534" y="503"/>
                  </a:cubicBezTo>
                  <a:cubicBezTo>
                    <a:pt x="2588" y="450"/>
                    <a:pt x="2641" y="432"/>
                    <a:pt x="2713" y="432"/>
                  </a:cubicBezTo>
                  <a:close/>
                  <a:moveTo>
                    <a:pt x="14471" y="10442"/>
                  </a:moveTo>
                  <a:lnTo>
                    <a:pt x="14471" y="13278"/>
                  </a:lnTo>
                  <a:lnTo>
                    <a:pt x="13757" y="13278"/>
                  </a:lnTo>
                  <a:lnTo>
                    <a:pt x="13757" y="10442"/>
                  </a:lnTo>
                  <a:close/>
                  <a:moveTo>
                    <a:pt x="5496" y="9995"/>
                  </a:moveTo>
                  <a:cubicBezTo>
                    <a:pt x="5657" y="9995"/>
                    <a:pt x="5835" y="10049"/>
                    <a:pt x="5978" y="10138"/>
                  </a:cubicBezTo>
                  <a:lnTo>
                    <a:pt x="6156" y="10245"/>
                  </a:lnTo>
                  <a:cubicBezTo>
                    <a:pt x="6370" y="10370"/>
                    <a:pt x="6620" y="10442"/>
                    <a:pt x="6870" y="10442"/>
                  </a:cubicBezTo>
                  <a:lnTo>
                    <a:pt x="9796" y="10442"/>
                  </a:lnTo>
                  <a:lnTo>
                    <a:pt x="9796" y="13278"/>
                  </a:lnTo>
                  <a:lnTo>
                    <a:pt x="6870" y="13278"/>
                  </a:lnTo>
                  <a:cubicBezTo>
                    <a:pt x="6620" y="13278"/>
                    <a:pt x="6370" y="13350"/>
                    <a:pt x="6156" y="13475"/>
                  </a:cubicBezTo>
                  <a:lnTo>
                    <a:pt x="5978" y="13582"/>
                  </a:lnTo>
                  <a:cubicBezTo>
                    <a:pt x="5835" y="13671"/>
                    <a:pt x="5657" y="13707"/>
                    <a:pt x="5496" y="13707"/>
                  </a:cubicBezTo>
                  <a:lnTo>
                    <a:pt x="4675" y="13707"/>
                  </a:lnTo>
                  <a:lnTo>
                    <a:pt x="4675" y="13314"/>
                  </a:lnTo>
                  <a:cubicBezTo>
                    <a:pt x="4675" y="13189"/>
                    <a:pt x="4586" y="13100"/>
                    <a:pt x="4461" y="13100"/>
                  </a:cubicBezTo>
                  <a:lnTo>
                    <a:pt x="982" y="13100"/>
                  </a:lnTo>
                  <a:cubicBezTo>
                    <a:pt x="857" y="13100"/>
                    <a:pt x="750" y="12993"/>
                    <a:pt x="732" y="12886"/>
                  </a:cubicBezTo>
                  <a:cubicBezTo>
                    <a:pt x="732" y="12815"/>
                    <a:pt x="750" y="12761"/>
                    <a:pt x="803" y="12725"/>
                  </a:cubicBezTo>
                  <a:cubicBezTo>
                    <a:pt x="839" y="12672"/>
                    <a:pt x="893" y="12654"/>
                    <a:pt x="964" y="12654"/>
                  </a:cubicBezTo>
                  <a:lnTo>
                    <a:pt x="1874" y="12654"/>
                  </a:lnTo>
                  <a:cubicBezTo>
                    <a:pt x="1999" y="12654"/>
                    <a:pt x="2088" y="12547"/>
                    <a:pt x="2088" y="12440"/>
                  </a:cubicBezTo>
                  <a:cubicBezTo>
                    <a:pt x="2088" y="12315"/>
                    <a:pt x="1999" y="12208"/>
                    <a:pt x="1874" y="12208"/>
                  </a:cubicBezTo>
                  <a:lnTo>
                    <a:pt x="661" y="12208"/>
                  </a:lnTo>
                  <a:cubicBezTo>
                    <a:pt x="607" y="12208"/>
                    <a:pt x="554" y="12190"/>
                    <a:pt x="500" y="12137"/>
                  </a:cubicBezTo>
                  <a:cubicBezTo>
                    <a:pt x="464" y="12101"/>
                    <a:pt x="447" y="12047"/>
                    <a:pt x="447" y="11976"/>
                  </a:cubicBezTo>
                  <a:cubicBezTo>
                    <a:pt x="447" y="11869"/>
                    <a:pt x="554" y="11762"/>
                    <a:pt x="679" y="11762"/>
                  </a:cubicBezTo>
                  <a:lnTo>
                    <a:pt x="1874" y="11762"/>
                  </a:lnTo>
                  <a:cubicBezTo>
                    <a:pt x="1999" y="11762"/>
                    <a:pt x="2088" y="11673"/>
                    <a:pt x="2088" y="11548"/>
                  </a:cubicBezTo>
                  <a:cubicBezTo>
                    <a:pt x="2088" y="11423"/>
                    <a:pt x="1999" y="11334"/>
                    <a:pt x="1874" y="11334"/>
                  </a:cubicBezTo>
                  <a:lnTo>
                    <a:pt x="964" y="11334"/>
                  </a:lnTo>
                  <a:cubicBezTo>
                    <a:pt x="893" y="11334"/>
                    <a:pt x="839" y="11316"/>
                    <a:pt x="803" y="11262"/>
                  </a:cubicBezTo>
                  <a:cubicBezTo>
                    <a:pt x="750" y="11227"/>
                    <a:pt x="732" y="11155"/>
                    <a:pt x="732" y="11102"/>
                  </a:cubicBezTo>
                  <a:cubicBezTo>
                    <a:pt x="750" y="10977"/>
                    <a:pt x="857" y="10888"/>
                    <a:pt x="982" y="10888"/>
                  </a:cubicBezTo>
                  <a:lnTo>
                    <a:pt x="1838" y="10888"/>
                  </a:lnTo>
                  <a:cubicBezTo>
                    <a:pt x="1963" y="10888"/>
                    <a:pt x="2052" y="10781"/>
                    <a:pt x="2052" y="10673"/>
                  </a:cubicBezTo>
                  <a:cubicBezTo>
                    <a:pt x="2052" y="10549"/>
                    <a:pt x="1963" y="10442"/>
                    <a:pt x="1838" y="10442"/>
                  </a:cubicBezTo>
                  <a:lnTo>
                    <a:pt x="1410" y="10442"/>
                  </a:lnTo>
                  <a:cubicBezTo>
                    <a:pt x="1339" y="10442"/>
                    <a:pt x="1285" y="10424"/>
                    <a:pt x="1250" y="10388"/>
                  </a:cubicBezTo>
                  <a:cubicBezTo>
                    <a:pt x="1196" y="10334"/>
                    <a:pt x="1178" y="10281"/>
                    <a:pt x="1178" y="10210"/>
                  </a:cubicBezTo>
                  <a:cubicBezTo>
                    <a:pt x="1178" y="10103"/>
                    <a:pt x="1285" y="9995"/>
                    <a:pt x="1410" y="9995"/>
                  </a:cubicBezTo>
                  <a:close/>
                  <a:moveTo>
                    <a:pt x="4247" y="13528"/>
                  </a:moveTo>
                  <a:lnTo>
                    <a:pt x="4247" y="14456"/>
                  </a:lnTo>
                  <a:lnTo>
                    <a:pt x="1410" y="14456"/>
                  </a:lnTo>
                  <a:lnTo>
                    <a:pt x="1410" y="13528"/>
                  </a:lnTo>
                  <a:close/>
                  <a:moveTo>
                    <a:pt x="2676" y="1"/>
                  </a:moveTo>
                  <a:cubicBezTo>
                    <a:pt x="2516" y="1"/>
                    <a:pt x="2361" y="70"/>
                    <a:pt x="2249" y="182"/>
                  </a:cubicBezTo>
                  <a:cubicBezTo>
                    <a:pt x="2177" y="236"/>
                    <a:pt x="2142" y="289"/>
                    <a:pt x="2106" y="360"/>
                  </a:cubicBezTo>
                  <a:cubicBezTo>
                    <a:pt x="1999" y="307"/>
                    <a:pt x="1892" y="289"/>
                    <a:pt x="1785" y="289"/>
                  </a:cubicBezTo>
                  <a:cubicBezTo>
                    <a:pt x="1428" y="307"/>
                    <a:pt x="1160" y="610"/>
                    <a:pt x="1160" y="967"/>
                  </a:cubicBezTo>
                  <a:lnTo>
                    <a:pt x="1160" y="1181"/>
                  </a:lnTo>
                  <a:lnTo>
                    <a:pt x="233" y="1181"/>
                  </a:lnTo>
                  <a:cubicBezTo>
                    <a:pt x="108" y="1181"/>
                    <a:pt x="1" y="1288"/>
                    <a:pt x="1" y="1413"/>
                  </a:cubicBezTo>
                  <a:lnTo>
                    <a:pt x="1" y="4678"/>
                  </a:lnTo>
                  <a:cubicBezTo>
                    <a:pt x="1" y="4785"/>
                    <a:pt x="108" y="4892"/>
                    <a:pt x="233" y="4892"/>
                  </a:cubicBezTo>
                  <a:lnTo>
                    <a:pt x="536" y="4892"/>
                  </a:lnTo>
                  <a:lnTo>
                    <a:pt x="536" y="5695"/>
                  </a:lnTo>
                  <a:cubicBezTo>
                    <a:pt x="536" y="5945"/>
                    <a:pt x="607" y="6195"/>
                    <a:pt x="732" y="6409"/>
                  </a:cubicBezTo>
                  <a:lnTo>
                    <a:pt x="839" y="6588"/>
                  </a:lnTo>
                  <a:cubicBezTo>
                    <a:pt x="928" y="6748"/>
                    <a:pt x="982" y="6909"/>
                    <a:pt x="982" y="7087"/>
                  </a:cubicBezTo>
                  <a:lnTo>
                    <a:pt x="982" y="9728"/>
                  </a:lnTo>
                  <a:cubicBezTo>
                    <a:pt x="839" y="9835"/>
                    <a:pt x="750" y="10013"/>
                    <a:pt x="750" y="10192"/>
                  </a:cubicBezTo>
                  <a:cubicBezTo>
                    <a:pt x="732" y="10299"/>
                    <a:pt x="750" y="10388"/>
                    <a:pt x="786" y="10477"/>
                  </a:cubicBezTo>
                  <a:cubicBezTo>
                    <a:pt x="518" y="10549"/>
                    <a:pt x="322" y="10781"/>
                    <a:pt x="304" y="11084"/>
                  </a:cubicBezTo>
                  <a:cubicBezTo>
                    <a:pt x="304" y="11191"/>
                    <a:pt x="322" y="11298"/>
                    <a:pt x="375" y="11405"/>
                  </a:cubicBezTo>
                  <a:cubicBezTo>
                    <a:pt x="161" y="11512"/>
                    <a:pt x="18" y="11708"/>
                    <a:pt x="1" y="11958"/>
                  </a:cubicBezTo>
                  <a:cubicBezTo>
                    <a:pt x="1" y="12137"/>
                    <a:pt x="72" y="12315"/>
                    <a:pt x="197" y="12440"/>
                  </a:cubicBezTo>
                  <a:cubicBezTo>
                    <a:pt x="250" y="12493"/>
                    <a:pt x="304" y="12547"/>
                    <a:pt x="375" y="12583"/>
                  </a:cubicBezTo>
                  <a:cubicBezTo>
                    <a:pt x="322" y="12672"/>
                    <a:pt x="304" y="12797"/>
                    <a:pt x="304" y="12904"/>
                  </a:cubicBezTo>
                  <a:cubicBezTo>
                    <a:pt x="322" y="13261"/>
                    <a:pt x="607" y="13528"/>
                    <a:pt x="982" y="13528"/>
                  </a:cubicBezTo>
                  <a:lnTo>
                    <a:pt x="982" y="14688"/>
                  </a:lnTo>
                  <a:cubicBezTo>
                    <a:pt x="982" y="14795"/>
                    <a:pt x="1071" y="14902"/>
                    <a:pt x="1196" y="14902"/>
                  </a:cubicBezTo>
                  <a:lnTo>
                    <a:pt x="4461" y="14902"/>
                  </a:lnTo>
                  <a:cubicBezTo>
                    <a:pt x="4586" y="14902"/>
                    <a:pt x="4675" y="14795"/>
                    <a:pt x="4675" y="14688"/>
                  </a:cubicBezTo>
                  <a:lnTo>
                    <a:pt x="4675" y="14153"/>
                  </a:lnTo>
                  <a:lnTo>
                    <a:pt x="5496" y="14153"/>
                  </a:lnTo>
                  <a:cubicBezTo>
                    <a:pt x="5746" y="14153"/>
                    <a:pt x="5996" y="14081"/>
                    <a:pt x="6210" y="13957"/>
                  </a:cubicBezTo>
                  <a:lnTo>
                    <a:pt x="6388" y="13849"/>
                  </a:lnTo>
                  <a:cubicBezTo>
                    <a:pt x="6531" y="13760"/>
                    <a:pt x="6709" y="13707"/>
                    <a:pt x="6870" y="13707"/>
                  </a:cubicBezTo>
                  <a:lnTo>
                    <a:pt x="9832" y="13707"/>
                  </a:lnTo>
                  <a:cubicBezTo>
                    <a:pt x="9921" y="13957"/>
                    <a:pt x="10153" y="14153"/>
                    <a:pt x="10421" y="14171"/>
                  </a:cubicBezTo>
                  <a:cubicBezTo>
                    <a:pt x="10528" y="14171"/>
                    <a:pt x="10617" y="14153"/>
                    <a:pt x="10706" y="14117"/>
                  </a:cubicBezTo>
                  <a:cubicBezTo>
                    <a:pt x="10778" y="14385"/>
                    <a:pt x="11009" y="14599"/>
                    <a:pt x="11313" y="14599"/>
                  </a:cubicBezTo>
                  <a:cubicBezTo>
                    <a:pt x="11332" y="14602"/>
                    <a:pt x="11351" y="14603"/>
                    <a:pt x="11370" y="14603"/>
                  </a:cubicBezTo>
                  <a:cubicBezTo>
                    <a:pt x="11458" y="14603"/>
                    <a:pt x="11546" y="14572"/>
                    <a:pt x="11634" y="14527"/>
                  </a:cubicBezTo>
                  <a:cubicBezTo>
                    <a:pt x="11741" y="14742"/>
                    <a:pt x="11955" y="14884"/>
                    <a:pt x="12187" y="14902"/>
                  </a:cubicBezTo>
                  <a:lnTo>
                    <a:pt x="12223" y="14902"/>
                  </a:lnTo>
                  <a:cubicBezTo>
                    <a:pt x="12401" y="14902"/>
                    <a:pt x="12544" y="14831"/>
                    <a:pt x="12669" y="14724"/>
                  </a:cubicBezTo>
                  <a:cubicBezTo>
                    <a:pt x="12740" y="14670"/>
                    <a:pt x="12776" y="14599"/>
                    <a:pt x="12812" y="14545"/>
                  </a:cubicBezTo>
                  <a:cubicBezTo>
                    <a:pt x="12884" y="14574"/>
                    <a:pt x="12981" y="14604"/>
                    <a:pt x="13072" y="14604"/>
                  </a:cubicBezTo>
                  <a:cubicBezTo>
                    <a:pt x="13093" y="14604"/>
                    <a:pt x="13113" y="14602"/>
                    <a:pt x="13133" y="14599"/>
                  </a:cubicBezTo>
                  <a:cubicBezTo>
                    <a:pt x="13490" y="14581"/>
                    <a:pt x="13757" y="14296"/>
                    <a:pt x="13757" y="13939"/>
                  </a:cubicBezTo>
                  <a:lnTo>
                    <a:pt x="13757" y="13707"/>
                  </a:lnTo>
                  <a:lnTo>
                    <a:pt x="14685" y="13707"/>
                  </a:lnTo>
                  <a:cubicBezTo>
                    <a:pt x="14810" y="13707"/>
                    <a:pt x="14917" y="13618"/>
                    <a:pt x="14917" y="13493"/>
                  </a:cubicBezTo>
                  <a:lnTo>
                    <a:pt x="14917" y="10227"/>
                  </a:lnTo>
                  <a:cubicBezTo>
                    <a:pt x="14917" y="10103"/>
                    <a:pt x="14810" y="10013"/>
                    <a:pt x="14685" y="10013"/>
                  </a:cubicBezTo>
                  <a:lnTo>
                    <a:pt x="14382" y="10013"/>
                  </a:lnTo>
                  <a:lnTo>
                    <a:pt x="14382" y="9193"/>
                  </a:lnTo>
                  <a:cubicBezTo>
                    <a:pt x="14382" y="8943"/>
                    <a:pt x="14310" y="8693"/>
                    <a:pt x="14185" y="8479"/>
                  </a:cubicBezTo>
                  <a:lnTo>
                    <a:pt x="14078" y="8300"/>
                  </a:lnTo>
                  <a:cubicBezTo>
                    <a:pt x="13989" y="8158"/>
                    <a:pt x="13936" y="7979"/>
                    <a:pt x="13936" y="7819"/>
                  </a:cubicBezTo>
                  <a:lnTo>
                    <a:pt x="13936" y="6837"/>
                  </a:lnTo>
                  <a:cubicBezTo>
                    <a:pt x="13936" y="6712"/>
                    <a:pt x="13846" y="6623"/>
                    <a:pt x="13722" y="6623"/>
                  </a:cubicBezTo>
                  <a:cubicBezTo>
                    <a:pt x="13597" y="6623"/>
                    <a:pt x="13507" y="6712"/>
                    <a:pt x="13507" y="6837"/>
                  </a:cubicBezTo>
                  <a:lnTo>
                    <a:pt x="13507" y="7819"/>
                  </a:lnTo>
                  <a:cubicBezTo>
                    <a:pt x="13507" y="8068"/>
                    <a:pt x="13579" y="8318"/>
                    <a:pt x="13704" y="8532"/>
                  </a:cubicBezTo>
                  <a:lnTo>
                    <a:pt x="13811" y="8711"/>
                  </a:lnTo>
                  <a:cubicBezTo>
                    <a:pt x="13900" y="8854"/>
                    <a:pt x="13936" y="9032"/>
                    <a:pt x="13936" y="9193"/>
                  </a:cubicBezTo>
                  <a:lnTo>
                    <a:pt x="13936" y="10013"/>
                  </a:lnTo>
                  <a:lnTo>
                    <a:pt x="13543" y="10013"/>
                  </a:lnTo>
                  <a:cubicBezTo>
                    <a:pt x="13418" y="10013"/>
                    <a:pt x="13329" y="10103"/>
                    <a:pt x="13329" y="10227"/>
                  </a:cubicBezTo>
                  <a:lnTo>
                    <a:pt x="13329" y="13939"/>
                  </a:lnTo>
                  <a:cubicBezTo>
                    <a:pt x="13329" y="14064"/>
                    <a:pt x="13240" y="14171"/>
                    <a:pt x="13115" y="14171"/>
                  </a:cubicBezTo>
                  <a:cubicBezTo>
                    <a:pt x="13061" y="14171"/>
                    <a:pt x="12990" y="14153"/>
                    <a:pt x="12954" y="14099"/>
                  </a:cubicBezTo>
                  <a:cubicBezTo>
                    <a:pt x="12901" y="14064"/>
                    <a:pt x="12883" y="14010"/>
                    <a:pt x="12883" y="13939"/>
                  </a:cubicBezTo>
                  <a:lnTo>
                    <a:pt x="12883" y="13029"/>
                  </a:lnTo>
                  <a:cubicBezTo>
                    <a:pt x="12883" y="12922"/>
                    <a:pt x="12776" y="12815"/>
                    <a:pt x="12669" y="12815"/>
                  </a:cubicBezTo>
                  <a:cubicBezTo>
                    <a:pt x="12544" y="12815"/>
                    <a:pt x="12437" y="12922"/>
                    <a:pt x="12437" y="13029"/>
                  </a:cubicBezTo>
                  <a:lnTo>
                    <a:pt x="12437" y="14242"/>
                  </a:lnTo>
                  <a:cubicBezTo>
                    <a:pt x="12437" y="14296"/>
                    <a:pt x="12419" y="14367"/>
                    <a:pt x="12383" y="14403"/>
                  </a:cubicBezTo>
                  <a:cubicBezTo>
                    <a:pt x="12340" y="14432"/>
                    <a:pt x="12296" y="14461"/>
                    <a:pt x="12243" y="14461"/>
                  </a:cubicBezTo>
                  <a:cubicBezTo>
                    <a:pt x="12231" y="14461"/>
                    <a:pt x="12218" y="14459"/>
                    <a:pt x="12205" y="14456"/>
                  </a:cubicBezTo>
                  <a:cubicBezTo>
                    <a:pt x="12098" y="14456"/>
                    <a:pt x="11991" y="14349"/>
                    <a:pt x="11991" y="14224"/>
                  </a:cubicBezTo>
                  <a:lnTo>
                    <a:pt x="11991" y="13029"/>
                  </a:lnTo>
                  <a:cubicBezTo>
                    <a:pt x="11991" y="12922"/>
                    <a:pt x="11902" y="12815"/>
                    <a:pt x="11777" y="12815"/>
                  </a:cubicBezTo>
                  <a:cubicBezTo>
                    <a:pt x="11652" y="12815"/>
                    <a:pt x="11563" y="12922"/>
                    <a:pt x="11563" y="13029"/>
                  </a:cubicBezTo>
                  <a:lnTo>
                    <a:pt x="11563" y="13939"/>
                  </a:lnTo>
                  <a:cubicBezTo>
                    <a:pt x="11563" y="14010"/>
                    <a:pt x="11545" y="14064"/>
                    <a:pt x="11491" y="14099"/>
                  </a:cubicBezTo>
                  <a:cubicBezTo>
                    <a:pt x="11456" y="14153"/>
                    <a:pt x="11384" y="14171"/>
                    <a:pt x="11331" y="14171"/>
                  </a:cubicBezTo>
                  <a:cubicBezTo>
                    <a:pt x="11206" y="14171"/>
                    <a:pt x="11117" y="14064"/>
                    <a:pt x="11117" y="13939"/>
                  </a:cubicBezTo>
                  <a:lnTo>
                    <a:pt x="11117" y="13064"/>
                  </a:lnTo>
                  <a:cubicBezTo>
                    <a:pt x="11117" y="12939"/>
                    <a:pt x="11027" y="12850"/>
                    <a:pt x="10902" y="12850"/>
                  </a:cubicBezTo>
                  <a:cubicBezTo>
                    <a:pt x="10778" y="12850"/>
                    <a:pt x="10688" y="12939"/>
                    <a:pt x="10688" y="13064"/>
                  </a:cubicBezTo>
                  <a:lnTo>
                    <a:pt x="10688" y="13510"/>
                  </a:lnTo>
                  <a:cubicBezTo>
                    <a:pt x="10688" y="13564"/>
                    <a:pt x="10653" y="13618"/>
                    <a:pt x="10617" y="13671"/>
                  </a:cubicBezTo>
                  <a:cubicBezTo>
                    <a:pt x="10563" y="13707"/>
                    <a:pt x="10510" y="13725"/>
                    <a:pt x="10439" y="13725"/>
                  </a:cubicBezTo>
                  <a:cubicBezTo>
                    <a:pt x="10331" y="13725"/>
                    <a:pt x="10242" y="13618"/>
                    <a:pt x="10242" y="13493"/>
                  </a:cubicBezTo>
                  <a:lnTo>
                    <a:pt x="10242" y="9193"/>
                  </a:lnTo>
                  <a:cubicBezTo>
                    <a:pt x="10242" y="9032"/>
                    <a:pt x="10278" y="8854"/>
                    <a:pt x="10367" y="8711"/>
                  </a:cubicBezTo>
                  <a:lnTo>
                    <a:pt x="10474" y="8532"/>
                  </a:lnTo>
                  <a:cubicBezTo>
                    <a:pt x="10599" y="8318"/>
                    <a:pt x="10670" y="8068"/>
                    <a:pt x="10670" y="7819"/>
                  </a:cubicBezTo>
                  <a:lnTo>
                    <a:pt x="10670" y="5321"/>
                  </a:lnTo>
                  <a:lnTo>
                    <a:pt x="13507" y="5321"/>
                  </a:lnTo>
                  <a:lnTo>
                    <a:pt x="13507" y="5820"/>
                  </a:lnTo>
                  <a:cubicBezTo>
                    <a:pt x="13507" y="5927"/>
                    <a:pt x="13597" y="6034"/>
                    <a:pt x="13722" y="6034"/>
                  </a:cubicBezTo>
                  <a:cubicBezTo>
                    <a:pt x="13846" y="6034"/>
                    <a:pt x="13936" y="5927"/>
                    <a:pt x="13936" y="5820"/>
                  </a:cubicBezTo>
                  <a:lnTo>
                    <a:pt x="13936" y="5178"/>
                  </a:lnTo>
                  <a:cubicBezTo>
                    <a:pt x="14078" y="5053"/>
                    <a:pt x="14168" y="4892"/>
                    <a:pt x="14168" y="4696"/>
                  </a:cubicBezTo>
                  <a:cubicBezTo>
                    <a:pt x="14185" y="4607"/>
                    <a:pt x="14168" y="4518"/>
                    <a:pt x="14132" y="4429"/>
                  </a:cubicBezTo>
                  <a:cubicBezTo>
                    <a:pt x="14400" y="4339"/>
                    <a:pt x="14596" y="4107"/>
                    <a:pt x="14614" y="3822"/>
                  </a:cubicBezTo>
                  <a:cubicBezTo>
                    <a:pt x="14614" y="3697"/>
                    <a:pt x="14596" y="3590"/>
                    <a:pt x="14542" y="3501"/>
                  </a:cubicBezTo>
                  <a:cubicBezTo>
                    <a:pt x="14756" y="3394"/>
                    <a:pt x="14899" y="3180"/>
                    <a:pt x="14917" y="2930"/>
                  </a:cubicBezTo>
                  <a:cubicBezTo>
                    <a:pt x="14917" y="2751"/>
                    <a:pt x="14846" y="2591"/>
                    <a:pt x="14721" y="2448"/>
                  </a:cubicBezTo>
                  <a:cubicBezTo>
                    <a:pt x="14667" y="2394"/>
                    <a:pt x="14614" y="2359"/>
                    <a:pt x="14542" y="2323"/>
                  </a:cubicBezTo>
                  <a:cubicBezTo>
                    <a:pt x="14596" y="2216"/>
                    <a:pt x="14614" y="2109"/>
                    <a:pt x="14614" y="1984"/>
                  </a:cubicBezTo>
                  <a:cubicBezTo>
                    <a:pt x="14596" y="1645"/>
                    <a:pt x="14310" y="1360"/>
                    <a:pt x="13936" y="1360"/>
                  </a:cubicBezTo>
                  <a:lnTo>
                    <a:pt x="13936" y="218"/>
                  </a:lnTo>
                  <a:cubicBezTo>
                    <a:pt x="13936" y="93"/>
                    <a:pt x="13846" y="4"/>
                    <a:pt x="13722" y="4"/>
                  </a:cubicBezTo>
                  <a:lnTo>
                    <a:pt x="10456" y="4"/>
                  </a:lnTo>
                  <a:cubicBezTo>
                    <a:pt x="10331" y="4"/>
                    <a:pt x="10242" y="93"/>
                    <a:pt x="10242" y="218"/>
                  </a:cubicBezTo>
                  <a:lnTo>
                    <a:pt x="10242" y="753"/>
                  </a:lnTo>
                  <a:lnTo>
                    <a:pt x="9421" y="753"/>
                  </a:lnTo>
                  <a:cubicBezTo>
                    <a:pt x="9172" y="753"/>
                    <a:pt x="8922" y="824"/>
                    <a:pt x="8708" y="949"/>
                  </a:cubicBezTo>
                  <a:lnTo>
                    <a:pt x="8529" y="1056"/>
                  </a:lnTo>
                  <a:cubicBezTo>
                    <a:pt x="8387" y="1146"/>
                    <a:pt x="8208" y="1181"/>
                    <a:pt x="8048" y="1181"/>
                  </a:cubicBezTo>
                  <a:lnTo>
                    <a:pt x="5086" y="1181"/>
                  </a:lnTo>
                  <a:cubicBezTo>
                    <a:pt x="4996" y="931"/>
                    <a:pt x="4765" y="753"/>
                    <a:pt x="4497" y="735"/>
                  </a:cubicBezTo>
                  <a:cubicBezTo>
                    <a:pt x="4390" y="735"/>
                    <a:pt x="4301" y="753"/>
                    <a:pt x="4211" y="789"/>
                  </a:cubicBezTo>
                  <a:cubicBezTo>
                    <a:pt x="4140" y="503"/>
                    <a:pt x="3890" y="307"/>
                    <a:pt x="3605" y="289"/>
                  </a:cubicBezTo>
                  <a:cubicBezTo>
                    <a:pt x="3498" y="289"/>
                    <a:pt x="3391" y="307"/>
                    <a:pt x="3284" y="360"/>
                  </a:cubicBezTo>
                  <a:cubicBezTo>
                    <a:pt x="3177" y="146"/>
                    <a:pt x="2962" y="4"/>
                    <a:pt x="2730" y="4"/>
                  </a:cubicBezTo>
                  <a:cubicBezTo>
                    <a:pt x="2712" y="2"/>
                    <a:pt x="2694" y="1"/>
                    <a:pt x="267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357;p37"/>
            <p:cNvSpPr/>
            <p:nvPr/>
          </p:nvSpPr>
          <p:spPr>
            <a:xfrm>
              <a:off x="2333725" y="3519675"/>
              <a:ext cx="113325" cy="99050"/>
            </a:xfrm>
            <a:custGeom>
              <a:avLst/>
              <a:gdLst/>
              <a:ahLst/>
              <a:cxnLst/>
              <a:rect l="l" t="t" r="r" b="b"/>
              <a:pathLst>
                <a:path w="4533" h="3962" extrusionOk="0">
                  <a:moveTo>
                    <a:pt x="3257" y="429"/>
                  </a:moveTo>
                  <a:cubicBezTo>
                    <a:pt x="3458" y="429"/>
                    <a:pt x="3659" y="500"/>
                    <a:pt x="3819" y="643"/>
                  </a:cubicBezTo>
                  <a:cubicBezTo>
                    <a:pt x="3980" y="803"/>
                    <a:pt x="4087" y="1017"/>
                    <a:pt x="4087" y="1232"/>
                  </a:cubicBezTo>
                  <a:cubicBezTo>
                    <a:pt x="4087" y="1463"/>
                    <a:pt x="3998" y="1678"/>
                    <a:pt x="3837" y="1838"/>
                  </a:cubicBezTo>
                  <a:lnTo>
                    <a:pt x="2267" y="3426"/>
                  </a:lnTo>
                  <a:lnTo>
                    <a:pt x="697" y="1838"/>
                  </a:lnTo>
                  <a:cubicBezTo>
                    <a:pt x="536" y="1678"/>
                    <a:pt x="447" y="1463"/>
                    <a:pt x="447" y="1232"/>
                  </a:cubicBezTo>
                  <a:cubicBezTo>
                    <a:pt x="447" y="1017"/>
                    <a:pt x="554" y="803"/>
                    <a:pt x="714" y="643"/>
                  </a:cubicBezTo>
                  <a:cubicBezTo>
                    <a:pt x="875" y="500"/>
                    <a:pt x="1071" y="429"/>
                    <a:pt x="1285" y="429"/>
                  </a:cubicBezTo>
                  <a:cubicBezTo>
                    <a:pt x="1482" y="429"/>
                    <a:pt x="1678" y="500"/>
                    <a:pt x="1839" y="643"/>
                  </a:cubicBezTo>
                  <a:cubicBezTo>
                    <a:pt x="1946" y="732"/>
                    <a:pt x="2017" y="839"/>
                    <a:pt x="2053" y="982"/>
                  </a:cubicBezTo>
                  <a:cubicBezTo>
                    <a:pt x="2088" y="1071"/>
                    <a:pt x="2178" y="1124"/>
                    <a:pt x="2267" y="1124"/>
                  </a:cubicBezTo>
                  <a:cubicBezTo>
                    <a:pt x="2356" y="1124"/>
                    <a:pt x="2445" y="1071"/>
                    <a:pt x="2481" y="982"/>
                  </a:cubicBezTo>
                  <a:cubicBezTo>
                    <a:pt x="2517" y="839"/>
                    <a:pt x="2588" y="732"/>
                    <a:pt x="2695" y="643"/>
                  </a:cubicBezTo>
                  <a:cubicBezTo>
                    <a:pt x="2856" y="500"/>
                    <a:pt x="3056" y="429"/>
                    <a:pt x="3257" y="429"/>
                  </a:cubicBezTo>
                  <a:close/>
                  <a:moveTo>
                    <a:pt x="1270" y="0"/>
                  </a:moveTo>
                  <a:cubicBezTo>
                    <a:pt x="964" y="0"/>
                    <a:pt x="661" y="107"/>
                    <a:pt x="429" y="322"/>
                  </a:cubicBezTo>
                  <a:cubicBezTo>
                    <a:pt x="161" y="554"/>
                    <a:pt x="19" y="875"/>
                    <a:pt x="19" y="1232"/>
                  </a:cubicBezTo>
                  <a:cubicBezTo>
                    <a:pt x="1" y="1571"/>
                    <a:pt x="144" y="1910"/>
                    <a:pt x="375" y="2159"/>
                  </a:cubicBezTo>
                  <a:lnTo>
                    <a:pt x="2106" y="3890"/>
                  </a:lnTo>
                  <a:cubicBezTo>
                    <a:pt x="2160" y="3926"/>
                    <a:pt x="2213" y="3961"/>
                    <a:pt x="2267" y="3961"/>
                  </a:cubicBezTo>
                  <a:cubicBezTo>
                    <a:pt x="2320" y="3961"/>
                    <a:pt x="2374" y="3926"/>
                    <a:pt x="2427" y="3890"/>
                  </a:cubicBezTo>
                  <a:lnTo>
                    <a:pt x="4158" y="2159"/>
                  </a:lnTo>
                  <a:cubicBezTo>
                    <a:pt x="4390" y="1910"/>
                    <a:pt x="4533" y="1571"/>
                    <a:pt x="4515" y="1232"/>
                  </a:cubicBezTo>
                  <a:cubicBezTo>
                    <a:pt x="4515" y="875"/>
                    <a:pt x="4372" y="554"/>
                    <a:pt x="4105" y="322"/>
                  </a:cubicBezTo>
                  <a:cubicBezTo>
                    <a:pt x="3873" y="107"/>
                    <a:pt x="3569" y="0"/>
                    <a:pt x="3264" y="0"/>
                  </a:cubicBezTo>
                  <a:cubicBezTo>
                    <a:pt x="2958" y="0"/>
                    <a:pt x="2650" y="107"/>
                    <a:pt x="2410" y="322"/>
                  </a:cubicBezTo>
                  <a:cubicBezTo>
                    <a:pt x="2356" y="357"/>
                    <a:pt x="2302" y="411"/>
                    <a:pt x="2267" y="464"/>
                  </a:cubicBezTo>
                  <a:cubicBezTo>
                    <a:pt x="2231" y="411"/>
                    <a:pt x="2178" y="357"/>
                    <a:pt x="2124" y="322"/>
                  </a:cubicBezTo>
                  <a:cubicBezTo>
                    <a:pt x="1883" y="107"/>
                    <a:pt x="1575" y="0"/>
                    <a:pt x="127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2" name="Google Shape;518;p41"/>
          <p:cNvSpPr/>
          <p:nvPr/>
        </p:nvSpPr>
        <p:spPr>
          <a:xfrm rot="16200000" flipH="1">
            <a:off x="4332382" y="2046382"/>
            <a:ext cx="479235" cy="9144002"/>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23" name="Google Shape;208;p31"/>
          <p:cNvCxnSpPr/>
          <p:nvPr/>
        </p:nvCxnSpPr>
        <p:spPr>
          <a:xfrm>
            <a:off x="586619" y="6662235"/>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68035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9"/>
            <a:ext cx="7886700" cy="648424"/>
          </a:xfrm>
        </p:spPr>
        <p:txBody>
          <a:bodyPr>
            <a:normAutofit fontScale="90000"/>
          </a:bodyPr>
          <a:lstStyle/>
          <a:p>
            <a:r>
              <a:rPr lang="en-US" dirty="0">
                <a:latin typeface="Candara" panose="020E0502030303020204" pitchFamily="34" charset="0"/>
              </a:rPr>
              <a:t>                      </a:t>
            </a:r>
            <a:r>
              <a:rPr lang="en-US" sz="4900" dirty="0">
                <a:solidFill>
                  <a:srgbClr val="9C2B61"/>
                </a:solidFill>
                <a:latin typeface="Candara" panose="020E0502030303020204" pitchFamily="34" charset="0"/>
              </a:rPr>
              <a:t>Our</a:t>
            </a:r>
            <a:r>
              <a:rPr lang="en-US" sz="4900" dirty="0">
                <a:solidFill>
                  <a:schemeClr val="accent2"/>
                </a:solidFill>
                <a:latin typeface="Candara" panose="020E0502030303020204" pitchFamily="34" charset="0"/>
              </a:rPr>
              <a:t> </a:t>
            </a:r>
            <a:r>
              <a:rPr lang="en-US" sz="4900" dirty="0">
                <a:solidFill>
                  <a:srgbClr val="FFB200"/>
                </a:solidFill>
                <a:latin typeface="Candara" panose="020E0502030303020204" pitchFamily="34" charset="0"/>
              </a:rPr>
              <a:t>values</a:t>
            </a:r>
          </a:p>
        </p:txBody>
      </p:sp>
      <p:sp>
        <p:nvSpPr>
          <p:cNvPr id="4" name="Google Shape;211;p31"/>
          <p:cNvSpPr/>
          <p:nvPr/>
        </p:nvSpPr>
        <p:spPr>
          <a:xfrm>
            <a:off x="0" y="-57771"/>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5" name="Google Shape;237;p33"/>
          <p:cNvSpPr/>
          <p:nvPr/>
        </p:nvSpPr>
        <p:spPr>
          <a:xfrm>
            <a:off x="723875" y="1789875"/>
            <a:ext cx="669600" cy="66960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243;p33"/>
          <p:cNvSpPr txBox="1">
            <a:spLocks/>
          </p:cNvSpPr>
          <p:nvPr/>
        </p:nvSpPr>
        <p:spPr>
          <a:xfrm>
            <a:off x="611650" y="1945250"/>
            <a:ext cx="894000" cy="35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ighteous"/>
              <a:buNone/>
              <a:defRPr sz="30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3000"/>
              <a:buFont typeface="Righteous"/>
              <a:buNone/>
              <a:tabLst/>
              <a:defRPr/>
            </a:pPr>
            <a:r>
              <a:rPr kumimoji="0" lang="en" sz="3000" b="0" i="0" u="none" strike="noStrike" kern="0" cap="none" spc="0" normalizeH="0" baseline="0" noProof="0" dirty="0">
                <a:ln>
                  <a:noFill/>
                </a:ln>
                <a:solidFill>
                  <a:srgbClr val="FFFFFF"/>
                </a:solidFill>
                <a:effectLst/>
                <a:uLnTx/>
                <a:uFillTx/>
                <a:latin typeface="Candara" panose="020E0502030303020204" pitchFamily="34" charset="0"/>
                <a:sym typeface="Righteous"/>
              </a:rPr>
              <a:t>01</a:t>
            </a:r>
          </a:p>
        </p:txBody>
      </p:sp>
      <p:sp>
        <p:nvSpPr>
          <p:cNvPr id="7" name="Google Shape;238;p33"/>
          <p:cNvSpPr txBox="1">
            <a:spLocks/>
          </p:cNvSpPr>
          <p:nvPr/>
        </p:nvSpPr>
        <p:spPr>
          <a:xfrm>
            <a:off x="1505650" y="1460750"/>
            <a:ext cx="1999500" cy="784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l" defTabSz="914400" rtl="0" eaLnBrk="1" fontAlgn="auto" latinLnBrk="0" hangingPunct="1">
              <a:lnSpc>
                <a:spcPct val="100000"/>
              </a:lnSpc>
              <a:spcBef>
                <a:spcPts val="0"/>
              </a:spcBef>
              <a:spcAft>
                <a:spcPts val="0"/>
              </a:spcAft>
              <a:buClr>
                <a:srgbClr val="191919"/>
              </a:buClr>
              <a:buSzPts val="2500"/>
              <a:buFont typeface="Righteous"/>
              <a:buNone/>
              <a:tabLst/>
              <a:defRPr/>
            </a:pPr>
            <a:r>
              <a:rPr lang="en-US" sz="2000" b="1" kern="0" noProof="0" dirty="0">
                <a:solidFill>
                  <a:srgbClr val="191919"/>
                </a:solidFill>
                <a:latin typeface="Candara" panose="020E0502030303020204" pitchFamily="34" charset="0"/>
              </a:rPr>
              <a:t>Legitimacy </a:t>
            </a:r>
            <a:endParaRPr kumimoji="0" lang="en-US" sz="20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8" name="Google Shape;244;p33"/>
          <p:cNvSpPr txBox="1">
            <a:spLocks/>
          </p:cNvSpPr>
          <p:nvPr/>
        </p:nvSpPr>
        <p:spPr>
          <a:xfrm>
            <a:off x="1393475" y="2563106"/>
            <a:ext cx="2486117" cy="54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6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9pPr>
          </a:lstStyle>
          <a:p>
            <a:pPr marL="0" lvl="0" indent="0" algn="just">
              <a:buClr>
                <a:srgbClr val="191919"/>
              </a:buClr>
            </a:pPr>
            <a:r>
              <a:rPr lang="en-US" dirty="0">
                <a:latin typeface="Candara" panose="020E0502030303020204" pitchFamily="34" charset="0"/>
                <a:ea typeface="Calibri" panose="020F0502020204030204" pitchFamily="34" charset="0"/>
                <a:cs typeface="Times New Roman" panose="02020603050405020304" pitchFamily="18" charset="0"/>
              </a:rPr>
              <a:t>We always strive to be the legitimate voice for all women (not only our members) doing various businesses in Malawi</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9" name="Google Shape;235;p33"/>
          <p:cNvSpPr/>
          <p:nvPr/>
        </p:nvSpPr>
        <p:spPr>
          <a:xfrm>
            <a:off x="5462938" y="1634450"/>
            <a:ext cx="669600" cy="66960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247;p33"/>
          <p:cNvSpPr txBox="1">
            <a:spLocks/>
          </p:cNvSpPr>
          <p:nvPr/>
        </p:nvSpPr>
        <p:spPr>
          <a:xfrm>
            <a:off x="5350738" y="1789875"/>
            <a:ext cx="894000" cy="35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ighteous"/>
              <a:buNone/>
              <a:defRPr sz="30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3000"/>
              <a:buFont typeface="Righteous"/>
              <a:buNone/>
              <a:tabLst/>
              <a:defRPr/>
            </a:pPr>
            <a:r>
              <a:rPr kumimoji="0" lang="en" sz="3000" b="0" i="0" u="none" strike="noStrike" kern="0" cap="none" spc="0" normalizeH="0" baseline="0" noProof="0" dirty="0">
                <a:ln>
                  <a:noFill/>
                </a:ln>
                <a:solidFill>
                  <a:srgbClr val="FFFFFF"/>
                </a:solidFill>
                <a:effectLst/>
                <a:uLnTx/>
                <a:uFillTx/>
                <a:latin typeface="Candara" panose="020E0502030303020204" pitchFamily="34" charset="0"/>
                <a:sym typeface="Righteous"/>
              </a:rPr>
              <a:t>02</a:t>
            </a:r>
          </a:p>
        </p:txBody>
      </p:sp>
      <p:sp>
        <p:nvSpPr>
          <p:cNvPr id="11" name="Google Shape;245;p33"/>
          <p:cNvSpPr txBox="1">
            <a:spLocks/>
          </p:cNvSpPr>
          <p:nvPr/>
        </p:nvSpPr>
        <p:spPr>
          <a:xfrm>
            <a:off x="6244738" y="1519850"/>
            <a:ext cx="1999500" cy="784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l" defTabSz="914400" rtl="0" eaLnBrk="1" fontAlgn="auto" latinLnBrk="0" hangingPunct="1">
              <a:lnSpc>
                <a:spcPct val="100000"/>
              </a:lnSpc>
              <a:spcBef>
                <a:spcPts val="0"/>
              </a:spcBef>
              <a:spcAft>
                <a:spcPts val="0"/>
              </a:spcAft>
              <a:buClr>
                <a:srgbClr val="191919"/>
              </a:buClr>
              <a:buSzPts val="2500"/>
              <a:buFont typeface="Righteous"/>
              <a:buNone/>
              <a:tabLst/>
              <a:defRPr/>
            </a:pPr>
            <a:r>
              <a:rPr lang="en-US" sz="2000" b="1" kern="0" dirty="0">
                <a:solidFill>
                  <a:srgbClr val="191919"/>
                </a:solidFill>
                <a:latin typeface="Candara" panose="020E0502030303020204" pitchFamily="34" charset="0"/>
              </a:rPr>
              <a:t>Resourceful </a:t>
            </a:r>
            <a:endParaRPr kumimoji="0" lang="en-US" sz="20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12" name="Google Shape;246;p33"/>
          <p:cNvSpPr txBox="1">
            <a:spLocks/>
          </p:cNvSpPr>
          <p:nvPr/>
        </p:nvSpPr>
        <p:spPr>
          <a:xfrm>
            <a:off x="6132538" y="2653147"/>
            <a:ext cx="2769091" cy="54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6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9pPr>
          </a:lstStyle>
          <a:p>
            <a:pPr marL="0" lvl="0" indent="0" algn="just">
              <a:buClr>
                <a:srgbClr val="191919"/>
              </a:buClr>
            </a:pPr>
            <a:r>
              <a:rPr lang="en-US" dirty="0">
                <a:latin typeface="Candara" panose="020E0502030303020204" pitchFamily="34" charset="0"/>
                <a:ea typeface="Calibri" panose="020F0502020204030204" pitchFamily="34" charset="0"/>
                <a:cs typeface="Times New Roman" panose="02020603050405020304" pitchFamily="18" charset="0"/>
              </a:rPr>
              <a:t>We always strive to be resourceful in order to generate all the needed expertize to help women in their business activities; and help entities in Malawi create environments where women businesses can prosper</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13" name="Google Shape;234;p33"/>
          <p:cNvSpPr/>
          <p:nvPr/>
        </p:nvSpPr>
        <p:spPr>
          <a:xfrm>
            <a:off x="723875" y="3784175"/>
            <a:ext cx="669600" cy="66960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248;p33"/>
          <p:cNvSpPr txBox="1">
            <a:spLocks/>
          </p:cNvSpPr>
          <p:nvPr/>
        </p:nvSpPr>
        <p:spPr>
          <a:xfrm>
            <a:off x="611650" y="3887806"/>
            <a:ext cx="894000" cy="35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30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2500"/>
              <a:buFont typeface="Righteous"/>
              <a:buNone/>
              <a:tabLst/>
              <a:defRPr/>
            </a:pPr>
            <a:r>
              <a:rPr kumimoji="0" lang="en" sz="3000" b="0" i="0" u="none" strike="noStrike" kern="0" cap="none" spc="0" normalizeH="0" baseline="0" noProof="0" dirty="0">
                <a:ln>
                  <a:noFill/>
                </a:ln>
                <a:solidFill>
                  <a:srgbClr val="FFFFFF"/>
                </a:solidFill>
                <a:effectLst/>
                <a:uLnTx/>
                <a:uFillTx/>
                <a:latin typeface="Candara" panose="020E0502030303020204" pitchFamily="34" charset="0"/>
                <a:sym typeface="Righteous"/>
              </a:rPr>
              <a:t>03</a:t>
            </a:r>
          </a:p>
        </p:txBody>
      </p:sp>
      <p:sp>
        <p:nvSpPr>
          <p:cNvPr id="15" name="Google Shape;239;p33"/>
          <p:cNvSpPr txBox="1">
            <a:spLocks/>
          </p:cNvSpPr>
          <p:nvPr/>
        </p:nvSpPr>
        <p:spPr>
          <a:xfrm>
            <a:off x="1505650" y="3784175"/>
            <a:ext cx="1999500" cy="784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l" defTabSz="914400" rtl="0" eaLnBrk="1" fontAlgn="auto" latinLnBrk="0" hangingPunct="1">
              <a:lnSpc>
                <a:spcPct val="100000"/>
              </a:lnSpc>
              <a:spcBef>
                <a:spcPts val="0"/>
              </a:spcBef>
              <a:spcAft>
                <a:spcPts val="0"/>
              </a:spcAft>
              <a:buClr>
                <a:srgbClr val="191919"/>
              </a:buClr>
              <a:buSzPts val="2500"/>
              <a:buFont typeface="Righteous"/>
              <a:buNone/>
              <a:tabLst/>
              <a:defRPr/>
            </a:pPr>
            <a:r>
              <a:rPr lang="en-US" sz="2000" b="1" kern="0" dirty="0">
                <a:solidFill>
                  <a:srgbClr val="191919"/>
                </a:solidFill>
                <a:latin typeface="Candara" panose="020E0502030303020204" pitchFamily="34" charset="0"/>
              </a:rPr>
              <a:t>Accountable</a:t>
            </a:r>
            <a:endParaRPr kumimoji="0" lang="en-US" sz="20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16" name="Google Shape;240;p33"/>
          <p:cNvSpPr txBox="1">
            <a:spLocks/>
          </p:cNvSpPr>
          <p:nvPr/>
        </p:nvSpPr>
        <p:spPr>
          <a:xfrm>
            <a:off x="1167789" y="4862009"/>
            <a:ext cx="2886418" cy="62439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6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9pPr>
          </a:lstStyle>
          <a:p>
            <a:pPr marL="0" lvl="0" indent="0" algn="just">
              <a:buClr>
                <a:srgbClr val="191919"/>
              </a:buClr>
            </a:pPr>
            <a:r>
              <a:rPr lang="en-US" dirty="0">
                <a:latin typeface="Candara" panose="020E0502030303020204" pitchFamily="34" charset="0"/>
                <a:ea typeface="Calibri" panose="020F0502020204030204" pitchFamily="34" charset="0"/>
                <a:cs typeface="Times New Roman" panose="02020603050405020304" pitchFamily="18" charset="0"/>
              </a:rPr>
              <a:t>We are a membership led organization, and therefore, our members always inform what we do. Our members inform our direction and the strategies we take</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17" name="Google Shape;236;p33"/>
          <p:cNvSpPr/>
          <p:nvPr/>
        </p:nvSpPr>
        <p:spPr>
          <a:xfrm>
            <a:off x="5462938" y="4066058"/>
            <a:ext cx="669600" cy="66960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249;p33"/>
          <p:cNvSpPr txBox="1">
            <a:spLocks/>
          </p:cNvSpPr>
          <p:nvPr/>
        </p:nvSpPr>
        <p:spPr>
          <a:xfrm>
            <a:off x="5339721" y="4246606"/>
            <a:ext cx="894000" cy="35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30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2500"/>
              <a:buFont typeface="Righteous"/>
              <a:buNone/>
              <a:tabLst/>
              <a:defRPr/>
            </a:pPr>
            <a:r>
              <a:rPr kumimoji="0" lang="en" sz="3000" b="0" i="0" u="none" strike="noStrike" kern="0" cap="none" spc="0" normalizeH="0" baseline="0" noProof="0" dirty="0">
                <a:ln>
                  <a:noFill/>
                </a:ln>
                <a:solidFill>
                  <a:srgbClr val="FFFFFF"/>
                </a:solidFill>
                <a:effectLst/>
                <a:uLnTx/>
                <a:uFillTx/>
                <a:latin typeface="Candara" panose="020E0502030303020204" pitchFamily="34" charset="0"/>
                <a:sym typeface="Righteous"/>
              </a:rPr>
              <a:t>04</a:t>
            </a:r>
          </a:p>
        </p:txBody>
      </p:sp>
      <p:sp>
        <p:nvSpPr>
          <p:cNvPr id="19" name="Google Shape;241;p33"/>
          <p:cNvSpPr txBox="1">
            <a:spLocks/>
          </p:cNvSpPr>
          <p:nvPr/>
        </p:nvSpPr>
        <p:spPr>
          <a:xfrm>
            <a:off x="6255755" y="4066058"/>
            <a:ext cx="1999500" cy="784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l" defTabSz="914400" rtl="0" eaLnBrk="1" fontAlgn="auto" latinLnBrk="0" hangingPunct="1">
              <a:lnSpc>
                <a:spcPct val="100000"/>
              </a:lnSpc>
              <a:spcBef>
                <a:spcPts val="0"/>
              </a:spcBef>
              <a:spcAft>
                <a:spcPts val="0"/>
              </a:spcAft>
              <a:buClr>
                <a:srgbClr val="191919"/>
              </a:buClr>
              <a:buSzPts val="2500"/>
              <a:buFont typeface="Righteous"/>
              <a:buNone/>
              <a:tabLst/>
              <a:defRPr/>
            </a:pPr>
            <a:r>
              <a:rPr lang="en-US" sz="2000" b="1" kern="0" dirty="0">
                <a:solidFill>
                  <a:srgbClr val="191919"/>
                </a:solidFill>
                <a:latin typeface="Candara" panose="020E0502030303020204" pitchFamily="34" charset="0"/>
              </a:rPr>
              <a:t>Honesty</a:t>
            </a:r>
            <a:endParaRPr kumimoji="0" lang="en-US" sz="20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20" name="Google Shape;242;p33"/>
          <p:cNvSpPr txBox="1">
            <a:spLocks/>
          </p:cNvSpPr>
          <p:nvPr/>
        </p:nvSpPr>
        <p:spPr>
          <a:xfrm>
            <a:off x="5585551" y="5174204"/>
            <a:ext cx="3095740" cy="54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6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dk1"/>
              </a:buClr>
              <a:buSzPts val="1600"/>
              <a:buFont typeface="Assistant"/>
              <a:buNone/>
              <a:defRPr sz="1600" b="0" i="0" u="none" strike="noStrike" cap="none">
                <a:solidFill>
                  <a:schemeClr val="dk1"/>
                </a:solidFill>
                <a:latin typeface="Assistant"/>
                <a:ea typeface="Assistant"/>
                <a:cs typeface="Assistant"/>
                <a:sym typeface="Assistant"/>
              </a:defRPr>
            </a:lvl9pPr>
          </a:lstStyle>
          <a:p>
            <a:pPr lvl="0" algn="just"/>
            <a:r>
              <a:rPr lang="en-US" dirty="0"/>
              <a:t>       </a:t>
            </a:r>
            <a:r>
              <a:rPr lang="en-US" dirty="0">
                <a:latin typeface="Candara" panose="020E0502030303020204" pitchFamily="34" charset="0"/>
              </a:rPr>
              <a:t>We always strive to be honest in all our undertakings within ourselves as a membership led organization as well as all partners and duty bearers we work with</a:t>
            </a:r>
            <a:r>
              <a:rPr lang="en-US" dirty="0"/>
              <a:t>.</a:t>
            </a:r>
          </a:p>
        </p:txBody>
      </p:sp>
      <p:sp>
        <p:nvSpPr>
          <p:cNvPr id="21" name="Google Shape;518;p41"/>
          <p:cNvSpPr/>
          <p:nvPr/>
        </p:nvSpPr>
        <p:spPr>
          <a:xfrm rot="16200000" flipH="1">
            <a:off x="2006876" y="4211185"/>
            <a:ext cx="681036" cy="4694789"/>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22" name="Google Shape;208;p31"/>
          <p:cNvCxnSpPr/>
          <p:nvPr/>
        </p:nvCxnSpPr>
        <p:spPr>
          <a:xfrm>
            <a:off x="5993176" y="6488936"/>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79132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945879"/>
          </a:xfrm>
        </p:spPr>
        <p:txBody>
          <a:bodyPr>
            <a:normAutofit fontScale="90000"/>
          </a:bodyPr>
          <a:lstStyle/>
          <a:p>
            <a:br>
              <a:rPr lang="en-US" dirty="0"/>
            </a:br>
            <a:r>
              <a:rPr lang="en-US" dirty="0">
                <a:solidFill>
                  <a:srgbClr val="9C2B61"/>
                </a:solidFill>
                <a:latin typeface="Candara" panose="020E0502030303020204" pitchFamily="34" charset="0"/>
              </a:rPr>
              <a:t>Thematic </a:t>
            </a:r>
            <a:r>
              <a:rPr lang="en-US" dirty="0">
                <a:solidFill>
                  <a:srgbClr val="FFB200"/>
                </a:solidFill>
                <a:latin typeface="Candara" panose="020E0502030303020204" pitchFamily="34" charset="0"/>
              </a:rPr>
              <a:t>Areas</a:t>
            </a:r>
            <a:br>
              <a:rPr lang="en-US" dirty="0">
                <a:solidFill>
                  <a:schemeClr val="accent2"/>
                </a:solidFill>
              </a:rPr>
            </a:br>
            <a:endParaRPr lang="en-US" dirty="0">
              <a:solidFill>
                <a:schemeClr val="accent2"/>
              </a:solidFill>
            </a:endParaRPr>
          </a:p>
        </p:txBody>
      </p:sp>
      <p:sp>
        <p:nvSpPr>
          <p:cNvPr id="3" name="Text Placeholder 2"/>
          <p:cNvSpPr>
            <a:spLocks noGrp="1"/>
          </p:cNvSpPr>
          <p:nvPr>
            <p:ph type="body" idx="1"/>
          </p:nvPr>
        </p:nvSpPr>
        <p:spPr>
          <a:xfrm>
            <a:off x="1505693" y="1480138"/>
            <a:ext cx="3104707" cy="823912"/>
          </a:xfrm>
        </p:spPr>
        <p:txBody>
          <a:bodyPr>
            <a:normAutofit/>
          </a:bodyPr>
          <a:lstStyle/>
          <a:p>
            <a:r>
              <a:rPr lang="en-US" dirty="0">
                <a:latin typeface="Candara" panose="020E0502030303020204" pitchFamily="34" charset="0"/>
              </a:rPr>
              <a:t>Economic Empowerment</a:t>
            </a:r>
          </a:p>
        </p:txBody>
      </p:sp>
      <p:sp>
        <p:nvSpPr>
          <p:cNvPr id="5" name="Text Placeholder 4"/>
          <p:cNvSpPr>
            <a:spLocks noGrp="1"/>
          </p:cNvSpPr>
          <p:nvPr>
            <p:ph type="body" sz="quarter" idx="3"/>
          </p:nvPr>
        </p:nvSpPr>
        <p:spPr>
          <a:xfrm>
            <a:off x="1393475" y="1999501"/>
            <a:ext cx="7347220" cy="823912"/>
          </a:xfrm>
        </p:spPr>
        <p:txBody>
          <a:bodyPr>
            <a:normAutofit/>
          </a:bodyPr>
          <a:lstStyle/>
          <a:p>
            <a:pPr algn="just"/>
            <a:r>
              <a:rPr lang="en-US" sz="1400" b="0" dirty="0">
                <a:latin typeface="Candara" panose="020E0502030303020204" pitchFamily="34" charset="0"/>
              </a:rPr>
              <a:t>NABW is committed to enhancing the economic status of women through various programs and initiatives aimed at supporting women entrepreneurs and professionals</a:t>
            </a:r>
          </a:p>
        </p:txBody>
      </p:sp>
      <p:sp>
        <p:nvSpPr>
          <p:cNvPr id="7" name="Google Shape;211;p31"/>
          <p:cNvSpPr/>
          <p:nvPr/>
        </p:nvSpPr>
        <p:spPr>
          <a:xfrm>
            <a:off x="0" y="-6400"/>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9" name="Google Shape;237;p33"/>
          <p:cNvSpPr/>
          <p:nvPr/>
        </p:nvSpPr>
        <p:spPr>
          <a:xfrm>
            <a:off x="723875" y="1789875"/>
            <a:ext cx="669600" cy="669600"/>
          </a:xfrm>
          <a:prstGeom prst="ellipse">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243;p33"/>
          <p:cNvSpPr txBox="1">
            <a:spLocks/>
          </p:cNvSpPr>
          <p:nvPr/>
        </p:nvSpPr>
        <p:spPr>
          <a:xfrm>
            <a:off x="611650" y="1996621"/>
            <a:ext cx="894000" cy="35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ighteous"/>
              <a:buNone/>
              <a:defRPr sz="30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3000"/>
              <a:buFont typeface="Righteous"/>
              <a:buNone/>
              <a:tabLst/>
              <a:defRPr/>
            </a:pPr>
            <a:r>
              <a:rPr kumimoji="0" lang="en" sz="3000" b="0" i="0" u="none" strike="noStrike" kern="0" cap="none" spc="0" normalizeH="0" baseline="0" noProof="0" dirty="0">
                <a:ln>
                  <a:noFill/>
                </a:ln>
                <a:solidFill>
                  <a:srgbClr val="FFFFFF"/>
                </a:solidFill>
                <a:effectLst/>
                <a:uLnTx/>
                <a:uFillTx/>
                <a:latin typeface="Candara" panose="020E0502030303020204" pitchFamily="34" charset="0"/>
                <a:sym typeface="Righteous"/>
              </a:rPr>
              <a:t>01</a:t>
            </a:r>
          </a:p>
        </p:txBody>
      </p:sp>
      <p:sp>
        <p:nvSpPr>
          <p:cNvPr id="11" name="Google Shape;237;p33"/>
          <p:cNvSpPr/>
          <p:nvPr/>
        </p:nvSpPr>
        <p:spPr>
          <a:xfrm>
            <a:off x="761827" y="3298734"/>
            <a:ext cx="763633" cy="77728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237;p33"/>
          <p:cNvSpPr/>
          <p:nvPr/>
        </p:nvSpPr>
        <p:spPr>
          <a:xfrm>
            <a:off x="3988655" y="3283388"/>
            <a:ext cx="807728" cy="781835"/>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237;p33"/>
          <p:cNvSpPr/>
          <p:nvPr/>
        </p:nvSpPr>
        <p:spPr>
          <a:xfrm>
            <a:off x="6987767" y="3283388"/>
            <a:ext cx="846403" cy="781835"/>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Text Placeholder 2"/>
          <p:cNvSpPr txBox="1">
            <a:spLocks/>
          </p:cNvSpPr>
          <p:nvPr/>
        </p:nvSpPr>
        <p:spPr>
          <a:xfrm>
            <a:off x="1307949" y="3484961"/>
            <a:ext cx="2352095"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2000" dirty="0">
              <a:latin typeface="Candara" panose="020E0502030303020204" pitchFamily="34" charset="0"/>
            </a:endParaRPr>
          </a:p>
        </p:txBody>
      </p:sp>
      <p:sp>
        <p:nvSpPr>
          <p:cNvPr id="19" name="Text Placeholder 2"/>
          <p:cNvSpPr txBox="1">
            <a:spLocks/>
          </p:cNvSpPr>
          <p:nvPr/>
        </p:nvSpPr>
        <p:spPr>
          <a:xfrm>
            <a:off x="4545123" y="3557031"/>
            <a:ext cx="1886176"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2000" dirty="0">
              <a:latin typeface="Candara" panose="020E0502030303020204" pitchFamily="34" charset="0"/>
            </a:endParaRPr>
          </a:p>
        </p:txBody>
      </p:sp>
      <p:sp>
        <p:nvSpPr>
          <p:cNvPr id="22" name="Google Shape;337;p37"/>
          <p:cNvSpPr txBox="1">
            <a:spLocks/>
          </p:cNvSpPr>
          <p:nvPr/>
        </p:nvSpPr>
        <p:spPr>
          <a:xfrm>
            <a:off x="60858" y="4393238"/>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defTabSz="914400" rtl="0" eaLnBrk="1" fontAlgn="auto" latinLnBrk="0" hangingPunct="1">
              <a:lnSpc>
                <a:spcPct val="100000"/>
              </a:lnSpc>
              <a:spcBef>
                <a:spcPts val="0"/>
              </a:spcBef>
              <a:spcAft>
                <a:spcPts val="0"/>
              </a:spcAft>
              <a:buClr>
                <a:srgbClr val="191919"/>
              </a:buClr>
              <a:buSzPts val="2500"/>
              <a:buFont typeface="Righteous"/>
              <a:buNone/>
              <a:tabLst/>
              <a:defRPr/>
            </a:pPr>
            <a:r>
              <a:rPr lang="en-US" sz="1800" b="1" kern="0" noProof="0" dirty="0">
                <a:solidFill>
                  <a:srgbClr val="191919"/>
                </a:solidFill>
                <a:latin typeface="Candara" panose="020E0502030303020204" pitchFamily="34" charset="0"/>
              </a:rPr>
              <a:t>Business Mentorship Program</a:t>
            </a:r>
            <a:r>
              <a:rPr lang="en-US" sz="1800" b="1" kern="0" dirty="0">
                <a:solidFill>
                  <a:srgbClr val="191919"/>
                </a:solidFill>
                <a:latin typeface="Candara" panose="020E0502030303020204" pitchFamily="34" charset="0"/>
              </a:rPr>
              <a:t>me</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23" name="Google Shape;338;p37"/>
          <p:cNvSpPr txBox="1">
            <a:spLocks/>
          </p:cNvSpPr>
          <p:nvPr/>
        </p:nvSpPr>
        <p:spPr>
          <a:xfrm>
            <a:off x="60858" y="5301266"/>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r>
              <a:rPr lang="en-US" dirty="0">
                <a:latin typeface="Candara" panose="020E0502030303020204" pitchFamily="34" charset="0"/>
                <a:ea typeface="SimSun" panose="02010600030101010101" pitchFamily="2" charset="-122"/>
                <a:cs typeface="Times New Roman" panose="02020603050405020304" pitchFamily="18" charset="0"/>
              </a:rPr>
              <a:t>Provides resources, mentorship, and funding opportunities for women-owned startups and small businesses</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24" name="Google Shape;337;p37"/>
          <p:cNvSpPr txBox="1">
            <a:spLocks/>
          </p:cNvSpPr>
          <p:nvPr/>
        </p:nvSpPr>
        <p:spPr>
          <a:xfrm>
            <a:off x="3185943" y="4380943"/>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lvl="0">
              <a:buClr>
                <a:srgbClr val="191919"/>
              </a:buClr>
            </a:pPr>
            <a:r>
              <a:rPr lang="en-US" sz="1800" b="1" dirty="0">
                <a:latin typeface="Candara" panose="020E0502030303020204" pitchFamily="34" charset="0"/>
              </a:rPr>
              <a:t>Financial Literacy Workshops</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25" name="Google Shape;337;p37"/>
          <p:cNvSpPr txBox="1">
            <a:spLocks/>
          </p:cNvSpPr>
          <p:nvPr/>
        </p:nvSpPr>
        <p:spPr>
          <a:xfrm>
            <a:off x="6204392" y="4403786"/>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lvl="0">
              <a:buClr>
                <a:srgbClr val="191919"/>
              </a:buClr>
            </a:pPr>
            <a:r>
              <a:rPr lang="en-US" sz="1800" b="1" dirty="0">
                <a:latin typeface="Candara" panose="020E0502030303020204" pitchFamily="34" charset="0"/>
              </a:rPr>
              <a:t>Microfinance Initiative</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26" name="Google Shape;338;p37"/>
          <p:cNvSpPr txBox="1">
            <a:spLocks/>
          </p:cNvSpPr>
          <p:nvPr/>
        </p:nvSpPr>
        <p:spPr>
          <a:xfrm>
            <a:off x="3185943" y="5254532"/>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r>
              <a:rPr lang="en-US" dirty="0">
                <a:latin typeface="Candara" panose="020E0502030303020204" pitchFamily="34" charset="0"/>
                <a:ea typeface="SimSun" panose="02010600030101010101" pitchFamily="2" charset="-122"/>
                <a:cs typeface="Times New Roman" panose="02020603050405020304" pitchFamily="18" charset="0"/>
              </a:rPr>
              <a:t>Offers training sessions on budgeting, investing, and financial planning to help women gain financial independence</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27" name="Google Shape;338;p37"/>
          <p:cNvSpPr txBox="1">
            <a:spLocks/>
          </p:cNvSpPr>
          <p:nvPr/>
        </p:nvSpPr>
        <p:spPr>
          <a:xfrm>
            <a:off x="6270513" y="5258683"/>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r>
              <a:rPr lang="en-US" dirty="0">
                <a:latin typeface="Candara" panose="020E0502030303020204" pitchFamily="34" charset="0"/>
                <a:ea typeface="SimSun" panose="02010600030101010101" pitchFamily="2" charset="-122"/>
                <a:cs typeface="Times New Roman" panose="02020603050405020304" pitchFamily="18" charset="0"/>
              </a:rPr>
              <a:t>Facilitate access to low-interest loans and grants to women entrepreneurs to start or expand their businesses</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grpSp>
        <p:nvGrpSpPr>
          <p:cNvPr id="33" name="Google Shape;9249;p69"/>
          <p:cNvGrpSpPr/>
          <p:nvPr/>
        </p:nvGrpSpPr>
        <p:grpSpPr>
          <a:xfrm>
            <a:off x="7234160" y="3508183"/>
            <a:ext cx="372073" cy="355243"/>
            <a:chOff x="7390435" y="3680868"/>
            <a:chExt cx="372073" cy="355243"/>
          </a:xfrm>
          <a:solidFill>
            <a:schemeClr val="bg1"/>
          </a:solidFill>
        </p:grpSpPr>
        <p:sp>
          <p:nvSpPr>
            <p:cNvPr id="34" name="Google Shape;9250;p69"/>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251;p69"/>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252;p69"/>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9253;p69"/>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254;p69"/>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255;p69"/>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12803;p75"/>
          <p:cNvGrpSpPr/>
          <p:nvPr/>
        </p:nvGrpSpPr>
        <p:grpSpPr>
          <a:xfrm>
            <a:off x="4246929" y="3535397"/>
            <a:ext cx="252444" cy="351722"/>
            <a:chOff x="1394741" y="1512061"/>
            <a:chExt cx="252444" cy="351722"/>
          </a:xfrm>
          <a:solidFill>
            <a:schemeClr val="bg1"/>
          </a:solidFill>
        </p:grpSpPr>
        <p:sp>
          <p:nvSpPr>
            <p:cNvPr id="42" name="Google Shape;12804;p75"/>
            <p:cNvSpPr/>
            <p:nvPr/>
          </p:nvSpPr>
          <p:spPr>
            <a:xfrm>
              <a:off x="1394741" y="1512061"/>
              <a:ext cx="252444" cy="351722"/>
            </a:xfrm>
            <a:custGeom>
              <a:avLst/>
              <a:gdLst/>
              <a:ahLst/>
              <a:cxnLst/>
              <a:rect l="l" t="t" r="r" b="b"/>
              <a:pathLst>
                <a:path w="7931" h="11050" extrusionOk="0">
                  <a:moveTo>
                    <a:pt x="3942" y="334"/>
                  </a:moveTo>
                  <a:cubicBezTo>
                    <a:pt x="4132" y="334"/>
                    <a:pt x="4299" y="429"/>
                    <a:pt x="4406" y="595"/>
                  </a:cubicBezTo>
                  <a:cubicBezTo>
                    <a:pt x="4430" y="643"/>
                    <a:pt x="4490" y="667"/>
                    <a:pt x="4537" y="667"/>
                  </a:cubicBezTo>
                  <a:lnTo>
                    <a:pt x="5144" y="667"/>
                  </a:lnTo>
                  <a:cubicBezTo>
                    <a:pt x="5252" y="667"/>
                    <a:pt x="5323" y="762"/>
                    <a:pt x="5323" y="846"/>
                  </a:cubicBezTo>
                  <a:lnTo>
                    <a:pt x="5323" y="1381"/>
                  </a:lnTo>
                  <a:lnTo>
                    <a:pt x="2549" y="1381"/>
                  </a:lnTo>
                  <a:lnTo>
                    <a:pt x="2549" y="846"/>
                  </a:lnTo>
                  <a:lnTo>
                    <a:pt x="2561" y="846"/>
                  </a:lnTo>
                  <a:cubicBezTo>
                    <a:pt x="2561" y="750"/>
                    <a:pt x="2644" y="667"/>
                    <a:pt x="2739" y="667"/>
                  </a:cubicBezTo>
                  <a:lnTo>
                    <a:pt x="3347" y="667"/>
                  </a:lnTo>
                  <a:cubicBezTo>
                    <a:pt x="3406" y="667"/>
                    <a:pt x="3454" y="643"/>
                    <a:pt x="3478" y="595"/>
                  </a:cubicBezTo>
                  <a:cubicBezTo>
                    <a:pt x="3573" y="429"/>
                    <a:pt x="3751" y="334"/>
                    <a:pt x="3942" y="334"/>
                  </a:cubicBezTo>
                  <a:close/>
                  <a:moveTo>
                    <a:pt x="7228" y="1000"/>
                  </a:moveTo>
                  <a:cubicBezTo>
                    <a:pt x="7430" y="1000"/>
                    <a:pt x="7585" y="1167"/>
                    <a:pt x="7585" y="1357"/>
                  </a:cubicBezTo>
                  <a:lnTo>
                    <a:pt x="7585" y="10347"/>
                  </a:lnTo>
                  <a:cubicBezTo>
                    <a:pt x="7585" y="10537"/>
                    <a:pt x="7430" y="10704"/>
                    <a:pt x="7228" y="10704"/>
                  </a:cubicBezTo>
                  <a:lnTo>
                    <a:pt x="668" y="10704"/>
                  </a:lnTo>
                  <a:cubicBezTo>
                    <a:pt x="477" y="10704"/>
                    <a:pt x="310" y="10537"/>
                    <a:pt x="310" y="10347"/>
                  </a:cubicBezTo>
                  <a:lnTo>
                    <a:pt x="310" y="1357"/>
                  </a:lnTo>
                  <a:cubicBezTo>
                    <a:pt x="310" y="1155"/>
                    <a:pt x="477" y="1000"/>
                    <a:pt x="668" y="1000"/>
                  </a:cubicBezTo>
                  <a:lnTo>
                    <a:pt x="2227" y="1000"/>
                  </a:lnTo>
                  <a:lnTo>
                    <a:pt x="2227" y="1536"/>
                  </a:lnTo>
                  <a:cubicBezTo>
                    <a:pt x="2227" y="1619"/>
                    <a:pt x="2311" y="1703"/>
                    <a:pt x="2394" y="1703"/>
                  </a:cubicBezTo>
                  <a:lnTo>
                    <a:pt x="5502" y="1703"/>
                  </a:lnTo>
                  <a:cubicBezTo>
                    <a:pt x="5597" y="1703"/>
                    <a:pt x="5668" y="1619"/>
                    <a:pt x="5668" y="1536"/>
                  </a:cubicBezTo>
                  <a:lnTo>
                    <a:pt x="5668" y="1000"/>
                  </a:lnTo>
                  <a:close/>
                  <a:moveTo>
                    <a:pt x="3954" y="0"/>
                  </a:moveTo>
                  <a:cubicBezTo>
                    <a:pt x="3692" y="0"/>
                    <a:pt x="3442" y="131"/>
                    <a:pt x="3275" y="345"/>
                  </a:cubicBezTo>
                  <a:lnTo>
                    <a:pt x="2751" y="345"/>
                  </a:lnTo>
                  <a:cubicBezTo>
                    <a:pt x="2525" y="345"/>
                    <a:pt x="2335" y="488"/>
                    <a:pt x="2275" y="691"/>
                  </a:cubicBezTo>
                  <a:lnTo>
                    <a:pt x="680" y="691"/>
                  </a:lnTo>
                  <a:cubicBezTo>
                    <a:pt x="310" y="691"/>
                    <a:pt x="1" y="988"/>
                    <a:pt x="1" y="1369"/>
                  </a:cubicBezTo>
                  <a:lnTo>
                    <a:pt x="1" y="10359"/>
                  </a:lnTo>
                  <a:cubicBezTo>
                    <a:pt x="1" y="10728"/>
                    <a:pt x="299" y="11049"/>
                    <a:pt x="680" y="11049"/>
                  </a:cubicBezTo>
                  <a:lnTo>
                    <a:pt x="7252" y="11049"/>
                  </a:lnTo>
                  <a:cubicBezTo>
                    <a:pt x="7621" y="11049"/>
                    <a:pt x="7930" y="10751"/>
                    <a:pt x="7930" y="10359"/>
                  </a:cubicBezTo>
                  <a:lnTo>
                    <a:pt x="7930" y="1369"/>
                  </a:lnTo>
                  <a:cubicBezTo>
                    <a:pt x="7919" y="1000"/>
                    <a:pt x="7609" y="691"/>
                    <a:pt x="7228" y="691"/>
                  </a:cubicBezTo>
                  <a:lnTo>
                    <a:pt x="5644" y="691"/>
                  </a:lnTo>
                  <a:cubicBezTo>
                    <a:pt x="5561" y="488"/>
                    <a:pt x="5383" y="345"/>
                    <a:pt x="5168" y="345"/>
                  </a:cubicBezTo>
                  <a:lnTo>
                    <a:pt x="4644" y="345"/>
                  </a:lnTo>
                  <a:cubicBezTo>
                    <a:pt x="4478" y="131"/>
                    <a:pt x="4228" y="0"/>
                    <a:pt x="3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2805;p75"/>
            <p:cNvSpPr/>
            <p:nvPr/>
          </p:nvSpPr>
          <p:spPr>
            <a:xfrm>
              <a:off x="1515282" y="1534024"/>
              <a:ext cx="10631" cy="10281"/>
            </a:xfrm>
            <a:custGeom>
              <a:avLst/>
              <a:gdLst/>
              <a:ahLst/>
              <a:cxnLst/>
              <a:rect l="l" t="t" r="r" b="b"/>
              <a:pathLst>
                <a:path w="334" h="323" extrusionOk="0">
                  <a:moveTo>
                    <a:pt x="167" y="1"/>
                  </a:moveTo>
                  <a:cubicBezTo>
                    <a:pt x="83" y="1"/>
                    <a:pt x="0" y="72"/>
                    <a:pt x="0" y="156"/>
                  </a:cubicBezTo>
                  <a:cubicBezTo>
                    <a:pt x="0" y="251"/>
                    <a:pt x="83" y="322"/>
                    <a:pt x="167" y="322"/>
                  </a:cubicBezTo>
                  <a:cubicBezTo>
                    <a:pt x="262" y="322"/>
                    <a:pt x="333" y="251"/>
                    <a:pt x="333" y="156"/>
                  </a:cubicBezTo>
                  <a:cubicBezTo>
                    <a:pt x="322" y="72"/>
                    <a:pt x="262"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2806;p75"/>
            <p:cNvSpPr/>
            <p:nvPr/>
          </p:nvSpPr>
          <p:spPr>
            <a:xfrm>
              <a:off x="1415972" y="1556018"/>
              <a:ext cx="208486" cy="274406"/>
            </a:xfrm>
            <a:custGeom>
              <a:avLst/>
              <a:gdLst/>
              <a:ahLst/>
              <a:cxnLst/>
              <a:rect l="l" t="t" r="r" b="b"/>
              <a:pathLst>
                <a:path w="6550" h="8621" extrusionOk="0">
                  <a:moveTo>
                    <a:pt x="167" y="0"/>
                  </a:moveTo>
                  <a:cubicBezTo>
                    <a:pt x="72" y="0"/>
                    <a:pt x="1" y="84"/>
                    <a:pt x="1" y="167"/>
                  </a:cubicBezTo>
                  <a:lnTo>
                    <a:pt x="1" y="8454"/>
                  </a:lnTo>
                  <a:cubicBezTo>
                    <a:pt x="1" y="8549"/>
                    <a:pt x="72" y="8620"/>
                    <a:pt x="167" y="8620"/>
                  </a:cubicBezTo>
                  <a:lnTo>
                    <a:pt x="6382" y="8620"/>
                  </a:lnTo>
                  <a:cubicBezTo>
                    <a:pt x="6478" y="8620"/>
                    <a:pt x="6549" y="8549"/>
                    <a:pt x="6549" y="8454"/>
                  </a:cubicBezTo>
                  <a:lnTo>
                    <a:pt x="6549" y="167"/>
                  </a:lnTo>
                  <a:cubicBezTo>
                    <a:pt x="6549" y="60"/>
                    <a:pt x="6478" y="0"/>
                    <a:pt x="6382" y="0"/>
                  </a:cubicBezTo>
                  <a:lnTo>
                    <a:pt x="5525" y="0"/>
                  </a:lnTo>
                  <a:cubicBezTo>
                    <a:pt x="5430" y="0"/>
                    <a:pt x="5358" y="84"/>
                    <a:pt x="5358" y="167"/>
                  </a:cubicBezTo>
                  <a:cubicBezTo>
                    <a:pt x="5358" y="262"/>
                    <a:pt x="5430" y="334"/>
                    <a:pt x="5525" y="334"/>
                  </a:cubicBezTo>
                  <a:lnTo>
                    <a:pt x="6228" y="334"/>
                  </a:lnTo>
                  <a:lnTo>
                    <a:pt x="6228" y="8311"/>
                  </a:lnTo>
                  <a:lnTo>
                    <a:pt x="322" y="8311"/>
                  </a:lnTo>
                  <a:lnTo>
                    <a:pt x="322" y="334"/>
                  </a:lnTo>
                  <a:lnTo>
                    <a:pt x="1025" y="334"/>
                  </a:lnTo>
                  <a:cubicBezTo>
                    <a:pt x="1120" y="334"/>
                    <a:pt x="1191" y="262"/>
                    <a:pt x="1191" y="167"/>
                  </a:cubicBezTo>
                  <a:cubicBezTo>
                    <a:pt x="1191" y="84"/>
                    <a:pt x="1120" y="0"/>
                    <a:pt x="102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2807;p75"/>
            <p:cNvSpPr/>
            <p:nvPr/>
          </p:nvSpPr>
          <p:spPr>
            <a:xfrm>
              <a:off x="1449330" y="1665927"/>
              <a:ext cx="31862" cy="32244"/>
            </a:xfrm>
            <a:custGeom>
              <a:avLst/>
              <a:gdLst/>
              <a:ahLst/>
              <a:cxnLst/>
              <a:rect l="l" t="t" r="r" b="b"/>
              <a:pathLst>
                <a:path w="1001" h="1013" extrusionOk="0">
                  <a:moveTo>
                    <a:pt x="500" y="333"/>
                  </a:moveTo>
                  <a:cubicBezTo>
                    <a:pt x="608" y="333"/>
                    <a:pt x="679" y="417"/>
                    <a:pt x="679" y="512"/>
                  </a:cubicBezTo>
                  <a:cubicBezTo>
                    <a:pt x="679" y="595"/>
                    <a:pt x="608" y="691"/>
                    <a:pt x="500" y="691"/>
                  </a:cubicBezTo>
                  <a:cubicBezTo>
                    <a:pt x="393" y="691"/>
                    <a:pt x="322" y="595"/>
                    <a:pt x="322" y="512"/>
                  </a:cubicBezTo>
                  <a:cubicBezTo>
                    <a:pt x="322" y="417"/>
                    <a:pt x="417" y="333"/>
                    <a:pt x="500" y="333"/>
                  </a:cubicBezTo>
                  <a:close/>
                  <a:moveTo>
                    <a:pt x="500" y="0"/>
                  </a:moveTo>
                  <a:cubicBezTo>
                    <a:pt x="215" y="0"/>
                    <a:pt x="0" y="226"/>
                    <a:pt x="0" y="512"/>
                  </a:cubicBezTo>
                  <a:cubicBezTo>
                    <a:pt x="0" y="786"/>
                    <a:pt x="215" y="1012"/>
                    <a:pt x="500" y="1012"/>
                  </a:cubicBezTo>
                  <a:cubicBezTo>
                    <a:pt x="786" y="1012"/>
                    <a:pt x="1001" y="786"/>
                    <a:pt x="1001" y="512"/>
                  </a:cubicBezTo>
                  <a:cubicBezTo>
                    <a:pt x="1001" y="226"/>
                    <a:pt x="786" y="0"/>
                    <a:pt x="5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2808;p75"/>
            <p:cNvSpPr/>
            <p:nvPr/>
          </p:nvSpPr>
          <p:spPr>
            <a:xfrm>
              <a:off x="1449330" y="1715168"/>
              <a:ext cx="31862" cy="32244"/>
            </a:xfrm>
            <a:custGeom>
              <a:avLst/>
              <a:gdLst/>
              <a:ahLst/>
              <a:cxnLst/>
              <a:rect l="l" t="t" r="r" b="b"/>
              <a:pathLst>
                <a:path w="1001" h="1013" extrusionOk="0">
                  <a:moveTo>
                    <a:pt x="500" y="346"/>
                  </a:moveTo>
                  <a:cubicBezTo>
                    <a:pt x="608" y="346"/>
                    <a:pt x="679" y="441"/>
                    <a:pt x="679" y="525"/>
                  </a:cubicBezTo>
                  <a:cubicBezTo>
                    <a:pt x="679" y="608"/>
                    <a:pt x="608" y="703"/>
                    <a:pt x="500" y="703"/>
                  </a:cubicBezTo>
                  <a:cubicBezTo>
                    <a:pt x="393" y="703"/>
                    <a:pt x="322" y="608"/>
                    <a:pt x="322" y="525"/>
                  </a:cubicBezTo>
                  <a:cubicBezTo>
                    <a:pt x="322" y="441"/>
                    <a:pt x="417" y="346"/>
                    <a:pt x="500" y="346"/>
                  </a:cubicBezTo>
                  <a:close/>
                  <a:moveTo>
                    <a:pt x="500" y="1"/>
                  </a:moveTo>
                  <a:cubicBezTo>
                    <a:pt x="215" y="1"/>
                    <a:pt x="0" y="227"/>
                    <a:pt x="0" y="513"/>
                  </a:cubicBezTo>
                  <a:cubicBezTo>
                    <a:pt x="0" y="787"/>
                    <a:pt x="215" y="1013"/>
                    <a:pt x="500" y="1013"/>
                  </a:cubicBezTo>
                  <a:cubicBezTo>
                    <a:pt x="786" y="1013"/>
                    <a:pt x="1001" y="787"/>
                    <a:pt x="1001" y="513"/>
                  </a:cubicBezTo>
                  <a:cubicBezTo>
                    <a:pt x="1001" y="227"/>
                    <a:pt x="786" y="1"/>
                    <a:pt x="50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2809;p75"/>
            <p:cNvSpPr/>
            <p:nvPr/>
          </p:nvSpPr>
          <p:spPr>
            <a:xfrm>
              <a:off x="1449330" y="1765205"/>
              <a:ext cx="31862" cy="31862"/>
            </a:xfrm>
            <a:custGeom>
              <a:avLst/>
              <a:gdLst/>
              <a:ahLst/>
              <a:cxnLst/>
              <a:rect l="l" t="t" r="r" b="b"/>
              <a:pathLst>
                <a:path w="1001" h="1001" extrusionOk="0">
                  <a:moveTo>
                    <a:pt x="500" y="322"/>
                  </a:moveTo>
                  <a:cubicBezTo>
                    <a:pt x="608" y="322"/>
                    <a:pt x="679" y="417"/>
                    <a:pt x="679" y="501"/>
                  </a:cubicBezTo>
                  <a:cubicBezTo>
                    <a:pt x="691" y="608"/>
                    <a:pt x="608" y="679"/>
                    <a:pt x="500" y="679"/>
                  </a:cubicBezTo>
                  <a:cubicBezTo>
                    <a:pt x="393" y="679"/>
                    <a:pt x="322" y="584"/>
                    <a:pt x="322" y="501"/>
                  </a:cubicBezTo>
                  <a:cubicBezTo>
                    <a:pt x="322" y="393"/>
                    <a:pt x="417" y="322"/>
                    <a:pt x="500" y="322"/>
                  </a:cubicBezTo>
                  <a:close/>
                  <a:moveTo>
                    <a:pt x="500" y="1"/>
                  </a:moveTo>
                  <a:cubicBezTo>
                    <a:pt x="215" y="1"/>
                    <a:pt x="0" y="215"/>
                    <a:pt x="0" y="501"/>
                  </a:cubicBezTo>
                  <a:cubicBezTo>
                    <a:pt x="0" y="786"/>
                    <a:pt x="215" y="1001"/>
                    <a:pt x="500" y="1001"/>
                  </a:cubicBezTo>
                  <a:cubicBezTo>
                    <a:pt x="786" y="1001"/>
                    <a:pt x="1001" y="786"/>
                    <a:pt x="1001" y="501"/>
                  </a:cubicBezTo>
                  <a:cubicBezTo>
                    <a:pt x="1001" y="215"/>
                    <a:pt x="786" y="1"/>
                    <a:pt x="50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2810;p75"/>
            <p:cNvSpPr/>
            <p:nvPr/>
          </p:nvSpPr>
          <p:spPr>
            <a:xfrm>
              <a:off x="1493287" y="1665927"/>
              <a:ext cx="59522" cy="10631"/>
            </a:xfrm>
            <a:custGeom>
              <a:avLst/>
              <a:gdLst/>
              <a:ahLst/>
              <a:cxnLst/>
              <a:rect l="l" t="t" r="r" b="b"/>
              <a:pathLst>
                <a:path w="1870" h="334" extrusionOk="0">
                  <a:moveTo>
                    <a:pt x="167" y="0"/>
                  </a:moveTo>
                  <a:cubicBezTo>
                    <a:pt x="72" y="0"/>
                    <a:pt x="1" y="72"/>
                    <a:pt x="1" y="167"/>
                  </a:cubicBezTo>
                  <a:cubicBezTo>
                    <a:pt x="1" y="262"/>
                    <a:pt x="72" y="333"/>
                    <a:pt x="167" y="333"/>
                  </a:cubicBezTo>
                  <a:lnTo>
                    <a:pt x="1703" y="333"/>
                  </a:lnTo>
                  <a:cubicBezTo>
                    <a:pt x="1798" y="333"/>
                    <a:pt x="1870" y="262"/>
                    <a:pt x="1870" y="167"/>
                  </a:cubicBezTo>
                  <a:cubicBezTo>
                    <a:pt x="1870" y="72"/>
                    <a:pt x="1798" y="0"/>
                    <a:pt x="1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2811;p75"/>
            <p:cNvSpPr/>
            <p:nvPr/>
          </p:nvSpPr>
          <p:spPr>
            <a:xfrm>
              <a:off x="1493287" y="1687890"/>
              <a:ext cx="98578" cy="10281"/>
            </a:xfrm>
            <a:custGeom>
              <a:avLst/>
              <a:gdLst/>
              <a:ahLst/>
              <a:cxnLst/>
              <a:rect l="l" t="t" r="r" b="b"/>
              <a:pathLst>
                <a:path w="3097" h="323" extrusionOk="0">
                  <a:moveTo>
                    <a:pt x="167" y="1"/>
                  </a:moveTo>
                  <a:cubicBezTo>
                    <a:pt x="72" y="1"/>
                    <a:pt x="1" y="72"/>
                    <a:pt x="1" y="167"/>
                  </a:cubicBezTo>
                  <a:cubicBezTo>
                    <a:pt x="1" y="251"/>
                    <a:pt x="72" y="322"/>
                    <a:pt x="167" y="322"/>
                  </a:cubicBezTo>
                  <a:lnTo>
                    <a:pt x="2929" y="322"/>
                  </a:lnTo>
                  <a:cubicBezTo>
                    <a:pt x="3025" y="322"/>
                    <a:pt x="3096" y="251"/>
                    <a:pt x="3096" y="167"/>
                  </a:cubicBezTo>
                  <a:cubicBezTo>
                    <a:pt x="3096" y="72"/>
                    <a:pt x="3025" y="1"/>
                    <a:pt x="29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2812;p75"/>
            <p:cNvSpPr/>
            <p:nvPr/>
          </p:nvSpPr>
          <p:spPr>
            <a:xfrm>
              <a:off x="1493287" y="1715168"/>
              <a:ext cx="59522" cy="10663"/>
            </a:xfrm>
            <a:custGeom>
              <a:avLst/>
              <a:gdLst/>
              <a:ahLst/>
              <a:cxnLst/>
              <a:rect l="l" t="t" r="r" b="b"/>
              <a:pathLst>
                <a:path w="1870" h="335" extrusionOk="0">
                  <a:moveTo>
                    <a:pt x="167" y="1"/>
                  </a:moveTo>
                  <a:cubicBezTo>
                    <a:pt x="72" y="1"/>
                    <a:pt x="1" y="84"/>
                    <a:pt x="1" y="168"/>
                  </a:cubicBezTo>
                  <a:cubicBezTo>
                    <a:pt x="1" y="263"/>
                    <a:pt x="72" y="334"/>
                    <a:pt x="167" y="334"/>
                  </a:cubicBezTo>
                  <a:lnTo>
                    <a:pt x="1703" y="334"/>
                  </a:lnTo>
                  <a:cubicBezTo>
                    <a:pt x="1798" y="334"/>
                    <a:pt x="1870" y="263"/>
                    <a:pt x="1870" y="168"/>
                  </a:cubicBezTo>
                  <a:cubicBezTo>
                    <a:pt x="1870" y="84"/>
                    <a:pt x="1798" y="1"/>
                    <a:pt x="170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2813;p75"/>
            <p:cNvSpPr/>
            <p:nvPr/>
          </p:nvSpPr>
          <p:spPr>
            <a:xfrm>
              <a:off x="1493287" y="1737545"/>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2814;p75"/>
            <p:cNvSpPr/>
            <p:nvPr/>
          </p:nvSpPr>
          <p:spPr>
            <a:xfrm>
              <a:off x="1493287" y="1765205"/>
              <a:ext cx="59522" cy="10249"/>
            </a:xfrm>
            <a:custGeom>
              <a:avLst/>
              <a:gdLst/>
              <a:ahLst/>
              <a:cxnLst/>
              <a:rect l="l" t="t" r="r" b="b"/>
              <a:pathLst>
                <a:path w="1870" h="322" extrusionOk="0">
                  <a:moveTo>
                    <a:pt x="167" y="1"/>
                  </a:moveTo>
                  <a:cubicBezTo>
                    <a:pt x="72" y="1"/>
                    <a:pt x="1" y="72"/>
                    <a:pt x="1" y="155"/>
                  </a:cubicBezTo>
                  <a:cubicBezTo>
                    <a:pt x="1" y="251"/>
                    <a:pt x="72" y="322"/>
                    <a:pt x="167" y="322"/>
                  </a:cubicBezTo>
                  <a:lnTo>
                    <a:pt x="1703" y="322"/>
                  </a:lnTo>
                  <a:cubicBezTo>
                    <a:pt x="1798" y="322"/>
                    <a:pt x="1870" y="251"/>
                    <a:pt x="1870" y="155"/>
                  </a:cubicBezTo>
                  <a:cubicBezTo>
                    <a:pt x="1870" y="72"/>
                    <a:pt x="1798" y="1"/>
                    <a:pt x="170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2815;p75"/>
            <p:cNvSpPr/>
            <p:nvPr/>
          </p:nvSpPr>
          <p:spPr>
            <a:xfrm>
              <a:off x="1493287" y="1786818"/>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2816;p75"/>
            <p:cNvSpPr/>
            <p:nvPr/>
          </p:nvSpPr>
          <p:spPr>
            <a:xfrm>
              <a:off x="1493287" y="1583679"/>
              <a:ext cx="98578" cy="10249"/>
            </a:xfrm>
            <a:custGeom>
              <a:avLst/>
              <a:gdLst/>
              <a:ahLst/>
              <a:cxnLst/>
              <a:rect l="l" t="t" r="r" b="b"/>
              <a:pathLst>
                <a:path w="3097" h="322" extrusionOk="0">
                  <a:moveTo>
                    <a:pt x="167" y="0"/>
                  </a:moveTo>
                  <a:cubicBezTo>
                    <a:pt x="72" y="0"/>
                    <a:pt x="1" y="72"/>
                    <a:pt x="1" y="167"/>
                  </a:cubicBezTo>
                  <a:cubicBezTo>
                    <a:pt x="1" y="250"/>
                    <a:pt x="72" y="322"/>
                    <a:pt x="167" y="322"/>
                  </a:cubicBezTo>
                  <a:lnTo>
                    <a:pt x="2929" y="322"/>
                  </a:lnTo>
                  <a:cubicBezTo>
                    <a:pt x="3025" y="322"/>
                    <a:pt x="3096" y="250"/>
                    <a:pt x="3096" y="167"/>
                  </a:cubicBezTo>
                  <a:cubicBezTo>
                    <a:pt x="3096" y="72"/>
                    <a:pt x="3025" y="0"/>
                    <a:pt x="29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2817;p75"/>
            <p:cNvSpPr/>
            <p:nvPr/>
          </p:nvSpPr>
          <p:spPr>
            <a:xfrm>
              <a:off x="1449330" y="1632951"/>
              <a:ext cx="142535" cy="10249"/>
            </a:xfrm>
            <a:custGeom>
              <a:avLst/>
              <a:gdLst/>
              <a:ahLst/>
              <a:cxnLst/>
              <a:rect l="l" t="t" r="r" b="b"/>
              <a:pathLst>
                <a:path w="4478" h="322" extrusionOk="0">
                  <a:moveTo>
                    <a:pt x="155" y="0"/>
                  </a:moveTo>
                  <a:cubicBezTo>
                    <a:pt x="72" y="0"/>
                    <a:pt x="0" y="72"/>
                    <a:pt x="0" y="167"/>
                  </a:cubicBezTo>
                  <a:cubicBezTo>
                    <a:pt x="0" y="250"/>
                    <a:pt x="72" y="322"/>
                    <a:pt x="155" y="322"/>
                  </a:cubicBezTo>
                  <a:lnTo>
                    <a:pt x="4310" y="322"/>
                  </a:lnTo>
                  <a:cubicBezTo>
                    <a:pt x="4406" y="322"/>
                    <a:pt x="4477" y="250"/>
                    <a:pt x="4477" y="167"/>
                  </a:cubicBezTo>
                  <a:cubicBezTo>
                    <a:pt x="4477" y="72"/>
                    <a:pt x="4406" y="0"/>
                    <a:pt x="431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2818;p75"/>
            <p:cNvSpPr/>
            <p:nvPr/>
          </p:nvSpPr>
          <p:spPr>
            <a:xfrm>
              <a:off x="1493287" y="1605291"/>
              <a:ext cx="26928" cy="10631"/>
            </a:xfrm>
            <a:custGeom>
              <a:avLst/>
              <a:gdLst/>
              <a:ahLst/>
              <a:cxnLst/>
              <a:rect l="l" t="t" r="r" b="b"/>
              <a:pathLst>
                <a:path w="846" h="334" extrusionOk="0">
                  <a:moveTo>
                    <a:pt x="167" y="0"/>
                  </a:moveTo>
                  <a:cubicBezTo>
                    <a:pt x="72" y="0"/>
                    <a:pt x="1" y="83"/>
                    <a:pt x="1" y="167"/>
                  </a:cubicBezTo>
                  <a:cubicBezTo>
                    <a:pt x="1" y="262"/>
                    <a:pt x="72" y="333"/>
                    <a:pt x="167" y="333"/>
                  </a:cubicBezTo>
                  <a:lnTo>
                    <a:pt x="679" y="333"/>
                  </a:lnTo>
                  <a:cubicBezTo>
                    <a:pt x="774" y="333"/>
                    <a:pt x="846" y="262"/>
                    <a:pt x="846" y="167"/>
                  </a:cubicBezTo>
                  <a:cubicBezTo>
                    <a:pt x="846" y="83"/>
                    <a:pt x="774" y="0"/>
                    <a:pt x="6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2819;p75"/>
            <p:cNvSpPr/>
            <p:nvPr/>
          </p:nvSpPr>
          <p:spPr>
            <a:xfrm>
              <a:off x="1531579" y="1605291"/>
              <a:ext cx="26928" cy="10631"/>
            </a:xfrm>
            <a:custGeom>
              <a:avLst/>
              <a:gdLst/>
              <a:ahLst/>
              <a:cxnLst/>
              <a:rect l="l" t="t" r="r" b="b"/>
              <a:pathLst>
                <a:path w="846" h="334" extrusionOk="0">
                  <a:moveTo>
                    <a:pt x="167" y="0"/>
                  </a:moveTo>
                  <a:cubicBezTo>
                    <a:pt x="71" y="0"/>
                    <a:pt x="0" y="83"/>
                    <a:pt x="0" y="167"/>
                  </a:cubicBezTo>
                  <a:cubicBezTo>
                    <a:pt x="0" y="262"/>
                    <a:pt x="71" y="333"/>
                    <a:pt x="167" y="333"/>
                  </a:cubicBezTo>
                  <a:lnTo>
                    <a:pt x="691" y="333"/>
                  </a:lnTo>
                  <a:cubicBezTo>
                    <a:pt x="774" y="333"/>
                    <a:pt x="845" y="262"/>
                    <a:pt x="845" y="167"/>
                  </a:cubicBezTo>
                  <a:cubicBezTo>
                    <a:pt x="845" y="83"/>
                    <a:pt x="774" y="0"/>
                    <a:pt x="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2820;p75"/>
            <p:cNvSpPr/>
            <p:nvPr/>
          </p:nvSpPr>
          <p:spPr>
            <a:xfrm>
              <a:off x="1449712" y="1583679"/>
              <a:ext cx="32244" cy="32244"/>
            </a:xfrm>
            <a:custGeom>
              <a:avLst/>
              <a:gdLst/>
              <a:ahLst/>
              <a:cxnLst/>
              <a:rect l="l" t="t" r="r" b="b"/>
              <a:pathLst>
                <a:path w="1013" h="1013" extrusionOk="0">
                  <a:moveTo>
                    <a:pt x="679" y="310"/>
                  </a:moveTo>
                  <a:lnTo>
                    <a:pt x="679" y="679"/>
                  </a:lnTo>
                  <a:lnTo>
                    <a:pt x="310" y="679"/>
                  </a:lnTo>
                  <a:lnTo>
                    <a:pt x="310" y="310"/>
                  </a:lnTo>
                  <a:close/>
                  <a:moveTo>
                    <a:pt x="155" y="0"/>
                  </a:moveTo>
                  <a:cubicBezTo>
                    <a:pt x="72" y="0"/>
                    <a:pt x="0" y="72"/>
                    <a:pt x="0" y="167"/>
                  </a:cubicBezTo>
                  <a:lnTo>
                    <a:pt x="0" y="846"/>
                  </a:lnTo>
                  <a:cubicBezTo>
                    <a:pt x="0" y="941"/>
                    <a:pt x="72" y="1012"/>
                    <a:pt x="155" y="1012"/>
                  </a:cubicBezTo>
                  <a:lnTo>
                    <a:pt x="846" y="1012"/>
                  </a:lnTo>
                  <a:cubicBezTo>
                    <a:pt x="941" y="1012"/>
                    <a:pt x="1012" y="941"/>
                    <a:pt x="1012" y="846"/>
                  </a:cubicBezTo>
                  <a:lnTo>
                    <a:pt x="1012" y="167"/>
                  </a:lnTo>
                  <a:cubicBezTo>
                    <a:pt x="989" y="60"/>
                    <a:pt x="941" y="0"/>
                    <a:pt x="8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12440;p75"/>
          <p:cNvGrpSpPr/>
          <p:nvPr/>
        </p:nvGrpSpPr>
        <p:grpSpPr>
          <a:xfrm>
            <a:off x="985120" y="3540681"/>
            <a:ext cx="286152" cy="346438"/>
            <a:chOff x="1836637" y="2891510"/>
            <a:chExt cx="286152" cy="346438"/>
          </a:xfrm>
          <a:solidFill>
            <a:schemeClr val="bg1"/>
          </a:solidFill>
        </p:grpSpPr>
        <p:sp>
          <p:nvSpPr>
            <p:cNvPr id="60" name="Google Shape;12441;p75"/>
            <p:cNvSpPr/>
            <p:nvPr/>
          </p:nvSpPr>
          <p:spPr>
            <a:xfrm>
              <a:off x="1836637" y="3059413"/>
              <a:ext cx="286152" cy="178534"/>
            </a:xfrm>
            <a:custGeom>
              <a:avLst/>
              <a:gdLst/>
              <a:ahLst/>
              <a:cxnLst/>
              <a:rect l="l" t="t" r="r" b="b"/>
              <a:pathLst>
                <a:path w="8990" h="5609" extrusionOk="0">
                  <a:moveTo>
                    <a:pt x="3072" y="322"/>
                  </a:moveTo>
                  <a:cubicBezTo>
                    <a:pt x="3156" y="322"/>
                    <a:pt x="3251" y="357"/>
                    <a:pt x="3322" y="429"/>
                  </a:cubicBezTo>
                  <a:cubicBezTo>
                    <a:pt x="3382" y="488"/>
                    <a:pt x="3430" y="572"/>
                    <a:pt x="3430" y="679"/>
                  </a:cubicBezTo>
                  <a:lnTo>
                    <a:pt x="3430" y="1108"/>
                  </a:lnTo>
                  <a:cubicBezTo>
                    <a:pt x="3406" y="1286"/>
                    <a:pt x="3311" y="1453"/>
                    <a:pt x="3144" y="1560"/>
                  </a:cubicBezTo>
                  <a:cubicBezTo>
                    <a:pt x="3096" y="1584"/>
                    <a:pt x="3072" y="1631"/>
                    <a:pt x="3072" y="1691"/>
                  </a:cubicBezTo>
                  <a:lnTo>
                    <a:pt x="3072" y="1870"/>
                  </a:lnTo>
                  <a:lnTo>
                    <a:pt x="2715" y="1870"/>
                  </a:lnTo>
                  <a:lnTo>
                    <a:pt x="2715" y="1691"/>
                  </a:lnTo>
                  <a:cubicBezTo>
                    <a:pt x="2715" y="1631"/>
                    <a:pt x="2679" y="1584"/>
                    <a:pt x="2632" y="1560"/>
                  </a:cubicBezTo>
                  <a:cubicBezTo>
                    <a:pt x="2477" y="1465"/>
                    <a:pt x="2370" y="1286"/>
                    <a:pt x="2370" y="1108"/>
                  </a:cubicBezTo>
                  <a:lnTo>
                    <a:pt x="2370" y="679"/>
                  </a:lnTo>
                  <a:cubicBezTo>
                    <a:pt x="2370" y="488"/>
                    <a:pt x="2537" y="322"/>
                    <a:pt x="2727" y="322"/>
                  </a:cubicBezTo>
                  <a:close/>
                  <a:moveTo>
                    <a:pt x="6132" y="322"/>
                  </a:moveTo>
                  <a:cubicBezTo>
                    <a:pt x="6228" y="322"/>
                    <a:pt x="6311" y="357"/>
                    <a:pt x="6382" y="429"/>
                  </a:cubicBezTo>
                  <a:cubicBezTo>
                    <a:pt x="6442" y="488"/>
                    <a:pt x="6489" y="572"/>
                    <a:pt x="6489" y="679"/>
                  </a:cubicBezTo>
                  <a:lnTo>
                    <a:pt x="6489" y="1108"/>
                  </a:lnTo>
                  <a:cubicBezTo>
                    <a:pt x="6478" y="1286"/>
                    <a:pt x="6370" y="1453"/>
                    <a:pt x="6204" y="1560"/>
                  </a:cubicBezTo>
                  <a:cubicBezTo>
                    <a:pt x="6168" y="1584"/>
                    <a:pt x="6132" y="1631"/>
                    <a:pt x="6132" y="1691"/>
                  </a:cubicBezTo>
                  <a:lnTo>
                    <a:pt x="6132" y="1870"/>
                  </a:lnTo>
                  <a:lnTo>
                    <a:pt x="5775" y="1870"/>
                  </a:lnTo>
                  <a:lnTo>
                    <a:pt x="5775" y="1691"/>
                  </a:lnTo>
                  <a:cubicBezTo>
                    <a:pt x="5775" y="1631"/>
                    <a:pt x="5751" y="1584"/>
                    <a:pt x="5704" y="1560"/>
                  </a:cubicBezTo>
                  <a:cubicBezTo>
                    <a:pt x="5537" y="1465"/>
                    <a:pt x="5430" y="1286"/>
                    <a:pt x="5430" y="1108"/>
                  </a:cubicBezTo>
                  <a:lnTo>
                    <a:pt x="5430" y="679"/>
                  </a:lnTo>
                  <a:cubicBezTo>
                    <a:pt x="5430" y="488"/>
                    <a:pt x="5597" y="322"/>
                    <a:pt x="5787" y="322"/>
                  </a:cubicBezTo>
                  <a:close/>
                  <a:moveTo>
                    <a:pt x="1536" y="2024"/>
                  </a:moveTo>
                  <a:cubicBezTo>
                    <a:pt x="1620" y="2024"/>
                    <a:pt x="1715" y="2048"/>
                    <a:pt x="1787" y="2120"/>
                  </a:cubicBezTo>
                  <a:cubicBezTo>
                    <a:pt x="1846" y="2179"/>
                    <a:pt x="1894" y="2274"/>
                    <a:pt x="1894" y="2382"/>
                  </a:cubicBezTo>
                  <a:lnTo>
                    <a:pt x="1894" y="2810"/>
                  </a:lnTo>
                  <a:lnTo>
                    <a:pt x="1882" y="2810"/>
                  </a:lnTo>
                  <a:cubicBezTo>
                    <a:pt x="1882" y="2989"/>
                    <a:pt x="1775" y="3167"/>
                    <a:pt x="1608" y="3251"/>
                  </a:cubicBezTo>
                  <a:cubicBezTo>
                    <a:pt x="1560" y="3286"/>
                    <a:pt x="1536" y="3334"/>
                    <a:pt x="1536" y="3382"/>
                  </a:cubicBezTo>
                  <a:lnTo>
                    <a:pt x="1536" y="3572"/>
                  </a:lnTo>
                  <a:lnTo>
                    <a:pt x="1179" y="3572"/>
                  </a:lnTo>
                  <a:lnTo>
                    <a:pt x="1179" y="3382"/>
                  </a:lnTo>
                  <a:cubicBezTo>
                    <a:pt x="1179" y="3334"/>
                    <a:pt x="1144" y="3286"/>
                    <a:pt x="1108" y="3251"/>
                  </a:cubicBezTo>
                  <a:cubicBezTo>
                    <a:pt x="941" y="3167"/>
                    <a:pt x="834" y="2989"/>
                    <a:pt x="834" y="2810"/>
                  </a:cubicBezTo>
                  <a:lnTo>
                    <a:pt x="834" y="2382"/>
                  </a:lnTo>
                  <a:cubicBezTo>
                    <a:pt x="834" y="2179"/>
                    <a:pt x="1001" y="2024"/>
                    <a:pt x="1191" y="2024"/>
                  </a:cubicBezTo>
                  <a:close/>
                  <a:moveTo>
                    <a:pt x="4596" y="2024"/>
                  </a:moveTo>
                  <a:cubicBezTo>
                    <a:pt x="4692" y="2024"/>
                    <a:pt x="4775" y="2048"/>
                    <a:pt x="4858" y="2120"/>
                  </a:cubicBezTo>
                  <a:cubicBezTo>
                    <a:pt x="4918" y="2179"/>
                    <a:pt x="4954" y="2274"/>
                    <a:pt x="4954" y="2382"/>
                  </a:cubicBezTo>
                  <a:lnTo>
                    <a:pt x="4954" y="2810"/>
                  </a:lnTo>
                  <a:cubicBezTo>
                    <a:pt x="4942" y="3001"/>
                    <a:pt x="4835" y="3167"/>
                    <a:pt x="4680" y="3251"/>
                  </a:cubicBezTo>
                  <a:cubicBezTo>
                    <a:pt x="4632" y="3286"/>
                    <a:pt x="4596" y="3334"/>
                    <a:pt x="4596" y="3382"/>
                  </a:cubicBezTo>
                  <a:lnTo>
                    <a:pt x="4596" y="3572"/>
                  </a:lnTo>
                  <a:lnTo>
                    <a:pt x="4239" y="3572"/>
                  </a:lnTo>
                  <a:lnTo>
                    <a:pt x="4239" y="3382"/>
                  </a:lnTo>
                  <a:cubicBezTo>
                    <a:pt x="4239" y="3334"/>
                    <a:pt x="4215" y="3286"/>
                    <a:pt x="4168" y="3251"/>
                  </a:cubicBezTo>
                  <a:cubicBezTo>
                    <a:pt x="4001" y="3167"/>
                    <a:pt x="3906" y="2989"/>
                    <a:pt x="3906" y="2810"/>
                  </a:cubicBezTo>
                  <a:lnTo>
                    <a:pt x="3906" y="2382"/>
                  </a:lnTo>
                  <a:cubicBezTo>
                    <a:pt x="3906" y="2179"/>
                    <a:pt x="4061" y="2024"/>
                    <a:pt x="4263" y="2024"/>
                  </a:cubicBezTo>
                  <a:close/>
                  <a:moveTo>
                    <a:pt x="7668" y="2024"/>
                  </a:moveTo>
                  <a:cubicBezTo>
                    <a:pt x="7752" y="2024"/>
                    <a:pt x="7847" y="2048"/>
                    <a:pt x="7918" y="2120"/>
                  </a:cubicBezTo>
                  <a:cubicBezTo>
                    <a:pt x="7978" y="2179"/>
                    <a:pt x="8025" y="2274"/>
                    <a:pt x="8025" y="2382"/>
                  </a:cubicBezTo>
                  <a:lnTo>
                    <a:pt x="8025" y="2810"/>
                  </a:lnTo>
                  <a:cubicBezTo>
                    <a:pt x="8013" y="3001"/>
                    <a:pt x="7906" y="3167"/>
                    <a:pt x="7740" y="3251"/>
                  </a:cubicBezTo>
                  <a:cubicBezTo>
                    <a:pt x="7692" y="3286"/>
                    <a:pt x="7668" y="3334"/>
                    <a:pt x="7668" y="3382"/>
                  </a:cubicBezTo>
                  <a:lnTo>
                    <a:pt x="7668" y="3572"/>
                  </a:lnTo>
                  <a:lnTo>
                    <a:pt x="7311" y="3572"/>
                  </a:lnTo>
                  <a:lnTo>
                    <a:pt x="7311" y="3382"/>
                  </a:lnTo>
                  <a:cubicBezTo>
                    <a:pt x="7311" y="3334"/>
                    <a:pt x="7275" y="3286"/>
                    <a:pt x="7240" y="3251"/>
                  </a:cubicBezTo>
                  <a:cubicBezTo>
                    <a:pt x="7073" y="3167"/>
                    <a:pt x="6966" y="2989"/>
                    <a:pt x="6966" y="2810"/>
                  </a:cubicBezTo>
                  <a:lnTo>
                    <a:pt x="6966" y="2382"/>
                  </a:lnTo>
                  <a:cubicBezTo>
                    <a:pt x="6966" y="2179"/>
                    <a:pt x="7132" y="2024"/>
                    <a:pt x="7323" y="2024"/>
                  </a:cubicBezTo>
                  <a:close/>
                  <a:moveTo>
                    <a:pt x="2715" y="0"/>
                  </a:moveTo>
                  <a:cubicBezTo>
                    <a:pt x="2334" y="0"/>
                    <a:pt x="2037" y="298"/>
                    <a:pt x="2037" y="667"/>
                  </a:cubicBezTo>
                  <a:lnTo>
                    <a:pt x="2037" y="1096"/>
                  </a:lnTo>
                  <a:cubicBezTo>
                    <a:pt x="2037" y="1370"/>
                    <a:pt x="2179" y="1620"/>
                    <a:pt x="2382" y="1762"/>
                  </a:cubicBezTo>
                  <a:lnTo>
                    <a:pt x="2382" y="1917"/>
                  </a:lnTo>
                  <a:lnTo>
                    <a:pt x="2096" y="2036"/>
                  </a:lnTo>
                  <a:cubicBezTo>
                    <a:pt x="2072" y="1989"/>
                    <a:pt x="2037" y="1941"/>
                    <a:pt x="2001" y="1905"/>
                  </a:cubicBezTo>
                  <a:cubicBezTo>
                    <a:pt x="1858" y="1786"/>
                    <a:pt x="1703" y="1703"/>
                    <a:pt x="1525" y="1703"/>
                  </a:cubicBezTo>
                  <a:lnTo>
                    <a:pt x="1179" y="1703"/>
                  </a:lnTo>
                  <a:cubicBezTo>
                    <a:pt x="810" y="1703"/>
                    <a:pt x="513" y="2001"/>
                    <a:pt x="513" y="2382"/>
                  </a:cubicBezTo>
                  <a:lnTo>
                    <a:pt x="513" y="2810"/>
                  </a:lnTo>
                  <a:cubicBezTo>
                    <a:pt x="513" y="3072"/>
                    <a:pt x="644" y="3334"/>
                    <a:pt x="846" y="3477"/>
                  </a:cubicBezTo>
                  <a:lnTo>
                    <a:pt x="846" y="3632"/>
                  </a:lnTo>
                  <a:lnTo>
                    <a:pt x="417" y="3810"/>
                  </a:lnTo>
                  <a:cubicBezTo>
                    <a:pt x="167" y="3906"/>
                    <a:pt x="1" y="4144"/>
                    <a:pt x="1" y="4429"/>
                  </a:cubicBezTo>
                  <a:lnTo>
                    <a:pt x="1" y="5441"/>
                  </a:lnTo>
                  <a:cubicBezTo>
                    <a:pt x="1" y="5537"/>
                    <a:pt x="72" y="5608"/>
                    <a:pt x="167" y="5608"/>
                  </a:cubicBezTo>
                  <a:cubicBezTo>
                    <a:pt x="251" y="5608"/>
                    <a:pt x="334" y="5537"/>
                    <a:pt x="334" y="5441"/>
                  </a:cubicBezTo>
                  <a:lnTo>
                    <a:pt x="334" y="4429"/>
                  </a:lnTo>
                  <a:cubicBezTo>
                    <a:pt x="334" y="4287"/>
                    <a:pt x="417" y="4167"/>
                    <a:pt x="548" y="4108"/>
                  </a:cubicBezTo>
                  <a:lnTo>
                    <a:pt x="1060" y="3906"/>
                  </a:lnTo>
                  <a:lnTo>
                    <a:pt x="1679" y="3906"/>
                  </a:lnTo>
                  <a:lnTo>
                    <a:pt x="2191" y="4108"/>
                  </a:lnTo>
                  <a:cubicBezTo>
                    <a:pt x="2322" y="4167"/>
                    <a:pt x="2418" y="4287"/>
                    <a:pt x="2418" y="4429"/>
                  </a:cubicBezTo>
                  <a:lnTo>
                    <a:pt x="2418" y="5441"/>
                  </a:lnTo>
                  <a:cubicBezTo>
                    <a:pt x="2418" y="5537"/>
                    <a:pt x="2489" y="5608"/>
                    <a:pt x="2572" y="5608"/>
                  </a:cubicBezTo>
                  <a:cubicBezTo>
                    <a:pt x="2668" y="5608"/>
                    <a:pt x="2739" y="5537"/>
                    <a:pt x="2739" y="5441"/>
                  </a:cubicBezTo>
                  <a:lnTo>
                    <a:pt x="2739" y="4429"/>
                  </a:lnTo>
                  <a:cubicBezTo>
                    <a:pt x="2739" y="4144"/>
                    <a:pt x="2572" y="3906"/>
                    <a:pt x="2322" y="3810"/>
                  </a:cubicBezTo>
                  <a:lnTo>
                    <a:pt x="1894" y="3632"/>
                  </a:lnTo>
                  <a:lnTo>
                    <a:pt x="1894" y="3477"/>
                  </a:lnTo>
                  <a:cubicBezTo>
                    <a:pt x="2096" y="3310"/>
                    <a:pt x="2239" y="3072"/>
                    <a:pt x="2239" y="2810"/>
                  </a:cubicBezTo>
                  <a:lnTo>
                    <a:pt x="2239" y="2382"/>
                  </a:lnTo>
                  <a:lnTo>
                    <a:pt x="2239" y="2346"/>
                  </a:lnTo>
                  <a:lnTo>
                    <a:pt x="2620" y="2191"/>
                  </a:lnTo>
                  <a:lnTo>
                    <a:pt x="3251" y="2191"/>
                  </a:lnTo>
                  <a:lnTo>
                    <a:pt x="3632" y="2346"/>
                  </a:lnTo>
                  <a:lnTo>
                    <a:pt x="3632" y="2382"/>
                  </a:lnTo>
                  <a:lnTo>
                    <a:pt x="3632" y="2810"/>
                  </a:lnTo>
                  <a:cubicBezTo>
                    <a:pt x="3632" y="3072"/>
                    <a:pt x="3763" y="3334"/>
                    <a:pt x="3977" y="3477"/>
                  </a:cubicBezTo>
                  <a:lnTo>
                    <a:pt x="3977" y="3632"/>
                  </a:lnTo>
                  <a:lnTo>
                    <a:pt x="3549" y="3810"/>
                  </a:lnTo>
                  <a:cubicBezTo>
                    <a:pt x="3287" y="3906"/>
                    <a:pt x="3132" y="4144"/>
                    <a:pt x="3132" y="4429"/>
                  </a:cubicBezTo>
                  <a:lnTo>
                    <a:pt x="3132" y="5441"/>
                  </a:lnTo>
                  <a:cubicBezTo>
                    <a:pt x="3132" y="5537"/>
                    <a:pt x="3203" y="5608"/>
                    <a:pt x="3287" y="5608"/>
                  </a:cubicBezTo>
                  <a:cubicBezTo>
                    <a:pt x="3382" y="5608"/>
                    <a:pt x="3453" y="5537"/>
                    <a:pt x="3453" y="5441"/>
                  </a:cubicBezTo>
                  <a:lnTo>
                    <a:pt x="3453" y="4429"/>
                  </a:lnTo>
                  <a:cubicBezTo>
                    <a:pt x="3453" y="4287"/>
                    <a:pt x="3549" y="4167"/>
                    <a:pt x="3680" y="4108"/>
                  </a:cubicBezTo>
                  <a:lnTo>
                    <a:pt x="4180" y="3906"/>
                  </a:lnTo>
                  <a:lnTo>
                    <a:pt x="4811" y="3906"/>
                  </a:lnTo>
                  <a:lnTo>
                    <a:pt x="5311" y="4108"/>
                  </a:lnTo>
                  <a:cubicBezTo>
                    <a:pt x="5454" y="4167"/>
                    <a:pt x="5537" y="4287"/>
                    <a:pt x="5537" y="4429"/>
                  </a:cubicBezTo>
                  <a:lnTo>
                    <a:pt x="5537" y="5441"/>
                  </a:lnTo>
                  <a:cubicBezTo>
                    <a:pt x="5537" y="5537"/>
                    <a:pt x="5608" y="5608"/>
                    <a:pt x="5704" y="5608"/>
                  </a:cubicBezTo>
                  <a:cubicBezTo>
                    <a:pt x="5787" y="5608"/>
                    <a:pt x="5870" y="5537"/>
                    <a:pt x="5870" y="5441"/>
                  </a:cubicBezTo>
                  <a:lnTo>
                    <a:pt x="5870" y="4429"/>
                  </a:lnTo>
                  <a:cubicBezTo>
                    <a:pt x="5870" y="4144"/>
                    <a:pt x="5704" y="3906"/>
                    <a:pt x="5454" y="3810"/>
                  </a:cubicBezTo>
                  <a:lnTo>
                    <a:pt x="5013" y="3632"/>
                  </a:lnTo>
                  <a:lnTo>
                    <a:pt x="5013" y="3477"/>
                  </a:lnTo>
                  <a:cubicBezTo>
                    <a:pt x="5227" y="3310"/>
                    <a:pt x="5358" y="3072"/>
                    <a:pt x="5358" y="2810"/>
                  </a:cubicBezTo>
                  <a:lnTo>
                    <a:pt x="5358" y="2382"/>
                  </a:lnTo>
                  <a:lnTo>
                    <a:pt x="5358" y="2346"/>
                  </a:lnTo>
                  <a:lnTo>
                    <a:pt x="5751" y="2191"/>
                  </a:lnTo>
                  <a:lnTo>
                    <a:pt x="6370" y="2191"/>
                  </a:lnTo>
                  <a:lnTo>
                    <a:pt x="6763" y="2346"/>
                  </a:lnTo>
                  <a:lnTo>
                    <a:pt x="6763" y="2382"/>
                  </a:lnTo>
                  <a:lnTo>
                    <a:pt x="6763" y="2810"/>
                  </a:lnTo>
                  <a:cubicBezTo>
                    <a:pt x="6763" y="3072"/>
                    <a:pt x="6894" y="3334"/>
                    <a:pt x="7097" y="3477"/>
                  </a:cubicBezTo>
                  <a:lnTo>
                    <a:pt x="7097" y="3632"/>
                  </a:lnTo>
                  <a:lnTo>
                    <a:pt x="6668" y="3810"/>
                  </a:lnTo>
                  <a:cubicBezTo>
                    <a:pt x="6418" y="3906"/>
                    <a:pt x="6251" y="4144"/>
                    <a:pt x="6251" y="4429"/>
                  </a:cubicBezTo>
                  <a:lnTo>
                    <a:pt x="6251" y="5441"/>
                  </a:lnTo>
                  <a:cubicBezTo>
                    <a:pt x="6251" y="5537"/>
                    <a:pt x="6323" y="5608"/>
                    <a:pt x="6418" y="5608"/>
                  </a:cubicBezTo>
                  <a:cubicBezTo>
                    <a:pt x="6501" y="5608"/>
                    <a:pt x="6585" y="5537"/>
                    <a:pt x="6585" y="5441"/>
                  </a:cubicBezTo>
                  <a:lnTo>
                    <a:pt x="6585" y="4429"/>
                  </a:lnTo>
                  <a:cubicBezTo>
                    <a:pt x="6585" y="4287"/>
                    <a:pt x="6668" y="4167"/>
                    <a:pt x="6799" y="4108"/>
                  </a:cubicBezTo>
                  <a:lnTo>
                    <a:pt x="7311" y="3906"/>
                  </a:lnTo>
                  <a:lnTo>
                    <a:pt x="7930" y="3906"/>
                  </a:lnTo>
                  <a:lnTo>
                    <a:pt x="8442" y="4108"/>
                  </a:lnTo>
                  <a:cubicBezTo>
                    <a:pt x="8573" y="4167"/>
                    <a:pt x="8668" y="4287"/>
                    <a:pt x="8668" y="4429"/>
                  </a:cubicBezTo>
                  <a:lnTo>
                    <a:pt x="8668" y="5441"/>
                  </a:lnTo>
                  <a:cubicBezTo>
                    <a:pt x="8668" y="5537"/>
                    <a:pt x="8740" y="5608"/>
                    <a:pt x="8823" y="5608"/>
                  </a:cubicBezTo>
                  <a:cubicBezTo>
                    <a:pt x="8918" y="5608"/>
                    <a:pt x="8990" y="5537"/>
                    <a:pt x="8990" y="5441"/>
                  </a:cubicBezTo>
                  <a:lnTo>
                    <a:pt x="8990" y="4429"/>
                  </a:lnTo>
                  <a:cubicBezTo>
                    <a:pt x="8823" y="4144"/>
                    <a:pt x="8668" y="3906"/>
                    <a:pt x="8406" y="3810"/>
                  </a:cubicBezTo>
                  <a:lnTo>
                    <a:pt x="7978" y="3632"/>
                  </a:lnTo>
                  <a:lnTo>
                    <a:pt x="7978" y="3477"/>
                  </a:lnTo>
                  <a:cubicBezTo>
                    <a:pt x="8192" y="3310"/>
                    <a:pt x="8323" y="3072"/>
                    <a:pt x="8323" y="2810"/>
                  </a:cubicBezTo>
                  <a:lnTo>
                    <a:pt x="8323" y="2382"/>
                  </a:lnTo>
                  <a:cubicBezTo>
                    <a:pt x="8323" y="2191"/>
                    <a:pt x="8252" y="2036"/>
                    <a:pt x="8133" y="1893"/>
                  </a:cubicBezTo>
                  <a:cubicBezTo>
                    <a:pt x="7990" y="1786"/>
                    <a:pt x="7835" y="1703"/>
                    <a:pt x="7656" y="1703"/>
                  </a:cubicBezTo>
                  <a:lnTo>
                    <a:pt x="7311" y="1703"/>
                  </a:lnTo>
                  <a:cubicBezTo>
                    <a:pt x="7073" y="1703"/>
                    <a:pt x="6847" y="1846"/>
                    <a:pt x="6728" y="2036"/>
                  </a:cubicBezTo>
                  <a:lnTo>
                    <a:pt x="6442" y="1917"/>
                  </a:lnTo>
                  <a:lnTo>
                    <a:pt x="6442" y="1762"/>
                  </a:lnTo>
                  <a:cubicBezTo>
                    <a:pt x="6656" y="1608"/>
                    <a:pt x="6787" y="1370"/>
                    <a:pt x="6787" y="1096"/>
                  </a:cubicBezTo>
                  <a:lnTo>
                    <a:pt x="6787" y="667"/>
                  </a:lnTo>
                  <a:cubicBezTo>
                    <a:pt x="6787" y="488"/>
                    <a:pt x="6716" y="322"/>
                    <a:pt x="6597" y="191"/>
                  </a:cubicBezTo>
                  <a:cubicBezTo>
                    <a:pt x="6466" y="72"/>
                    <a:pt x="6299" y="0"/>
                    <a:pt x="6120" y="0"/>
                  </a:cubicBezTo>
                  <a:lnTo>
                    <a:pt x="5775" y="0"/>
                  </a:lnTo>
                  <a:cubicBezTo>
                    <a:pt x="5406" y="0"/>
                    <a:pt x="5108" y="298"/>
                    <a:pt x="5108" y="667"/>
                  </a:cubicBezTo>
                  <a:lnTo>
                    <a:pt x="5108" y="1096"/>
                  </a:lnTo>
                  <a:cubicBezTo>
                    <a:pt x="5108" y="1370"/>
                    <a:pt x="5239" y="1620"/>
                    <a:pt x="5454" y="1762"/>
                  </a:cubicBezTo>
                  <a:lnTo>
                    <a:pt x="5454" y="1917"/>
                  </a:lnTo>
                  <a:lnTo>
                    <a:pt x="5168" y="2036"/>
                  </a:lnTo>
                  <a:cubicBezTo>
                    <a:pt x="5132" y="1989"/>
                    <a:pt x="5108" y="1941"/>
                    <a:pt x="5061" y="1905"/>
                  </a:cubicBezTo>
                  <a:cubicBezTo>
                    <a:pt x="4930" y="1786"/>
                    <a:pt x="4763" y="1703"/>
                    <a:pt x="4584" y="1703"/>
                  </a:cubicBezTo>
                  <a:lnTo>
                    <a:pt x="4239" y="1703"/>
                  </a:lnTo>
                  <a:cubicBezTo>
                    <a:pt x="4001" y="1703"/>
                    <a:pt x="3787" y="1846"/>
                    <a:pt x="3668" y="2036"/>
                  </a:cubicBezTo>
                  <a:lnTo>
                    <a:pt x="3382" y="1917"/>
                  </a:lnTo>
                  <a:lnTo>
                    <a:pt x="3382" y="1762"/>
                  </a:lnTo>
                  <a:cubicBezTo>
                    <a:pt x="3584" y="1608"/>
                    <a:pt x="3727" y="1370"/>
                    <a:pt x="3727" y="1096"/>
                  </a:cubicBezTo>
                  <a:lnTo>
                    <a:pt x="3727" y="667"/>
                  </a:lnTo>
                  <a:cubicBezTo>
                    <a:pt x="3727" y="488"/>
                    <a:pt x="3644" y="322"/>
                    <a:pt x="3525" y="191"/>
                  </a:cubicBezTo>
                  <a:cubicBezTo>
                    <a:pt x="3394" y="72"/>
                    <a:pt x="3227" y="0"/>
                    <a:pt x="30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442;p75"/>
            <p:cNvSpPr/>
            <p:nvPr/>
          </p:nvSpPr>
          <p:spPr>
            <a:xfrm>
              <a:off x="1917740" y="2891510"/>
              <a:ext cx="119394" cy="161474"/>
            </a:xfrm>
            <a:custGeom>
              <a:avLst/>
              <a:gdLst/>
              <a:ahLst/>
              <a:cxnLst/>
              <a:rect l="l" t="t" r="r" b="b"/>
              <a:pathLst>
                <a:path w="3751" h="5073" extrusionOk="0">
                  <a:moveTo>
                    <a:pt x="2036" y="310"/>
                  </a:moveTo>
                  <a:cubicBezTo>
                    <a:pt x="2227" y="310"/>
                    <a:pt x="2394" y="477"/>
                    <a:pt x="2394" y="668"/>
                  </a:cubicBezTo>
                  <a:lnTo>
                    <a:pt x="2394" y="1013"/>
                  </a:lnTo>
                  <a:cubicBezTo>
                    <a:pt x="2394" y="1299"/>
                    <a:pt x="2156" y="1537"/>
                    <a:pt x="1870" y="1537"/>
                  </a:cubicBezTo>
                  <a:cubicBezTo>
                    <a:pt x="1596" y="1537"/>
                    <a:pt x="1334" y="1299"/>
                    <a:pt x="1334" y="1013"/>
                  </a:cubicBezTo>
                  <a:lnTo>
                    <a:pt x="1334" y="668"/>
                  </a:lnTo>
                  <a:cubicBezTo>
                    <a:pt x="1334" y="477"/>
                    <a:pt x="1501" y="310"/>
                    <a:pt x="1691" y="310"/>
                  </a:cubicBezTo>
                  <a:close/>
                  <a:moveTo>
                    <a:pt x="2036" y="1834"/>
                  </a:moveTo>
                  <a:lnTo>
                    <a:pt x="2036" y="1918"/>
                  </a:lnTo>
                  <a:cubicBezTo>
                    <a:pt x="2048" y="1977"/>
                    <a:pt x="2072" y="2037"/>
                    <a:pt x="2096" y="2084"/>
                  </a:cubicBezTo>
                  <a:lnTo>
                    <a:pt x="1870" y="2311"/>
                  </a:lnTo>
                  <a:lnTo>
                    <a:pt x="1858" y="2311"/>
                  </a:lnTo>
                  <a:lnTo>
                    <a:pt x="1632" y="2084"/>
                  </a:lnTo>
                  <a:cubicBezTo>
                    <a:pt x="1667" y="2037"/>
                    <a:pt x="1679" y="1977"/>
                    <a:pt x="1679" y="1918"/>
                  </a:cubicBezTo>
                  <a:lnTo>
                    <a:pt x="1679" y="1834"/>
                  </a:lnTo>
                  <a:cubicBezTo>
                    <a:pt x="1739" y="1846"/>
                    <a:pt x="1798" y="1846"/>
                    <a:pt x="1858" y="1846"/>
                  </a:cubicBezTo>
                  <a:cubicBezTo>
                    <a:pt x="1917" y="1846"/>
                    <a:pt x="1977" y="1846"/>
                    <a:pt x="2036" y="1834"/>
                  </a:cubicBezTo>
                  <a:close/>
                  <a:moveTo>
                    <a:pt x="2382" y="2275"/>
                  </a:moveTo>
                  <a:lnTo>
                    <a:pt x="2668" y="2406"/>
                  </a:lnTo>
                  <a:cubicBezTo>
                    <a:pt x="2715" y="2442"/>
                    <a:pt x="2763" y="2501"/>
                    <a:pt x="2763" y="2573"/>
                  </a:cubicBezTo>
                  <a:lnTo>
                    <a:pt x="2763" y="2894"/>
                  </a:lnTo>
                  <a:lnTo>
                    <a:pt x="1036" y="2894"/>
                  </a:lnTo>
                  <a:lnTo>
                    <a:pt x="1036" y="2573"/>
                  </a:lnTo>
                  <a:lnTo>
                    <a:pt x="1013" y="2573"/>
                  </a:lnTo>
                  <a:cubicBezTo>
                    <a:pt x="1013" y="2501"/>
                    <a:pt x="1060" y="2442"/>
                    <a:pt x="1120" y="2406"/>
                  </a:cubicBezTo>
                  <a:lnTo>
                    <a:pt x="1394" y="2275"/>
                  </a:lnTo>
                  <a:lnTo>
                    <a:pt x="1655" y="2537"/>
                  </a:lnTo>
                  <a:cubicBezTo>
                    <a:pt x="1703" y="2596"/>
                    <a:pt x="1798" y="2620"/>
                    <a:pt x="1894" y="2620"/>
                  </a:cubicBezTo>
                  <a:cubicBezTo>
                    <a:pt x="1977" y="2620"/>
                    <a:pt x="2048" y="2596"/>
                    <a:pt x="2132" y="2537"/>
                  </a:cubicBezTo>
                  <a:lnTo>
                    <a:pt x="2382" y="2275"/>
                  </a:lnTo>
                  <a:close/>
                  <a:moveTo>
                    <a:pt x="3299" y="3216"/>
                  </a:moveTo>
                  <a:lnTo>
                    <a:pt x="3120" y="3573"/>
                  </a:lnTo>
                  <a:lnTo>
                    <a:pt x="596" y="3573"/>
                  </a:lnTo>
                  <a:lnTo>
                    <a:pt x="417" y="3216"/>
                  </a:lnTo>
                  <a:close/>
                  <a:moveTo>
                    <a:pt x="1691" y="1"/>
                  </a:moveTo>
                  <a:cubicBezTo>
                    <a:pt x="1322" y="1"/>
                    <a:pt x="1024" y="298"/>
                    <a:pt x="1024" y="668"/>
                  </a:cubicBezTo>
                  <a:lnTo>
                    <a:pt x="1024" y="1013"/>
                  </a:lnTo>
                  <a:cubicBezTo>
                    <a:pt x="1024" y="1299"/>
                    <a:pt x="1155" y="1537"/>
                    <a:pt x="1370" y="1680"/>
                  </a:cubicBezTo>
                  <a:lnTo>
                    <a:pt x="1370" y="1918"/>
                  </a:lnTo>
                  <a:lnTo>
                    <a:pt x="1370" y="1942"/>
                  </a:lnTo>
                  <a:lnTo>
                    <a:pt x="965" y="2132"/>
                  </a:lnTo>
                  <a:cubicBezTo>
                    <a:pt x="798" y="2215"/>
                    <a:pt x="679" y="2382"/>
                    <a:pt x="679" y="2573"/>
                  </a:cubicBezTo>
                  <a:lnTo>
                    <a:pt x="679" y="2894"/>
                  </a:lnTo>
                  <a:lnTo>
                    <a:pt x="167" y="2894"/>
                  </a:lnTo>
                  <a:cubicBezTo>
                    <a:pt x="108" y="2894"/>
                    <a:pt x="60" y="2918"/>
                    <a:pt x="24" y="2965"/>
                  </a:cubicBezTo>
                  <a:cubicBezTo>
                    <a:pt x="1" y="3001"/>
                    <a:pt x="1" y="3073"/>
                    <a:pt x="24" y="3108"/>
                  </a:cubicBezTo>
                  <a:lnTo>
                    <a:pt x="370" y="3799"/>
                  </a:lnTo>
                  <a:cubicBezTo>
                    <a:pt x="405" y="3858"/>
                    <a:pt x="465" y="3882"/>
                    <a:pt x="524" y="3882"/>
                  </a:cubicBezTo>
                  <a:lnTo>
                    <a:pt x="703" y="3882"/>
                  </a:lnTo>
                  <a:lnTo>
                    <a:pt x="703" y="4918"/>
                  </a:lnTo>
                  <a:cubicBezTo>
                    <a:pt x="703" y="5001"/>
                    <a:pt x="774" y="5073"/>
                    <a:pt x="858" y="5073"/>
                  </a:cubicBezTo>
                  <a:cubicBezTo>
                    <a:pt x="953" y="5073"/>
                    <a:pt x="1024" y="5001"/>
                    <a:pt x="1024" y="4918"/>
                  </a:cubicBezTo>
                  <a:lnTo>
                    <a:pt x="1024" y="3882"/>
                  </a:lnTo>
                  <a:lnTo>
                    <a:pt x="2751" y="3882"/>
                  </a:lnTo>
                  <a:lnTo>
                    <a:pt x="2751" y="4918"/>
                  </a:lnTo>
                  <a:cubicBezTo>
                    <a:pt x="2751" y="5001"/>
                    <a:pt x="2822" y="5073"/>
                    <a:pt x="2918" y="5073"/>
                  </a:cubicBezTo>
                  <a:cubicBezTo>
                    <a:pt x="3001" y="5073"/>
                    <a:pt x="3084" y="5001"/>
                    <a:pt x="3084" y="4918"/>
                  </a:cubicBezTo>
                  <a:lnTo>
                    <a:pt x="3084" y="3882"/>
                  </a:lnTo>
                  <a:lnTo>
                    <a:pt x="3263" y="3882"/>
                  </a:lnTo>
                  <a:cubicBezTo>
                    <a:pt x="3322" y="3882"/>
                    <a:pt x="3382" y="3858"/>
                    <a:pt x="3406" y="3799"/>
                  </a:cubicBezTo>
                  <a:lnTo>
                    <a:pt x="3751" y="3108"/>
                  </a:lnTo>
                  <a:cubicBezTo>
                    <a:pt x="3739" y="3073"/>
                    <a:pt x="3739" y="3001"/>
                    <a:pt x="3703" y="2965"/>
                  </a:cubicBezTo>
                  <a:cubicBezTo>
                    <a:pt x="3680" y="2918"/>
                    <a:pt x="3632" y="2894"/>
                    <a:pt x="3572" y="2894"/>
                  </a:cubicBezTo>
                  <a:lnTo>
                    <a:pt x="3049" y="2894"/>
                  </a:lnTo>
                  <a:lnTo>
                    <a:pt x="3049" y="2573"/>
                  </a:lnTo>
                  <a:cubicBezTo>
                    <a:pt x="3049" y="2382"/>
                    <a:pt x="2941" y="2215"/>
                    <a:pt x="2763" y="2132"/>
                  </a:cubicBezTo>
                  <a:lnTo>
                    <a:pt x="2370" y="1942"/>
                  </a:lnTo>
                  <a:lnTo>
                    <a:pt x="2370" y="1918"/>
                  </a:lnTo>
                  <a:lnTo>
                    <a:pt x="2370" y="1680"/>
                  </a:lnTo>
                  <a:cubicBezTo>
                    <a:pt x="2572" y="1537"/>
                    <a:pt x="2703" y="1275"/>
                    <a:pt x="2703" y="1013"/>
                  </a:cubicBezTo>
                  <a:lnTo>
                    <a:pt x="2703" y="668"/>
                  </a:lnTo>
                  <a:cubicBezTo>
                    <a:pt x="2703" y="298"/>
                    <a:pt x="2406" y="1"/>
                    <a:pt x="20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443;p75"/>
            <p:cNvSpPr/>
            <p:nvPr/>
          </p:nvSpPr>
          <p:spPr>
            <a:xfrm>
              <a:off x="1960933" y="3027201"/>
              <a:ext cx="32244" cy="10249"/>
            </a:xfrm>
            <a:custGeom>
              <a:avLst/>
              <a:gdLst/>
              <a:ahLst/>
              <a:cxnLst/>
              <a:rect l="l" t="t" r="r" b="b"/>
              <a:pathLst>
                <a:path w="1013" h="322" extrusionOk="0">
                  <a:moveTo>
                    <a:pt x="156" y="0"/>
                  </a:moveTo>
                  <a:cubicBezTo>
                    <a:pt x="72" y="0"/>
                    <a:pt x="1" y="72"/>
                    <a:pt x="1" y="155"/>
                  </a:cubicBezTo>
                  <a:cubicBezTo>
                    <a:pt x="1" y="250"/>
                    <a:pt x="72" y="322"/>
                    <a:pt x="156" y="322"/>
                  </a:cubicBezTo>
                  <a:lnTo>
                    <a:pt x="846" y="322"/>
                  </a:lnTo>
                  <a:cubicBezTo>
                    <a:pt x="930" y="322"/>
                    <a:pt x="1013" y="250"/>
                    <a:pt x="1013" y="155"/>
                  </a:cubicBezTo>
                  <a:cubicBezTo>
                    <a:pt x="1013" y="72"/>
                    <a:pt x="930" y="0"/>
                    <a:pt x="8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518;p41"/>
          <p:cNvSpPr/>
          <p:nvPr/>
        </p:nvSpPr>
        <p:spPr>
          <a:xfrm rot="16200000" flipH="1">
            <a:off x="4426029" y="2170849"/>
            <a:ext cx="291944" cy="9144002"/>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64" name="Google Shape;208;p31"/>
          <p:cNvCxnSpPr/>
          <p:nvPr/>
        </p:nvCxnSpPr>
        <p:spPr>
          <a:xfrm>
            <a:off x="3452325" y="6709274"/>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11128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33225" y="739220"/>
            <a:ext cx="3868340" cy="823912"/>
          </a:xfrm>
        </p:spPr>
        <p:txBody>
          <a:bodyPr/>
          <a:lstStyle/>
          <a:p>
            <a:r>
              <a:rPr lang="en-US" dirty="0">
                <a:latin typeface="Candara" panose="020E0502030303020204" pitchFamily="34" charset="0"/>
                <a:ea typeface="SimSun" panose="02010600030101010101" pitchFamily="2" charset="-122"/>
                <a:cs typeface="Times New Roman" panose="02020603050405020304" pitchFamily="18" charset="0"/>
              </a:rPr>
              <a:t>Social Advocacy</a:t>
            </a:r>
            <a:endParaRPr lang="en-US" dirty="0">
              <a:latin typeface="Candara" panose="020E0502030303020204" pitchFamily="34" charset="0"/>
            </a:endParaRPr>
          </a:p>
        </p:txBody>
      </p:sp>
      <p:sp>
        <p:nvSpPr>
          <p:cNvPr id="5" name="Text Placeholder 4"/>
          <p:cNvSpPr>
            <a:spLocks noGrp="1"/>
          </p:cNvSpPr>
          <p:nvPr>
            <p:ph type="body" sz="quarter" idx="3"/>
          </p:nvPr>
        </p:nvSpPr>
        <p:spPr>
          <a:xfrm>
            <a:off x="1533225" y="1244906"/>
            <a:ext cx="6874525" cy="823912"/>
          </a:xfrm>
        </p:spPr>
        <p:txBody>
          <a:bodyPr>
            <a:normAutofit/>
          </a:bodyPr>
          <a:lstStyle/>
          <a:p>
            <a:r>
              <a:rPr lang="en-US" sz="1400" b="0" dirty="0">
                <a:latin typeface="Candara" panose="020E0502030303020204" pitchFamily="34" charset="0"/>
                <a:ea typeface="SimSun" panose="02010600030101010101" pitchFamily="2" charset="-122"/>
                <a:cs typeface="Times New Roman" panose="02020603050405020304" pitchFamily="18" charset="0"/>
              </a:rPr>
              <a:t>We strive to address social issues affecting women and advocate for policies that promote gender equality and women's rights</a:t>
            </a:r>
            <a:endParaRPr lang="en-US" sz="1400" b="0" dirty="0">
              <a:latin typeface="Candara" panose="020E0502030303020204" pitchFamily="34" charset="0"/>
            </a:endParaRPr>
          </a:p>
        </p:txBody>
      </p:sp>
      <p:sp>
        <p:nvSpPr>
          <p:cNvPr id="7" name="Google Shape;211;p31"/>
          <p:cNvSpPr/>
          <p:nvPr/>
        </p:nvSpPr>
        <p:spPr>
          <a:xfrm>
            <a:off x="0" y="-88593"/>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8" name="Google Shape;237;p33"/>
          <p:cNvSpPr/>
          <p:nvPr/>
        </p:nvSpPr>
        <p:spPr>
          <a:xfrm>
            <a:off x="517792" y="739220"/>
            <a:ext cx="859315" cy="836192"/>
          </a:xfrm>
          <a:prstGeom prst="ellipse">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243;p33"/>
          <p:cNvSpPr txBox="1">
            <a:spLocks/>
          </p:cNvSpPr>
          <p:nvPr/>
        </p:nvSpPr>
        <p:spPr>
          <a:xfrm>
            <a:off x="483107" y="971776"/>
            <a:ext cx="894000" cy="35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ighteous"/>
              <a:buNone/>
              <a:defRPr sz="30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3000"/>
              <a:buFont typeface="Righteous"/>
              <a:buNone/>
              <a:tabLst/>
              <a:defRPr/>
            </a:pPr>
            <a:r>
              <a:rPr kumimoji="0" lang="en" sz="3000" b="0" i="0" u="none" strike="noStrike" kern="0" cap="none" spc="0" normalizeH="0" baseline="0" noProof="0" dirty="0">
                <a:ln>
                  <a:noFill/>
                </a:ln>
                <a:solidFill>
                  <a:srgbClr val="FFFFFF"/>
                </a:solidFill>
                <a:effectLst/>
                <a:uLnTx/>
                <a:uFillTx/>
                <a:latin typeface="Candara" panose="020E0502030303020204" pitchFamily="34" charset="0"/>
                <a:sym typeface="Righteous"/>
              </a:rPr>
              <a:t>02</a:t>
            </a:r>
          </a:p>
        </p:txBody>
      </p:sp>
      <p:sp>
        <p:nvSpPr>
          <p:cNvPr id="10" name="Google Shape;237;p33"/>
          <p:cNvSpPr/>
          <p:nvPr/>
        </p:nvSpPr>
        <p:spPr>
          <a:xfrm>
            <a:off x="861629" y="3027748"/>
            <a:ext cx="763633" cy="77728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237;p33"/>
          <p:cNvSpPr/>
          <p:nvPr/>
        </p:nvSpPr>
        <p:spPr>
          <a:xfrm>
            <a:off x="3808367" y="3033652"/>
            <a:ext cx="763633" cy="77728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237;p33"/>
          <p:cNvSpPr/>
          <p:nvPr/>
        </p:nvSpPr>
        <p:spPr>
          <a:xfrm>
            <a:off x="7136921" y="3027748"/>
            <a:ext cx="763633" cy="77728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337;p37"/>
          <p:cNvSpPr txBox="1">
            <a:spLocks/>
          </p:cNvSpPr>
          <p:nvPr/>
        </p:nvSpPr>
        <p:spPr>
          <a:xfrm>
            <a:off x="36869" y="4054303"/>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lvl="0">
              <a:buClr>
                <a:srgbClr val="191919"/>
              </a:buClr>
            </a:pPr>
            <a:r>
              <a:rPr lang="en-US" sz="1800" b="1" dirty="0">
                <a:latin typeface="Candara" panose="020E0502030303020204" pitchFamily="34" charset="0"/>
                <a:ea typeface="SimSun" panose="02010600030101010101" pitchFamily="2" charset="-122"/>
                <a:cs typeface="Times New Roman" panose="02020603050405020304" pitchFamily="18" charset="0"/>
              </a:rPr>
              <a:t>Women’s Leadership Trainings</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14" name="Google Shape;337;p37"/>
          <p:cNvSpPr txBox="1">
            <a:spLocks/>
          </p:cNvSpPr>
          <p:nvPr/>
        </p:nvSpPr>
        <p:spPr>
          <a:xfrm>
            <a:off x="3126640" y="4054303"/>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lvl="0">
              <a:buClr>
                <a:srgbClr val="191919"/>
              </a:buClr>
            </a:pPr>
            <a:r>
              <a:rPr lang="en-US" sz="1800" b="1" dirty="0">
                <a:latin typeface="Candara" panose="020E0502030303020204" pitchFamily="34" charset="0"/>
                <a:ea typeface="SimSun" panose="02010600030101010101" pitchFamily="2" charset="-122"/>
                <a:cs typeface="Times New Roman" panose="02020603050405020304" pitchFamily="18" charset="0"/>
              </a:rPr>
              <a:t>Advocacy Campaigns</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15" name="Google Shape;337;p37"/>
          <p:cNvSpPr txBox="1">
            <a:spLocks/>
          </p:cNvSpPr>
          <p:nvPr/>
        </p:nvSpPr>
        <p:spPr>
          <a:xfrm>
            <a:off x="6433346" y="4054303"/>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lvl="0">
              <a:buClr>
                <a:srgbClr val="191919"/>
              </a:buClr>
            </a:pPr>
            <a:r>
              <a:rPr lang="en-US" sz="1800" b="1" dirty="0">
                <a:latin typeface="Candara" panose="020E0502030303020204" pitchFamily="34" charset="0"/>
                <a:ea typeface="SimSun" panose="02010600030101010101" pitchFamily="2" charset="-122"/>
                <a:cs typeface="Times New Roman" panose="02020603050405020304" pitchFamily="18" charset="0"/>
              </a:rPr>
              <a:t>Community Outreach</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16" name="Google Shape;338;p37"/>
          <p:cNvSpPr txBox="1">
            <a:spLocks/>
          </p:cNvSpPr>
          <p:nvPr/>
        </p:nvSpPr>
        <p:spPr>
          <a:xfrm>
            <a:off x="112352" y="4968635"/>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r>
              <a:rPr lang="en-US" dirty="0">
                <a:latin typeface="Candara" panose="020E0502030303020204" pitchFamily="34" charset="0"/>
                <a:ea typeface="SimSun" panose="02010600030101010101" pitchFamily="2" charset="-122"/>
                <a:cs typeface="Times New Roman" panose="02020603050405020304" pitchFamily="18" charset="0"/>
              </a:rPr>
              <a:t>A training program that equips women with leadership skills and knowledge to excel in various sectors</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17" name="Google Shape;338;p37"/>
          <p:cNvSpPr txBox="1">
            <a:spLocks/>
          </p:cNvSpPr>
          <p:nvPr/>
        </p:nvSpPr>
        <p:spPr>
          <a:xfrm>
            <a:off x="3239031" y="4968635"/>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r>
              <a:rPr lang="en-US" dirty="0">
                <a:latin typeface="Candara" panose="020E0502030303020204" pitchFamily="34" charset="0"/>
                <a:ea typeface="SimSun" panose="02010600030101010101" pitchFamily="2" charset="-122"/>
                <a:cs typeface="Times New Roman" panose="02020603050405020304" pitchFamily="18" charset="0"/>
              </a:rPr>
              <a:t>Focuses on lobbying for gender-sensitive policies and legislation at local, national, and international levels</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18" name="Google Shape;338;p37"/>
          <p:cNvSpPr txBox="1">
            <a:spLocks/>
          </p:cNvSpPr>
          <p:nvPr/>
        </p:nvSpPr>
        <p:spPr>
          <a:xfrm>
            <a:off x="6478062" y="4968635"/>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r>
              <a:rPr lang="en-US" dirty="0">
                <a:latin typeface="Candara" panose="020E0502030303020204" pitchFamily="34" charset="0"/>
                <a:ea typeface="SimSun" panose="02010600030101010101" pitchFamily="2" charset="-122"/>
                <a:cs typeface="Times New Roman" panose="02020603050405020304" pitchFamily="18" charset="0"/>
              </a:rPr>
              <a:t>Engages in community-based projects to raise awareness on issues like gender-based violence, health and social accountability </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19" name="Google Shape;12360;p75"/>
          <p:cNvSpPr/>
          <p:nvPr/>
        </p:nvSpPr>
        <p:spPr>
          <a:xfrm>
            <a:off x="7332643" y="3261758"/>
            <a:ext cx="372188" cy="309260"/>
          </a:xfrm>
          <a:custGeom>
            <a:avLst/>
            <a:gdLst/>
            <a:ahLst/>
            <a:cxnLst/>
            <a:rect l="l" t="t" r="r" b="b"/>
            <a:pathLst>
              <a:path w="11693" h="9716" extrusionOk="0">
                <a:moveTo>
                  <a:pt x="2906" y="346"/>
                </a:moveTo>
                <a:cubicBezTo>
                  <a:pt x="3120" y="346"/>
                  <a:pt x="3287" y="524"/>
                  <a:pt x="3287" y="727"/>
                </a:cubicBezTo>
                <a:lnTo>
                  <a:pt x="3287" y="1096"/>
                </a:lnTo>
                <a:cubicBezTo>
                  <a:pt x="3299" y="1429"/>
                  <a:pt x="3049" y="1679"/>
                  <a:pt x="2727" y="1679"/>
                </a:cubicBezTo>
                <a:cubicBezTo>
                  <a:pt x="2406" y="1679"/>
                  <a:pt x="2144" y="1429"/>
                  <a:pt x="2144" y="1096"/>
                </a:cubicBezTo>
                <a:lnTo>
                  <a:pt x="2144" y="727"/>
                </a:lnTo>
                <a:cubicBezTo>
                  <a:pt x="2144" y="500"/>
                  <a:pt x="2322" y="346"/>
                  <a:pt x="2525" y="346"/>
                </a:cubicBezTo>
                <a:close/>
                <a:moveTo>
                  <a:pt x="5894" y="346"/>
                </a:moveTo>
                <a:cubicBezTo>
                  <a:pt x="6120" y="346"/>
                  <a:pt x="6275" y="524"/>
                  <a:pt x="6275" y="727"/>
                </a:cubicBezTo>
                <a:lnTo>
                  <a:pt x="6275" y="1096"/>
                </a:lnTo>
                <a:cubicBezTo>
                  <a:pt x="6299" y="1429"/>
                  <a:pt x="6037" y="1679"/>
                  <a:pt x="5716" y="1679"/>
                </a:cubicBezTo>
                <a:cubicBezTo>
                  <a:pt x="5406" y="1679"/>
                  <a:pt x="5132" y="1429"/>
                  <a:pt x="5132" y="1096"/>
                </a:cubicBezTo>
                <a:lnTo>
                  <a:pt x="5132" y="727"/>
                </a:lnTo>
                <a:cubicBezTo>
                  <a:pt x="5132" y="500"/>
                  <a:pt x="5311" y="346"/>
                  <a:pt x="5525" y="346"/>
                </a:cubicBezTo>
                <a:close/>
                <a:moveTo>
                  <a:pt x="8895" y="346"/>
                </a:moveTo>
                <a:cubicBezTo>
                  <a:pt x="9121" y="346"/>
                  <a:pt x="9287" y="524"/>
                  <a:pt x="9287" y="727"/>
                </a:cubicBezTo>
                <a:lnTo>
                  <a:pt x="9287" y="1096"/>
                </a:lnTo>
                <a:cubicBezTo>
                  <a:pt x="9299" y="1429"/>
                  <a:pt x="9026" y="1679"/>
                  <a:pt x="8716" y="1679"/>
                </a:cubicBezTo>
                <a:cubicBezTo>
                  <a:pt x="8406" y="1679"/>
                  <a:pt x="8144" y="1429"/>
                  <a:pt x="8144" y="1096"/>
                </a:cubicBezTo>
                <a:lnTo>
                  <a:pt x="8144" y="727"/>
                </a:lnTo>
                <a:cubicBezTo>
                  <a:pt x="8144" y="500"/>
                  <a:pt x="8323" y="346"/>
                  <a:pt x="8525" y="346"/>
                </a:cubicBezTo>
                <a:close/>
                <a:moveTo>
                  <a:pt x="2930" y="2036"/>
                </a:moveTo>
                <a:lnTo>
                  <a:pt x="2930" y="2120"/>
                </a:lnTo>
                <a:cubicBezTo>
                  <a:pt x="2930" y="2179"/>
                  <a:pt x="2941" y="2263"/>
                  <a:pt x="2977" y="2310"/>
                </a:cubicBezTo>
                <a:lnTo>
                  <a:pt x="2739" y="2548"/>
                </a:lnTo>
                <a:lnTo>
                  <a:pt x="2703" y="2548"/>
                </a:lnTo>
                <a:lnTo>
                  <a:pt x="2465" y="2310"/>
                </a:lnTo>
                <a:cubicBezTo>
                  <a:pt x="2501" y="2251"/>
                  <a:pt x="2513" y="2191"/>
                  <a:pt x="2513" y="2120"/>
                </a:cubicBezTo>
                <a:lnTo>
                  <a:pt x="2513" y="2036"/>
                </a:lnTo>
                <a:close/>
                <a:moveTo>
                  <a:pt x="5918" y="2036"/>
                </a:moveTo>
                <a:lnTo>
                  <a:pt x="5918" y="2120"/>
                </a:lnTo>
                <a:cubicBezTo>
                  <a:pt x="5918" y="2179"/>
                  <a:pt x="5942" y="2263"/>
                  <a:pt x="5966" y="2310"/>
                </a:cubicBezTo>
                <a:lnTo>
                  <a:pt x="5728" y="2548"/>
                </a:lnTo>
                <a:lnTo>
                  <a:pt x="5704" y="2548"/>
                </a:lnTo>
                <a:lnTo>
                  <a:pt x="5466" y="2310"/>
                </a:lnTo>
                <a:cubicBezTo>
                  <a:pt x="5489" y="2251"/>
                  <a:pt x="5501" y="2191"/>
                  <a:pt x="5501" y="2120"/>
                </a:cubicBezTo>
                <a:lnTo>
                  <a:pt x="5501" y="2036"/>
                </a:lnTo>
                <a:close/>
                <a:moveTo>
                  <a:pt x="8930" y="2036"/>
                </a:moveTo>
                <a:lnTo>
                  <a:pt x="8930" y="2120"/>
                </a:lnTo>
                <a:cubicBezTo>
                  <a:pt x="8930" y="2179"/>
                  <a:pt x="8942" y="2263"/>
                  <a:pt x="8966" y="2310"/>
                </a:cubicBezTo>
                <a:lnTo>
                  <a:pt x="8728" y="2548"/>
                </a:lnTo>
                <a:lnTo>
                  <a:pt x="8704" y="2548"/>
                </a:lnTo>
                <a:lnTo>
                  <a:pt x="8466" y="2310"/>
                </a:lnTo>
                <a:cubicBezTo>
                  <a:pt x="8490" y="2251"/>
                  <a:pt x="8514" y="2191"/>
                  <a:pt x="8514" y="2120"/>
                </a:cubicBezTo>
                <a:lnTo>
                  <a:pt x="8514" y="2036"/>
                </a:lnTo>
                <a:close/>
                <a:moveTo>
                  <a:pt x="1394" y="3525"/>
                </a:moveTo>
                <a:cubicBezTo>
                  <a:pt x="1620" y="3525"/>
                  <a:pt x="1798" y="3703"/>
                  <a:pt x="1798" y="3918"/>
                </a:cubicBezTo>
                <a:lnTo>
                  <a:pt x="1798" y="4287"/>
                </a:lnTo>
                <a:cubicBezTo>
                  <a:pt x="1798" y="4596"/>
                  <a:pt x="1548" y="4870"/>
                  <a:pt x="1215" y="4870"/>
                </a:cubicBezTo>
                <a:cubicBezTo>
                  <a:pt x="905" y="4870"/>
                  <a:pt x="644" y="4608"/>
                  <a:pt x="644" y="4287"/>
                </a:cubicBezTo>
                <a:lnTo>
                  <a:pt x="644" y="3918"/>
                </a:lnTo>
                <a:cubicBezTo>
                  <a:pt x="644" y="3691"/>
                  <a:pt x="822" y="3525"/>
                  <a:pt x="1025" y="3525"/>
                </a:cubicBezTo>
                <a:close/>
                <a:moveTo>
                  <a:pt x="4406" y="3525"/>
                </a:moveTo>
                <a:cubicBezTo>
                  <a:pt x="4632" y="3525"/>
                  <a:pt x="4811" y="3703"/>
                  <a:pt x="4811" y="3918"/>
                </a:cubicBezTo>
                <a:lnTo>
                  <a:pt x="4811" y="4287"/>
                </a:lnTo>
                <a:cubicBezTo>
                  <a:pt x="4811" y="4596"/>
                  <a:pt x="4549" y="4870"/>
                  <a:pt x="4227" y="4870"/>
                </a:cubicBezTo>
                <a:cubicBezTo>
                  <a:pt x="3918" y="4870"/>
                  <a:pt x="3644" y="4608"/>
                  <a:pt x="3644" y="4287"/>
                </a:cubicBezTo>
                <a:lnTo>
                  <a:pt x="3644" y="3918"/>
                </a:lnTo>
                <a:cubicBezTo>
                  <a:pt x="3644" y="3691"/>
                  <a:pt x="3823" y="3525"/>
                  <a:pt x="4037" y="3525"/>
                </a:cubicBezTo>
                <a:close/>
                <a:moveTo>
                  <a:pt x="7394" y="3525"/>
                </a:moveTo>
                <a:cubicBezTo>
                  <a:pt x="7621" y="3525"/>
                  <a:pt x="7799" y="3703"/>
                  <a:pt x="7799" y="3918"/>
                </a:cubicBezTo>
                <a:lnTo>
                  <a:pt x="7799" y="4287"/>
                </a:lnTo>
                <a:cubicBezTo>
                  <a:pt x="7799" y="4596"/>
                  <a:pt x="7537" y="4870"/>
                  <a:pt x="7216" y="4870"/>
                </a:cubicBezTo>
                <a:cubicBezTo>
                  <a:pt x="6906" y="4870"/>
                  <a:pt x="6632" y="4608"/>
                  <a:pt x="6632" y="4287"/>
                </a:cubicBezTo>
                <a:lnTo>
                  <a:pt x="6632" y="3918"/>
                </a:lnTo>
                <a:cubicBezTo>
                  <a:pt x="6632" y="3691"/>
                  <a:pt x="6811" y="3525"/>
                  <a:pt x="7025" y="3525"/>
                </a:cubicBezTo>
                <a:close/>
                <a:moveTo>
                  <a:pt x="10407" y="3525"/>
                </a:moveTo>
                <a:cubicBezTo>
                  <a:pt x="10621" y="3525"/>
                  <a:pt x="10788" y="3703"/>
                  <a:pt x="10788" y="3918"/>
                </a:cubicBezTo>
                <a:lnTo>
                  <a:pt x="10788" y="4287"/>
                </a:lnTo>
                <a:cubicBezTo>
                  <a:pt x="10800" y="4608"/>
                  <a:pt x="10538" y="4870"/>
                  <a:pt x="10216" y="4870"/>
                </a:cubicBezTo>
                <a:cubicBezTo>
                  <a:pt x="9907" y="4870"/>
                  <a:pt x="9645" y="4608"/>
                  <a:pt x="9645" y="4287"/>
                </a:cubicBezTo>
                <a:lnTo>
                  <a:pt x="9645" y="3918"/>
                </a:lnTo>
                <a:cubicBezTo>
                  <a:pt x="9645" y="3691"/>
                  <a:pt x="9823" y="3525"/>
                  <a:pt x="10026" y="3525"/>
                </a:cubicBezTo>
                <a:close/>
                <a:moveTo>
                  <a:pt x="1429" y="5215"/>
                </a:moveTo>
                <a:lnTo>
                  <a:pt x="1429" y="5311"/>
                </a:lnTo>
                <a:cubicBezTo>
                  <a:pt x="1429" y="5370"/>
                  <a:pt x="1441" y="5442"/>
                  <a:pt x="1477" y="5489"/>
                </a:cubicBezTo>
                <a:lnTo>
                  <a:pt x="1239" y="5727"/>
                </a:lnTo>
                <a:lnTo>
                  <a:pt x="1203" y="5727"/>
                </a:lnTo>
                <a:lnTo>
                  <a:pt x="965" y="5489"/>
                </a:lnTo>
                <a:cubicBezTo>
                  <a:pt x="989" y="5430"/>
                  <a:pt x="1013" y="5370"/>
                  <a:pt x="1013" y="5311"/>
                </a:cubicBezTo>
                <a:lnTo>
                  <a:pt x="1013" y="5215"/>
                </a:lnTo>
                <a:close/>
                <a:moveTo>
                  <a:pt x="4430" y="5215"/>
                </a:moveTo>
                <a:lnTo>
                  <a:pt x="4430" y="5311"/>
                </a:lnTo>
                <a:cubicBezTo>
                  <a:pt x="4430" y="5370"/>
                  <a:pt x="4454" y="5442"/>
                  <a:pt x="4477" y="5489"/>
                </a:cubicBezTo>
                <a:lnTo>
                  <a:pt x="4239" y="5727"/>
                </a:lnTo>
                <a:lnTo>
                  <a:pt x="4215" y="5727"/>
                </a:lnTo>
                <a:lnTo>
                  <a:pt x="3977" y="5489"/>
                </a:lnTo>
                <a:cubicBezTo>
                  <a:pt x="4001" y="5430"/>
                  <a:pt x="4013" y="5370"/>
                  <a:pt x="4013" y="5311"/>
                </a:cubicBezTo>
                <a:lnTo>
                  <a:pt x="4013" y="5215"/>
                </a:lnTo>
                <a:close/>
                <a:moveTo>
                  <a:pt x="7418" y="5215"/>
                </a:moveTo>
                <a:lnTo>
                  <a:pt x="7418" y="5311"/>
                </a:lnTo>
                <a:cubicBezTo>
                  <a:pt x="7418" y="5370"/>
                  <a:pt x="7442" y="5442"/>
                  <a:pt x="7466" y="5489"/>
                </a:cubicBezTo>
                <a:lnTo>
                  <a:pt x="7228" y="5727"/>
                </a:lnTo>
                <a:lnTo>
                  <a:pt x="7204" y="5727"/>
                </a:lnTo>
                <a:lnTo>
                  <a:pt x="6966" y="5489"/>
                </a:lnTo>
                <a:cubicBezTo>
                  <a:pt x="6990" y="5430"/>
                  <a:pt x="7001" y="5370"/>
                  <a:pt x="7001" y="5311"/>
                </a:cubicBezTo>
                <a:lnTo>
                  <a:pt x="7001" y="5215"/>
                </a:lnTo>
                <a:close/>
                <a:moveTo>
                  <a:pt x="10419" y="5215"/>
                </a:moveTo>
                <a:lnTo>
                  <a:pt x="10419" y="5311"/>
                </a:lnTo>
                <a:cubicBezTo>
                  <a:pt x="10419" y="5370"/>
                  <a:pt x="10430" y="5442"/>
                  <a:pt x="10454" y="5489"/>
                </a:cubicBezTo>
                <a:lnTo>
                  <a:pt x="10216" y="5727"/>
                </a:lnTo>
                <a:lnTo>
                  <a:pt x="10192" y="5727"/>
                </a:lnTo>
                <a:lnTo>
                  <a:pt x="9954" y="5489"/>
                </a:lnTo>
                <a:cubicBezTo>
                  <a:pt x="9978" y="5430"/>
                  <a:pt x="10002" y="5370"/>
                  <a:pt x="10002" y="5311"/>
                </a:cubicBezTo>
                <a:lnTo>
                  <a:pt x="10002" y="5215"/>
                </a:lnTo>
                <a:close/>
                <a:moveTo>
                  <a:pt x="2584" y="0"/>
                </a:moveTo>
                <a:cubicBezTo>
                  <a:pt x="2191" y="0"/>
                  <a:pt x="1858" y="322"/>
                  <a:pt x="1858" y="727"/>
                </a:cubicBezTo>
                <a:lnTo>
                  <a:pt x="1858" y="1096"/>
                </a:lnTo>
                <a:cubicBezTo>
                  <a:pt x="1858" y="1393"/>
                  <a:pt x="2013" y="1667"/>
                  <a:pt x="2227" y="1846"/>
                </a:cubicBezTo>
                <a:lnTo>
                  <a:pt x="2227" y="2108"/>
                </a:lnTo>
                <a:cubicBezTo>
                  <a:pt x="2227" y="2108"/>
                  <a:pt x="2227" y="2132"/>
                  <a:pt x="2215" y="2132"/>
                </a:cubicBezTo>
                <a:lnTo>
                  <a:pt x="1787" y="2346"/>
                </a:lnTo>
                <a:cubicBezTo>
                  <a:pt x="1608" y="2441"/>
                  <a:pt x="1489" y="2632"/>
                  <a:pt x="1489" y="2846"/>
                </a:cubicBezTo>
                <a:lnTo>
                  <a:pt x="1489" y="3179"/>
                </a:lnTo>
                <a:lnTo>
                  <a:pt x="1096" y="3179"/>
                </a:lnTo>
                <a:cubicBezTo>
                  <a:pt x="703" y="3179"/>
                  <a:pt x="370" y="3513"/>
                  <a:pt x="370" y="3918"/>
                </a:cubicBezTo>
                <a:lnTo>
                  <a:pt x="370" y="4287"/>
                </a:lnTo>
                <a:cubicBezTo>
                  <a:pt x="370" y="4584"/>
                  <a:pt x="524" y="4846"/>
                  <a:pt x="739" y="5025"/>
                </a:cubicBezTo>
                <a:lnTo>
                  <a:pt x="739" y="5299"/>
                </a:lnTo>
                <a:cubicBezTo>
                  <a:pt x="739" y="5299"/>
                  <a:pt x="739" y="5311"/>
                  <a:pt x="727" y="5311"/>
                </a:cubicBezTo>
                <a:lnTo>
                  <a:pt x="298" y="5537"/>
                </a:lnTo>
                <a:cubicBezTo>
                  <a:pt x="120" y="5620"/>
                  <a:pt x="1" y="5823"/>
                  <a:pt x="1" y="6025"/>
                </a:cubicBezTo>
                <a:lnTo>
                  <a:pt x="1" y="7870"/>
                </a:lnTo>
                <a:cubicBezTo>
                  <a:pt x="1" y="8025"/>
                  <a:pt x="48" y="8156"/>
                  <a:pt x="120" y="8275"/>
                </a:cubicBezTo>
                <a:lnTo>
                  <a:pt x="298" y="8561"/>
                </a:lnTo>
                <a:cubicBezTo>
                  <a:pt x="346" y="8621"/>
                  <a:pt x="358" y="8692"/>
                  <a:pt x="358" y="8775"/>
                </a:cubicBezTo>
                <a:lnTo>
                  <a:pt x="358" y="9549"/>
                </a:lnTo>
                <a:cubicBezTo>
                  <a:pt x="358" y="9644"/>
                  <a:pt x="429" y="9716"/>
                  <a:pt x="524" y="9716"/>
                </a:cubicBezTo>
                <a:cubicBezTo>
                  <a:pt x="608" y="9716"/>
                  <a:pt x="679" y="9644"/>
                  <a:pt x="679" y="9549"/>
                </a:cubicBezTo>
                <a:lnTo>
                  <a:pt x="679" y="8775"/>
                </a:lnTo>
                <a:cubicBezTo>
                  <a:pt x="679" y="8632"/>
                  <a:pt x="644" y="8501"/>
                  <a:pt x="560" y="8371"/>
                </a:cubicBezTo>
                <a:lnTo>
                  <a:pt x="382" y="8097"/>
                </a:lnTo>
                <a:cubicBezTo>
                  <a:pt x="346" y="8037"/>
                  <a:pt x="322" y="7966"/>
                  <a:pt x="322" y="7870"/>
                </a:cubicBezTo>
                <a:lnTo>
                  <a:pt x="322" y="6025"/>
                </a:lnTo>
                <a:cubicBezTo>
                  <a:pt x="322" y="5954"/>
                  <a:pt x="370" y="5882"/>
                  <a:pt x="441" y="5846"/>
                </a:cubicBezTo>
                <a:lnTo>
                  <a:pt x="763" y="5692"/>
                </a:lnTo>
                <a:lnTo>
                  <a:pt x="1036" y="5977"/>
                </a:lnTo>
                <a:cubicBezTo>
                  <a:pt x="1120" y="6049"/>
                  <a:pt x="1203" y="6085"/>
                  <a:pt x="1298" y="6085"/>
                </a:cubicBezTo>
                <a:cubicBezTo>
                  <a:pt x="1382" y="6085"/>
                  <a:pt x="1477" y="6049"/>
                  <a:pt x="1548" y="5977"/>
                </a:cubicBezTo>
                <a:lnTo>
                  <a:pt x="1834" y="5692"/>
                </a:lnTo>
                <a:lnTo>
                  <a:pt x="2144" y="5846"/>
                </a:lnTo>
                <a:cubicBezTo>
                  <a:pt x="2215" y="5882"/>
                  <a:pt x="2263" y="5954"/>
                  <a:pt x="2263" y="6025"/>
                </a:cubicBezTo>
                <a:lnTo>
                  <a:pt x="2263" y="7870"/>
                </a:lnTo>
                <a:cubicBezTo>
                  <a:pt x="2263" y="7942"/>
                  <a:pt x="2227" y="8025"/>
                  <a:pt x="2203" y="8097"/>
                </a:cubicBezTo>
                <a:lnTo>
                  <a:pt x="2025" y="8371"/>
                </a:lnTo>
                <a:cubicBezTo>
                  <a:pt x="1953" y="8490"/>
                  <a:pt x="1906" y="8644"/>
                  <a:pt x="1906" y="8775"/>
                </a:cubicBezTo>
                <a:lnTo>
                  <a:pt x="1906" y="9549"/>
                </a:lnTo>
                <a:cubicBezTo>
                  <a:pt x="1906" y="9644"/>
                  <a:pt x="1977" y="9716"/>
                  <a:pt x="2072" y="9716"/>
                </a:cubicBezTo>
                <a:cubicBezTo>
                  <a:pt x="2156" y="9716"/>
                  <a:pt x="2227" y="9644"/>
                  <a:pt x="2227" y="9549"/>
                </a:cubicBezTo>
                <a:lnTo>
                  <a:pt x="2227" y="8775"/>
                </a:lnTo>
                <a:cubicBezTo>
                  <a:pt x="2227" y="8704"/>
                  <a:pt x="2263" y="8632"/>
                  <a:pt x="2287" y="8561"/>
                </a:cubicBezTo>
                <a:lnTo>
                  <a:pt x="2465" y="8275"/>
                </a:lnTo>
                <a:cubicBezTo>
                  <a:pt x="2549" y="8156"/>
                  <a:pt x="2584" y="8001"/>
                  <a:pt x="2584" y="7870"/>
                </a:cubicBezTo>
                <a:lnTo>
                  <a:pt x="2584" y="6025"/>
                </a:lnTo>
                <a:cubicBezTo>
                  <a:pt x="2584" y="5823"/>
                  <a:pt x="2465" y="5644"/>
                  <a:pt x="2287" y="5537"/>
                </a:cubicBezTo>
                <a:lnTo>
                  <a:pt x="1858" y="5311"/>
                </a:lnTo>
                <a:lnTo>
                  <a:pt x="1846" y="5299"/>
                </a:lnTo>
                <a:lnTo>
                  <a:pt x="1846" y="5025"/>
                </a:lnTo>
                <a:cubicBezTo>
                  <a:pt x="2072" y="4870"/>
                  <a:pt x="2215" y="4596"/>
                  <a:pt x="2215" y="4287"/>
                </a:cubicBezTo>
                <a:lnTo>
                  <a:pt x="2215" y="3918"/>
                </a:lnTo>
                <a:cubicBezTo>
                  <a:pt x="2215" y="3644"/>
                  <a:pt x="2072" y="3406"/>
                  <a:pt x="1846" y="3275"/>
                </a:cubicBezTo>
                <a:lnTo>
                  <a:pt x="1846" y="2822"/>
                </a:lnTo>
                <a:cubicBezTo>
                  <a:pt x="1846" y="2751"/>
                  <a:pt x="1894" y="2679"/>
                  <a:pt x="1965" y="2644"/>
                </a:cubicBezTo>
                <a:lnTo>
                  <a:pt x="2275" y="2501"/>
                </a:lnTo>
                <a:lnTo>
                  <a:pt x="2560" y="2786"/>
                </a:lnTo>
                <a:cubicBezTo>
                  <a:pt x="2632" y="2858"/>
                  <a:pt x="2727" y="2882"/>
                  <a:pt x="2810" y="2882"/>
                </a:cubicBezTo>
                <a:cubicBezTo>
                  <a:pt x="2906" y="2882"/>
                  <a:pt x="2989" y="2858"/>
                  <a:pt x="3061" y="2786"/>
                </a:cubicBezTo>
                <a:lnTo>
                  <a:pt x="3346" y="2501"/>
                </a:lnTo>
                <a:lnTo>
                  <a:pt x="3656" y="2644"/>
                </a:lnTo>
                <a:cubicBezTo>
                  <a:pt x="3739" y="2679"/>
                  <a:pt x="3775" y="2751"/>
                  <a:pt x="3775" y="2822"/>
                </a:cubicBezTo>
                <a:lnTo>
                  <a:pt x="3775" y="3275"/>
                </a:lnTo>
                <a:cubicBezTo>
                  <a:pt x="3561" y="3394"/>
                  <a:pt x="3406" y="3632"/>
                  <a:pt x="3406" y="3918"/>
                </a:cubicBezTo>
                <a:lnTo>
                  <a:pt x="3406" y="4287"/>
                </a:lnTo>
                <a:cubicBezTo>
                  <a:pt x="3406" y="4584"/>
                  <a:pt x="3561" y="4846"/>
                  <a:pt x="3775" y="5025"/>
                </a:cubicBezTo>
                <a:lnTo>
                  <a:pt x="3775" y="5299"/>
                </a:lnTo>
                <a:cubicBezTo>
                  <a:pt x="3775" y="5299"/>
                  <a:pt x="3775" y="5311"/>
                  <a:pt x="3763" y="5311"/>
                </a:cubicBezTo>
                <a:lnTo>
                  <a:pt x="3334" y="5537"/>
                </a:lnTo>
                <a:cubicBezTo>
                  <a:pt x="3156" y="5620"/>
                  <a:pt x="3037" y="5823"/>
                  <a:pt x="3037" y="6025"/>
                </a:cubicBezTo>
                <a:lnTo>
                  <a:pt x="3037" y="7870"/>
                </a:lnTo>
                <a:cubicBezTo>
                  <a:pt x="3037" y="8025"/>
                  <a:pt x="3084" y="8156"/>
                  <a:pt x="3156" y="8275"/>
                </a:cubicBezTo>
                <a:lnTo>
                  <a:pt x="3334" y="8561"/>
                </a:lnTo>
                <a:cubicBezTo>
                  <a:pt x="3382" y="8621"/>
                  <a:pt x="3394" y="8692"/>
                  <a:pt x="3394" y="8775"/>
                </a:cubicBezTo>
                <a:lnTo>
                  <a:pt x="3394" y="9549"/>
                </a:lnTo>
                <a:cubicBezTo>
                  <a:pt x="3394" y="9644"/>
                  <a:pt x="3465" y="9716"/>
                  <a:pt x="3561" y="9716"/>
                </a:cubicBezTo>
                <a:cubicBezTo>
                  <a:pt x="3644" y="9716"/>
                  <a:pt x="3715" y="9644"/>
                  <a:pt x="3715" y="9549"/>
                </a:cubicBezTo>
                <a:lnTo>
                  <a:pt x="3715" y="8775"/>
                </a:lnTo>
                <a:cubicBezTo>
                  <a:pt x="3715" y="8632"/>
                  <a:pt x="3680" y="8501"/>
                  <a:pt x="3596" y="8371"/>
                </a:cubicBezTo>
                <a:lnTo>
                  <a:pt x="3418" y="8097"/>
                </a:lnTo>
                <a:cubicBezTo>
                  <a:pt x="3382" y="8037"/>
                  <a:pt x="3358" y="7966"/>
                  <a:pt x="3358" y="7870"/>
                </a:cubicBezTo>
                <a:lnTo>
                  <a:pt x="3358" y="6025"/>
                </a:lnTo>
                <a:cubicBezTo>
                  <a:pt x="3358" y="5954"/>
                  <a:pt x="3406" y="5882"/>
                  <a:pt x="3477" y="5846"/>
                </a:cubicBezTo>
                <a:lnTo>
                  <a:pt x="3799" y="5692"/>
                </a:lnTo>
                <a:lnTo>
                  <a:pt x="4073" y="5977"/>
                </a:lnTo>
                <a:cubicBezTo>
                  <a:pt x="4156" y="6049"/>
                  <a:pt x="4239" y="6085"/>
                  <a:pt x="4334" y="6085"/>
                </a:cubicBezTo>
                <a:cubicBezTo>
                  <a:pt x="4418" y="6085"/>
                  <a:pt x="4513" y="6049"/>
                  <a:pt x="4585" y="5977"/>
                </a:cubicBezTo>
                <a:lnTo>
                  <a:pt x="4870" y="5692"/>
                </a:lnTo>
                <a:lnTo>
                  <a:pt x="5180" y="5846"/>
                </a:lnTo>
                <a:cubicBezTo>
                  <a:pt x="5251" y="5882"/>
                  <a:pt x="5299" y="5954"/>
                  <a:pt x="5299" y="6025"/>
                </a:cubicBezTo>
                <a:lnTo>
                  <a:pt x="5299" y="7870"/>
                </a:lnTo>
                <a:cubicBezTo>
                  <a:pt x="5299" y="7942"/>
                  <a:pt x="5263" y="8025"/>
                  <a:pt x="5239" y="8097"/>
                </a:cubicBezTo>
                <a:lnTo>
                  <a:pt x="5061" y="8371"/>
                </a:lnTo>
                <a:cubicBezTo>
                  <a:pt x="4989" y="8490"/>
                  <a:pt x="4942" y="8644"/>
                  <a:pt x="4942" y="8775"/>
                </a:cubicBezTo>
                <a:lnTo>
                  <a:pt x="4942" y="9549"/>
                </a:lnTo>
                <a:cubicBezTo>
                  <a:pt x="4942" y="9644"/>
                  <a:pt x="5013" y="9716"/>
                  <a:pt x="5108" y="9716"/>
                </a:cubicBezTo>
                <a:cubicBezTo>
                  <a:pt x="5192" y="9716"/>
                  <a:pt x="5263" y="9644"/>
                  <a:pt x="5263" y="9549"/>
                </a:cubicBezTo>
                <a:lnTo>
                  <a:pt x="5263" y="8775"/>
                </a:lnTo>
                <a:cubicBezTo>
                  <a:pt x="5263" y="8704"/>
                  <a:pt x="5299" y="8632"/>
                  <a:pt x="5323" y="8561"/>
                </a:cubicBezTo>
                <a:lnTo>
                  <a:pt x="5501" y="8275"/>
                </a:lnTo>
                <a:cubicBezTo>
                  <a:pt x="5585" y="8156"/>
                  <a:pt x="5620" y="8001"/>
                  <a:pt x="5620" y="7870"/>
                </a:cubicBezTo>
                <a:lnTo>
                  <a:pt x="5620" y="6025"/>
                </a:lnTo>
                <a:cubicBezTo>
                  <a:pt x="5620" y="5823"/>
                  <a:pt x="5501" y="5644"/>
                  <a:pt x="5323" y="5537"/>
                </a:cubicBezTo>
                <a:lnTo>
                  <a:pt x="4894" y="5311"/>
                </a:lnTo>
                <a:lnTo>
                  <a:pt x="4882" y="5299"/>
                </a:lnTo>
                <a:lnTo>
                  <a:pt x="4882" y="5025"/>
                </a:lnTo>
                <a:cubicBezTo>
                  <a:pt x="5108" y="4870"/>
                  <a:pt x="5251" y="4596"/>
                  <a:pt x="5251" y="4287"/>
                </a:cubicBezTo>
                <a:lnTo>
                  <a:pt x="5251" y="3918"/>
                </a:lnTo>
                <a:cubicBezTo>
                  <a:pt x="5251" y="3644"/>
                  <a:pt x="5108" y="3406"/>
                  <a:pt x="4882" y="3275"/>
                </a:cubicBezTo>
                <a:lnTo>
                  <a:pt x="4882" y="2822"/>
                </a:lnTo>
                <a:cubicBezTo>
                  <a:pt x="4882" y="2751"/>
                  <a:pt x="4930" y="2679"/>
                  <a:pt x="5001" y="2644"/>
                </a:cubicBezTo>
                <a:lnTo>
                  <a:pt x="5311" y="2501"/>
                </a:lnTo>
                <a:lnTo>
                  <a:pt x="5597" y="2786"/>
                </a:lnTo>
                <a:cubicBezTo>
                  <a:pt x="5668" y="2858"/>
                  <a:pt x="5763" y="2882"/>
                  <a:pt x="5847" y="2882"/>
                </a:cubicBezTo>
                <a:cubicBezTo>
                  <a:pt x="5942" y="2882"/>
                  <a:pt x="6025" y="2858"/>
                  <a:pt x="6097" y="2786"/>
                </a:cubicBezTo>
                <a:lnTo>
                  <a:pt x="6382" y="2501"/>
                </a:lnTo>
                <a:lnTo>
                  <a:pt x="6692" y="2644"/>
                </a:lnTo>
                <a:cubicBezTo>
                  <a:pt x="6775" y="2679"/>
                  <a:pt x="6811" y="2751"/>
                  <a:pt x="6811" y="2822"/>
                </a:cubicBezTo>
                <a:lnTo>
                  <a:pt x="6811" y="3275"/>
                </a:lnTo>
                <a:cubicBezTo>
                  <a:pt x="6597" y="3394"/>
                  <a:pt x="6442" y="3632"/>
                  <a:pt x="6442" y="3918"/>
                </a:cubicBezTo>
                <a:lnTo>
                  <a:pt x="6442" y="4287"/>
                </a:lnTo>
                <a:cubicBezTo>
                  <a:pt x="6442" y="4584"/>
                  <a:pt x="6597" y="4846"/>
                  <a:pt x="6811" y="5025"/>
                </a:cubicBezTo>
                <a:lnTo>
                  <a:pt x="6811" y="5299"/>
                </a:lnTo>
                <a:cubicBezTo>
                  <a:pt x="6811" y="5299"/>
                  <a:pt x="6811" y="5311"/>
                  <a:pt x="6799" y="5311"/>
                </a:cubicBezTo>
                <a:lnTo>
                  <a:pt x="6370" y="5537"/>
                </a:lnTo>
                <a:cubicBezTo>
                  <a:pt x="6192" y="5620"/>
                  <a:pt x="6073" y="5823"/>
                  <a:pt x="6073" y="6025"/>
                </a:cubicBezTo>
                <a:lnTo>
                  <a:pt x="6073" y="7870"/>
                </a:lnTo>
                <a:cubicBezTo>
                  <a:pt x="6073" y="8025"/>
                  <a:pt x="6120" y="8156"/>
                  <a:pt x="6192" y="8275"/>
                </a:cubicBezTo>
                <a:lnTo>
                  <a:pt x="6370" y="8561"/>
                </a:lnTo>
                <a:cubicBezTo>
                  <a:pt x="6418" y="8621"/>
                  <a:pt x="6430" y="8692"/>
                  <a:pt x="6430" y="8775"/>
                </a:cubicBezTo>
                <a:lnTo>
                  <a:pt x="6430" y="9549"/>
                </a:lnTo>
                <a:cubicBezTo>
                  <a:pt x="6430" y="9644"/>
                  <a:pt x="6501" y="9716"/>
                  <a:pt x="6597" y="9716"/>
                </a:cubicBezTo>
                <a:cubicBezTo>
                  <a:pt x="6680" y="9716"/>
                  <a:pt x="6751" y="9644"/>
                  <a:pt x="6751" y="9549"/>
                </a:cubicBezTo>
                <a:lnTo>
                  <a:pt x="6751" y="8775"/>
                </a:lnTo>
                <a:cubicBezTo>
                  <a:pt x="6751" y="8632"/>
                  <a:pt x="6716" y="8501"/>
                  <a:pt x="6632" y="8371"/>
                </a:cubicBezTo>
                <a:lnTo>
                  <a:pt x="6454" y="8097"/>
                </a:lnTo>
                <a:cubicBezTo>
                  <a:pt x="6418" y="8037"/>
                  <a:pt x="6394" y="7966"/>
                  <a:pt x="6394" y="7870"/>
                </a:cubicBezTo>
                <a:lnTo>
                  <a:pt x="6394" y="6025"/>
                </a:lnTo>
                <a:cubicBezTo>
                  <a:pt x="6394" y="5954"/>
                  <a:pt x="6442" y="5882"/>
                  <a:pt x="6513" y="5846"/>
                </a:cubicBezTo>
                <a:lnTo>
                  <a:pt x="6835" y="5692"/>
                </a:lnTo>
                <a:lnTo>
                  <a:pt x="7109" y="5977"/>
                </a:lnTo>
                <a:cubicBezTo>
                  <a:pt x="7192" y="6049"/>
                  <a:pt x="7275" y="6085"/>
                  <a:pt x="7371" y="6085"/>
                </a:cubicBezTo>
                <a:cubicBezTo>
                  <a:pt x="7454" y="6085"/>
                  <a:pt x="7549" y="6049"/>
                  <a:pt x="7621" y="5977"/>
                </a:cubicBezTo>
                <a:lnTo>
                  <a:pt x="7906" y="5692"/>
                </a:lnTo>
                <a:lnTo>
                  <a:pt x="8216" y="5846"/>
                </a:lnTo>
                <a:cubicBezTo>
                  <a:pt x="8287" y="5882"/>
                  <a:pt x="8335" y="5954"/>
                  <a:pt x="8335" y="6025"/>
                </a:cubicBezTo>
                <a:lnTo>
                  <a:pt x="8335" y="7870"/>
                </a:lnTo>
                <a:cubicBezTo>
                  <a:pt x="8335" y="7942"/>
                  <a:pt x="8299" y="8025"/>
                  <a:pt x="8275" y="8097"/>
                </a:cubicBezTo>
                <a:lnTo>
                  <a:pt x="8097" y="8371"/>
                </a:lnTo>
                <a:cubicBezTo>
                  <a:pt x="8025" y="8490"/>
                  <a:pt x="7978" y="8644"/>
                  <a:pt x="7978" y="8775"/>
                </a:cubicBezTo>
                <a:lnTo>
                  <a:pt x="7978" y="9549"/>
                </a:lnTo>
                <a:cubicBezTo>
                  <a:pt x="7978" y="9644"/>
                  <a:pt x="8049" y="9716"/>
                  <a:pt x="8144" y="9716"/>
                </a:cubicBezTo>
                <a:cubicBezTo>
                  <a:pt x="8228" y="9716"/>
                  <a:pt x="8299" y="9644"/>
                  <a:pt x="8299" y="9549"/>
                </a:cubicBezTo>
                <a:lnTo>
                  <a:pt x="8299" y="8775"/>
                </a:lnTo>
                <a:cubicBezTo>
                  <a:pt x="8299" y="8704"/>
                  <a:pt x="8335" y="8632"/>
                  <a:pt x="8359" y="8561"/>
                </a:cubicBezTo>
                <a:lnTo>
                  <a:pt x="8537" y="8275"/>
                </a:lnTo>
                <a:cubicBezTo>
                  <a:pt x="8621" y="8156"/>
                  <a:pt x="8656" y="8001"/>
                  <a:pt x="8656" y="7870"/>
                </a:cubicBezTo>
                <a:lnTo>
                  <a:pt x="8656" y="6025"/>
                </a:lnTo>
                <a:cubicBezTo>
                  <a:pt x="8656" y="5823"/>
                  <a:pt x="8537" y="5644"/>
                  <a:pt x="8359" y="5537"/>
                </a:cubicBezTo>
                <a:lnTo>
                  <a:pt x="7930" y="5311"/>
                </a:lnTo>
                <a:lnTo>
                  <a:pt x="7918" y="5299"/>
                </a:lnTo>
                <a:lnTo>
                  <a:pt x="7918" y="5025"/>
                </a:lnTo>
                <a:cubicBezTo>
                  <a:pt x="8144" y="4870"/>
                  <a:pt x="8287" y="4596"/>
                  <a:pt x="8287" y="4287"/>
                </a:cubicBezTo>
                <a:lnTo>
                  <a:pt x="8287" y="3918"/>
                </a:lnTo>
                <a:cubicBezTo>
                  <a:pt x="8287" y="3644"/>
                  <a:pt x="8144" y="3406"/>
                  <a:pt x="7918" y="3275"/>
                </a:cubicBezTo>
                <a:lnTo>
                  <a:pt x="7918" y="2822"/>
                </a:lnTo>
                <a:cubicBezTo>
                  <a:pt x="7918" y="2751"/>
                  <a:pt x="7966" y="2679"/>
                  <a:pt x="8037" y="2644"/>
                </a:cubicBezTo>
                <a:lnTo>
                  <a:pt x="8347" y="2501"/>
                </a:lnTo>
                <a:lnTo>
                  <a:pt x="8633" y="2786"/>
                </a:lnTo>
                <a:cubicBezTo>
                  <a:pt x="8704" y="2858"/>
                  <a:pt x="8799" y="2882"/>
                  <a:pt x="8883" y="2882"/>
                </a:cubicBezTo>
                <a:cubicBezTo>
                  <a:pt x="8978" y="2882"/>
                  <a:pt x="9061" y="2858"/>
                  <a:pt x="9133" y="2786"/>
                </a:cubicBezTo>
                <a:lnTo>
                  <a:pt x="9418" y="2501"/>
                </a:lnTo>
                <a:lnTo>
                  <a:pt x="9728" y="2644"/>
                </a:lnTo>
                <a:cubicBezTo>
                  <a:pt x="9811" y="2679"/>
                  <a:pt x="9847" y="2751"/>
                  <a:pt x="9847" y="2822"/>
                </a:cubicBezTo>
                <a:lnTo>
                  <a:pt x="9847" y="3275"/>
                </a:lnTo>
                <a:cubicBezTo>
                  <a:pt x="9633" y="3394"/>
                  <a:pt x="9478" y="3632"/>
                  <a:pt x="9478" y="3918"/>
                </a:cubicBezTo>
                <a:lnTo>
                  <a:pt x="9478" y="4287"/>
                </a:lnTo>
                <a:cubicBezTo>
                  <a:pt x="9478" y="4584"/>
                  <a:pt x="9633" y="4846"/>
                  <a:pt x="9847" y="5025"/>
                </a:cubicBezTo>
                <a:lnTo>
                  <a:pt x="9847" y="5299"/>
                </a:lnTo>
                <a:cubicBezTo>
                  <a:pt x="9847" y="5299"/>
                  <a:pt x="9847" y="5311"/>
                  <a:pt x="9835" y="5311"/>
                </a:cubicBezTo>
                <a:lnTo>
                  <a:pt x="9407" y="5537"/>
                </a:lnTo>
                <a:cubicBezTo>
                  <a:pt x="9228" y="5620"/>
                  <a:pt x="9109" y="5823"/>
                  <a:pt x="9109" y="6025"/>
                </a:cubicBezTo>
                <a:lnTo>
                  <a:pt x="9109" y="7870"/>
                </a:lnTo>
                <a:cubicBezTo>
                  <a:pt x="9109" y="8025"/>
                  <a:pt x="9157" y="8156"/>
                  <a:pt x="9228" y="8275"/>
                </a:cubicBezTo>
                <a:lnTo>
                  <a:pt x="9407" y="8561"/>
                </a:lnTo>
                <a:cubicBezTo>
                  <a:pt x="9454" y="8621"/>
                  <a:pt x="9466" y="8692"/>
                  <a:pt x="9466" y="8775"/>
                </a:cubicBezTo>
                <a:lnTo>
                  <a:pt x="9466" y="9549"/>
                </a:lnTo>
                <a:cubicBezTo>
                  <a:pt x="9466" y="9644"/>
                  <a:pt x="9538" y="9716"/>
                  <a:pt x="9633" y="9716"/>
                </a:cubicBezTo>
                <a:cubicBezTo>
                  <a:pt x="9716" y="9716"/>
                  <a:pt x="9788" y="9644"/>
                  <a:pt x="9788" y="9549"/>
                </a:cubicBezTo>
                <a:lnTo>
                  <a:pt x="9788" y="8775"/>
                </a:lnTo>
                <a:cubicBezTo>
                  <a:pt x="9788" y="8632"/>
                  <a:pt x="9752" y="8501"/>
                  <a:pt x="9668" y="8371"/>
                </a:cubicBezTo>
                <a:lnTo>
                  <a:pt x="9490" y="8097"/>
                </a:lnTo>
                <a:cubicBezTo>
                  <a:pt x="9454" y="8037"/>
                  <a:pt x="9430" y="7966"/>
                  <a:pt x="9430" y="7870"/>
                </a:cubicBezTo>
                <a:lnTo>
                  <a:pt x="9430" y="6025"/>
                </a:lnTo>
                <a:cubicBezTo>
                  <a:pt x="9430" y="5954"/>
                  <a:pt x="9478" y="5882"/>
                  <a:pt x="9549" y="5846"/>
                </a:cubicBezTo>
                <a:lnTo>
                  <a:pt x="9871" y="5692"/>
                </a:lnTo>
                <a:lnTo>
                  <a:pt x="10145" y="5977"/>
                </a:lnTo>
                <a:cubicBezTo>
                  <a:pt x="10228" y="6049"/>
                  <a:pt x="10311" y="6085"/>
                  <a:pt x="10407" y="6085"/>
                </a:cubicBezTo>
                <a:cubicBezTo>
                  <a:pt x="10490" y="6085"/>
                  <a:pt x="10585" y="6049"/>
                  <a:pt x="10657" y="5977"/>
                </a:cubicBezTo>
                <a:lnTo>
                  <a:pt x="10942" y="5692"/>
                </a:lnTo>
                <a:lnTo>
                  <a:pt x="11252" y="5846"/>
                </a:lnTo>
                <a:cubicBezTo>
                  <a:pt x="11323" y="5882"/>
                  <a:pt x="11371" y="5954"/>
                  <a:pt x="11371" y="6025"/>
                </a:cubicBezTo>
                <a:lnTo>
                  <a:pt x="11371" y="7870"/>
                </a:lnTo>
                <a:cubicBezTo>
                  <a:pt x="11371" y="7942"/>
                  <a:pt x="11335" y="8025"/>
                  <a:pt x="11312" y="8097"/>
                </a:cubicBezTo>
                <a:lnTo>
                  <a:pt x="11133" y="8371"/>
                </a:lnTo>
                <a:cubicBezTo>
                  <a:pt x="11062" y="8490"/>
                  <a:pt x="11014" y="8644"/>
                  <a:pt x="11014" y="8775"/>
                </a:cubicBezTo>
                <a:lnTo>
                  <a:pt x="11014" y="9549"/>
                </a:lnTo>
                <a:cubicBezTo>
                  <a:pt x="11014" y="9644"/>
                  <a:pt x="11085" y="9716"/>
                  <a:pt x="11181" y="9716"/>
                </a:cubicBezTo>
                <a:cubicBezTo>
                  <a:pt x="11264" y="9716"/>
                  <a:pt x="11335" y="9644"/>
                  <a:pt x="11335" y="9549"/>
                </a:cubicBezTo>
                <a:lnTo>
                  <a:pt x="11335" y="8775"/>
                </a:lnTo>
                <a:cubicBezTo>
                  <a:pt x="11335" y="8704"/>
                  <a:pt x="11371" y="8632"/>
                  <a:pt x="11395" y="8561"/>
                </a:cubicBezTo>
                <a:lnTo>
                  <a:pt x="11573" y="8275"/>
                </a:lnTo>
                <a:cubicBezTo>
                  <a:pt x="11657" y="8156"/>
                  <a:pt x="11693" y="8001"/>
                  <a:pt x="11693" y="7870"/>
                </a:cubicBezTo>
                <a:lnTo>
                  <a:pt x="11693" y="6025"/>
                </a:lnTo>
                <a:cubicBezTo>
                  <a:pt x="11514" y="5823"/>
                  <a:pt x="11395" y="5620"/>
                  <a:pt x="11204" y="5537"/>
                </a:cubicBezTo>
                <a:lnTo>
                  <a:pt x="10776" y="5311"/>
                </a:lnTo>
                <a:lnTo>
                  <a:pt x="10764" y="5299"/>
                </a:lnTo>
                <a:lnTo>
                  <a:pt x="10764" y="5025"/>
                </a:lnTo>
                <a:cubicBezTo>
                  <a:pt x="10978" y="4870"/>
                  <a:pt x="11133" y="4596"/>
                  <a:pt x="11133" y="4287"/>
                </a:cubicBezTo>
                <a:lnTo>
                  <a:pt x="11133" y="3918"/>
                </a:lnTo>
                <a:cubicBezTo>
                  <a:pt x="11133" y="3513"/>
                  <a:pt x="10800" y="3179"/>
                  <a:pt x="10407" y="3179"/>
                </a:cubicBezTo>
                <a:lnTo>
                  <a:pt x="10014" y="3179"/>
                </a:lnTo>
                <a:lnTo>
                  <a:pt x="10014" y="2846"/>
                </a:lnTo>
                <a:cubicBezTo>
                  <a:pt x="10014" y="2632"/>
                  <a:pt x="9895" y="2453"/>
                  <a:pt x="9716" y="2346"/>
                </a:cubicBezTo>
                <a:lnTo>
                  <a:pt x="9287" y="2132"/>
                </a:lnTo>
                <a:lnTo>
                  <a:pt x="9276" y="2108"/>
                </a:lnTo>
                <a:lnTo>
                  <a:pt x="9276" y="1846"/>
                </a:lnTo>
                <a:cubicBezTo>
                  <a:pt x="9490" y="1679"/>
                  <a:pt x="9645" y="1417"/>
                  <a:pt x="9645" y="1096"/>
                </a:cubicBezTo>
                <a:lnTo>
                  <a:pt x="9645" y="727"/>
                </a:lnTo>
                <a:cubicBezTo>
                  <a:pt x="9645" y="322"/>
                  <a:pt x="9311" y="0"/>
                  <a:pt x="8918" y="0"/>
                </a:cubicBezTo>
                <a:lnTo>
                  <a:pt x="8537" y="0"/>
                </a:lnTo>
                <a:cubicBezTo>
                  <a:pt x="8133" y="0"/>
                  <a:pt x="7811" y="322"/>
                  <a:pt x="7811" y="727"/>
                </a:cubicBezTo>
                <a:lnTo>
                  <a:pt x="7811" y="1096"/>
                </a:lnTo>
                <a:cubicBezTo>
                  <a:pt x="7811" y="1393"/>
                  <a:pt x="7966" y="1667"/>
                  <a:pt x="8180" y="1846"/>
                </a:cubicBezTo>
                <a:lnTo>
                  <a:pt x="8180" y="2108"/>
                </a:lnTo>
                <a:cubicBezTo>
                  <a:pt x="8180" y="2108"/>
                  <a:pt x="8180" y="2132"/>
                  <a:pt x="8168" y="2132"/>
                </a:cubicBezTo>
                <a:lnTo>
                  <a:pt x="7740" y="2346"/>
                </a:lnTo>
                <a:cubicBezTo>
                  <a:pt x="7561" y="2441"/>
                  <a:pt x="7442" y="2632"/>
                  <a:pt x="7442" y="2846"/>
                </a:cubicBezTo>
                <a:lnTo>
                  <a:pt x="7442" y="3179"/>
                </a:lnTo>
                <a:lnTo>
                  <a:pt x="7037" y="3179"/>
                </a:lnTo>
                <a:lnTo>
                  <a:pt x="7037" y="2846"/>
                </a:lnTo>
                <a:cubicBezTo>
                  <a:pt x="7037" y="2632"/>
                  <a:pt x="6918" y="2453"/>
                  <a:pt x="6740" y="2346"/>
                </a:cubicBezTo>
                <a:lnTo>
                  <a:pt x="6311" y="2132"/>
                </a:lnTo>
                <a:lnTo>
                  <a:pt x="6299" y="2108"/>
                </a:lnTo>
                <a:lnTo>
                  <a:pt x="6299" y="1846"/>
                </a:lnTo>
                <a:cubicBezTo>
                  <a:pt x="6513" y="1679"/>
                  <a:pt x="6668" y="1417"/>
                  <a:pt x="6668" y="1096"/>
                </a:cubicBezTo>
                <a:lnTo>
                  <a:pt x="6668" y="727"/>
                </a:lnTo>
                <a:cubicBezTo>
                  <a:pt x="6668" y="322"/>
                  <a:pt x="6335" y="0"/>
                  <a:pt x="5942" y="0"/>
                </a:cubicBezTo>
                <a:lnTo>
                  <a:pt x="5561" y="0"/>
                </a:lnTo>
                <a:cubicBezTo>
                  <a:pt x="5168" y="0"/>
                  <a:pt x="4835" y="322"/>
                  <a:pt x="4835" y="727"/>
                </a:cubicBezTo>
                <a:lnTo>
                  <a:pt x="4835" y="1096"/>
                </a:lnTo>
                <a:cubicBezTo>
                  <a:pt x="4835" y="1393"/>
                  <a:pt x="4989" y="1667"/>
                  <a:pt x="5204" y="1846"/>
                </a:cubicBezTo>
                <a:lnTo>
                  <a:pt x="5204" y="2108"/>
                </a:lnTo>
                <a:cubicBezTo>
                  <a:pt x="5204" y="2108"/>
                  <a:pt x="5204" y="2132"/>
                  <a:pt x="5192" y="2132"/>
                </a:cubicBezTo>
                <a:lnTo>
                  <a:pt x="4763" y="2346"/>
                </a:lnTo>
                <a:cubicBezTo>
                  <a:pt x="4585" y="2441"/>
                  <a:pt x="4465" y="2632"/>
                  <a:pt x="4465" y="2846"/>
                </a:cubicBezTo>
                <a:lnTo>
                  <a:pt x="4465" y="3179"/>
                </a:lnTo>
                <a:lnTo>
                  <a:pt x="4061" y="3179"/>
                </a:lnTo>
                <a:lnTo>
                  <a:pt x="4061" y="2846"/>
                </a:lnTo>
                <a:cubicBezTo>
                  <a:pt x="4061" y="2632"/>
                  <a:pt x="3942" y="2453"/>
                  <a:pt x="3763" y="2346"/>
                </a:cubicBezTo>
                <a:lnTo>
                  <a:pt x="3334" y="2132"/>
                </a:lnTo>
                <a:lnTo>
                  <a:pt x="3322" y="2108"/>
                </a:lnTo>
                <a:lnTo>
                  <a:pt x="3322" y="1846"/>
                </a:lnTo>
                <a:cubicBezTo>
                  <a:pt x="3537" y="1679"/>
                  <a:pt x="3692" y="1417"/>
                  <a:pt x="3692" y="1096"/>
                </a:cubicBezTo>
                <a:lnTo>
                  <a:pt x="3692" y="727"/>
                </a:lnTo>
                <a:cubicBezTo>
                  <a:pt x="3692" y="322"/>
                  <a:pt x="3358" y="0"/>
                  <a:pt x="2965"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11207;p72"/>
          <p:cNvGrpSpPr/>
          <p:nvPr/>
        </p:nvGrpSpPr>
        <p:grpSpPr>
          <a:xfrm>
            <a:off x="4012916" y="3270310"/>
            <a:ext cx="368175" cy="344594"/>
            <a:chOff x="3530425" y="1508747"/>
            <a:chExt cx="368175" cy="344594"/>
          </a:xfrm>
          <a:solidFill>
            <a:schemeClr val="bg1"/>
          </a:solidFill>
        </p:grpSpPr>
        <p:sp>
          <p:nvSpPr>
            <p:cNvPr id="21" name="Google Shape;11208;p72"/>
            <p:cNvSpPr/>
            <p:nvPr/>
          </p:nvSpPr>
          <p:spPr>
            <a:xfrm>
              <a:off x="3530425" y="1508747"/>
              <a:ext cx="316765" cy="344594"/>
            </a:xfrm>
            <a:custGeom>
              <a:avLst/>
              <a:gdLst/>
              <a:ahLst/>
              <a:cxnLst/>
              <a:rect l="l" t="t" r="r" b="b"/>
              <a:pathLst>
                <a:path w="7848" h="8538" extrusionOk="0">
                  <a:moveTo>
                    <a:pt x="6835" y="3406"/>
                  </a:moveTo>
                  <a:cubicBezTo>
                    <a:pt x="7252" y="3466"/>
                    <a:pt x="7561" y="3823"/>
                    <a:pt x="7561" y="4251"/>
                  </a:cubicBezTo>
                  <a:cubicBezTo>
                    <a:pt x="7573" y="4704"/>
                    <a:pt x="7264" y="5061"/>
                    <a:pt x="6835" y="5121"/>
                  </a:cubicBezTo>
                  <a:lnTo>
                    <a:pt x="6835" y="3406"/>
                  </a:lnTo>
                  <a:close/>
                  <a:moveTo>
                    <a:pt x="2144" y="3263"/>
                  </a:moveTo>
                  <a:lnTo>
                    <a:pt x="2144" y="5263"/>
                  </a:lnTo>
                  <a:lnTo>
                    <a:pt x="1263" y="5263"/>
                  </a:lnTo>
                  <a:lnTo>
                    <a:pt x="1263" y="3263"/>
                  </a:lnTo>
                  <a:close/>
                  <a:moveTo>
                    <a:pt x="1013" y="3275"/>
                  </a:moveTo>
                  <a:lnTo>
                    <a:pt x="1013" y="5287"/>
                  </a:lnTo>
                  <a:lnTo>
                    <a:pt x="715" y="5287"/>
                  </a:lnTo>
                  <a:cubicBezTo>
                    <a:pt x="477" y="5287"/>
                    <a:pt x="287" y="5085"/>
                    <a:pt x="287" y="4847"/>
                  </a:cubicBezTo>
                  <a:lnTo>
                    <a:pt x="287" y="3704"/>
                  </a:lnTo>
                  <a:cubicBezTo>
                    <a:pt x="287" y="3466"/>
                    <a:pt x="477" y="3275"/>
                    <a:pt x="715" y="3275"/>
                  </a:cubicBezTo>
                  <a:close/>
                  <a:moveTo>
                    <a:pt x="2287" y="6252"/>
                  </a:moveTo>
                  <a:lnTo>
                    <a:pt x="2287" y="6847"/>
                  </a:lnTo>
                  <a:lnTo>
                    <a:pt x="2037" y="6847"/>
                  </a:lnTo>
                  <a:lnTo>
                    <a:pt x="2204" y="6252"/>
                  </a:lnTo>
                  <a:close/>
                  <a:moveTo>
                    <a:pt x="2108" y="5549"/>
                  </a:moveTo>
                  <a:lnTo>
                    <a:pt x="1608" y="7407"/>
                  </a:lnTo>
                  <a:lnTo>
                    <a:pt x="1275" y="7407"/>
                  </a:lnTo>
                  <a:lnTo>
                    <a:pt x="1275" y="5549"/>
                  </a:lnTo>
                  <a:close/>
                  <a:moveTo>
                    <a:pt x="6561" y="263"/>
                  </a:moveTo>
                  <a:lnTo>
                    <a:pt x="6561" y="8276"/>
                  </a:lnTo>
                  <a:lnTo>
                    <a:pt x="5966" y="8276"/>
                  </a:lnTo>
                  <a:lnTo>
                    <a:pt x="5966" y="2632"/>
                  </a:lnTo>
                  <a:cubicBezTo>
                    <a:pt x="5966" y="2561"/>
                    <a:pt x="5906" y="2501"/>
                    <a:pt x="5835" y="2501"/>
                  </a:cubicBezTo>
                  <a:cubicBezTo>
                    <a:pt x="5764" y="2501"/>
                    <a:pt x="5704" y="2561"/>
                    <a:pt x="5704" y="2632"/>
                  </a:cubicBezTo>
                  <a:lnTo>
                    <a:pt x="5704" y="7395"/>
                  </a:lnTo>
                  <a:cubicBezTo>
                    <a:pt x="5537" y="7157"/>
                    <a:pt x="5264" y="6847"/>
                    <a:pt x="4942" y="6537"/>
                  </a:cubicBezTo>
                  <a:cubicBezTo>
                    <a:pt x="4573" y="6180"/>
                    <a:pt x="4180" y="5883"/>
                    <a:pt x="3775" y="5668"/>
                  </a:cubicBezTo>
                  <a:cubicBezTo>
                    <a:pt x="3323" y="5430"/>
                    <a:pt x="2858" y="5299"/>
                    <a:pt x="2394" y="5287"/>
                  </a:cubicBezTo>
                  <a:lnTo>
                    <a:pt x="2394" y="3263"/>
                  </a:lnTo>
                  <a:cubicBezTo>
                    <a:pt x="2858" y="3239"/>
                    <a:pt x="3335" y="3108"/>
                    <a:pt x="3775" y="2870"/>
                  </a:cubicBezTo>
                  <a:cubicBezTo>
                    <a:pt x="4180" y="2668"/>
                    <a:pt x="4573" y="2382"/>
                    <a:pt x="4942" y="2001"/>
                  </a:cubicBezTo>
                  <a:cubicBezTo>
                    <a:pt x="5264" y="1692"/>
                    <a:pt x="5525" y="1370"/>
                    <a:pt x="5704" y="1144"/>
                  </a:cubicBezTo>
                  <a:lnTo>
                    <a:pt x="5704" y="1989"/>
                  </a:lnTo>
                  <a:cubicBezTo>
                    <a:pt x="5704" y="2061"/>
                    <a:pt x="5764" y="2120"/>
                    <a:pt x="5835" y="2120"/>
                  </a:cubicBezTo>
                  <a:cubicBezTo>
                    <a:pt x="5906" y="2120"/>
                    <a:pt x="5966" y="2061"/>
                    <a:pt x="5966" y="1989"/>
                  </a:cubicBezTo>
                  <a:lnTo>
                    <a:pt x="5966" y="263"/>
                  </a:lnTo>
                  <a:close/>
                  <a:moveTo>
                    <a:pt x="5847" y="1"/>
                  </a:moveTo>
                  <a:cubicBezTo>
                    <a:pt x="5776" y="1"/>
                    <a:pt x="5716" y="60"/>
                    <a:pt x="5716" y="132"/>
                  </a:cubicBezTo>
                  <a:lnTo>
                    <a:pt x="5716" y="668"/>
                  </a:lnTo>
                  <a:cubicBezTo>
                    <a:pt x="5645" y="799"/>
                    <a:pt x="5299" y="1311"/>
                    <a:pt x="4763" y="1834"/>
                  </a:cubicBezTo>
                  <a:cubicBezTo>
                    <a:pt x="4216" y="2370"/>
                    <a:pt x="3335" y="3001"/>
                    <a:pt x="2275" y="3001"/>
                  </a:cubicBezTo>
                  <a:lnTo>
                    <a:pt x="703" y="3001"/>
                  </a:lnTo>
                  <a:cubicBezTo>
                    <a:pt x="311" y="3001"/>
                    <a:pt x="1" y="3323"/>
                    <a:pt x="1" y="3704"/>
                  </a:cubicBezTo>
                  <a:lnTo>
                    <a:pt x="1" y="4847"/>
                  </a:lnTo>
                  <a:cubicBezTo>
                    <a:pt x="1" y="5240"/>
                    <a:pt x="311" y="5549"/>
                    <a:pt x="703" y="5549"/>
                  </a:cubicBezTo>
                  <a:lnTo>
                    <a:pt x="1001" y="5549"/>
                  </a:lnTo>
                  <a:lnTo>
                    <a:pt x="1001" y="7561"/>
                  </a:lnTo>
                  <a:cubicBezTo>
                    <a:pt x="1001" y="7633"/>
                    <a:pt x="1061" y="7692"/>
                    <a:pt x="1132" y="7692"/>
                  </a:cubicBezTo>
                  <a:lnTo>
                    <a:pt x="1692" y="7692"/>
                  </a:lnTo>
                  <a:cubicBezTo>
                    <a:pt x="1751" y="7692"/>
                    <a:pt x="1811" y="7645"/>
                    <a:pt x="1823" y="7585"/>
                  </a:cubicBezTo>
                  <a:lnTo>
                    <a:pt x="1942" y="7109"/>
                  </a:lnTo>
                  <a:lnTo>
                    <a:pt x="2406" y="7109"/>
                  </a:lnTo>
                  <a:cubicBezTo>
                    <a:pt x="2477" y="7109"/>
                    <a:pt x="2537" y="7049"/>
                    <a:pt x="2537" y="6978"/>
                  </a:cubicBezTo>
                  <a:lnTo>
                    <a:pt x="2537" y="6121"/>
                  </a:lnTo>
                  <a:cubicBezTo>
                    <a:pt x="2537" y="6037"/>
                    <a:pt x="2477" y="5978"/>
                    <a:pt x="2406" y="5978"/>
                  </a:cubicBezTo>
                  <a:lnTo>
                    <a:pt x="2239" y="5978"/>
                  </a:lnTo>
                  <a:lnTo>
                    <a:pt x="2358" y="5537"/>
                  </a:lnTo>
                  <a:cubicBezTo>
                    <a:pt x="3370" y="5585"/>
                    <a:pt x="4228" y="6192"/>
                    <a:pt x="4740" y="6716"/>
                  </a:cubicBezTo>
                  <a:cubicBezTo>
                    <a:pt x="5264" y="7216"/>
                    <a:pt x="5609" y="7740"/>
                    <a:pt x="5692" y="7871"/>
                  </a:cubicBezTo>
                  <a:lnTo>
                    <a:pt x="5692" y="8407"/>
                  </a:lnTo>
                  <a:cubicBezTo>
                    <a:pt x="5692" y="8478"/>
                    <a:pt x="5752" y="8538"/>
                    <a:pt x="5835" y="8538"/>
                  </a:cubicBezTo>
                  <a:lnTo>
                    <a:pt x="6692" y="8538"/>
                  </a:lnTo>
                  <a:cubicBezTo>
                    <a:pt x="6764" y="8538"/>
                    <a:pt x="6823" y="8478"/>
                    <a:pt x="6823" y="8407"/>
                  </a:cubicBezTo>
                  <a:lnTo>
                    <a:pt x="6823" y="5406"/>
                  </a:lnTo>
                  <a:cubicBezTo>
                    <a:pt x="7395" y="5323"/>
                    <a:pt x="7823" y="4847"/>
                    <a:pt x="7823" y="4275"/>
                  </a:cubicBezTo>
                  <a:cubicBezTo>
                    <a:pt x="7847" y="3692"/>
                    <a:pt x="7407" y="3216"/>
                    <a:pt x="6835" y="3144"/>
                  </a:cubicBezTo>
                  <a:lnTo>
                    <a:pt x="6835" y="132"/>
                  </a:lnTo>
                  <a:cubicBezTo>
                    <a:pt x="6835" y="60"/>
                    <a:pt x="6776" y="1"/>
                    <a:pt x="66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209;p72"/>
            <p:cNvSpPr/>
            <p:nvPr/>
          </p:nvSpPr>
          <p:spPr>
            <a:xfrm>
              <a:off x="3870185" y="1675515"/>
              <a:ext cx="28415" cy="11099"/>
            </a:xfrm>
            <a:custGeom>
              <a:avLst/>
              <a:gdLst/>
              <a:ahLst/>
              <a:cxnLst/>
              <a:rect l="l" t="t" r="r" b="b"/>
              <a:pathLst>
                <a:path w="704" h="275" extrusionOk="0">
                  <a:moveTo>
                    <a:pt x="144" y="0"/>
                  </a:moveTo>
                  <a:cubicBezTo>
                    <a:pt x="60" y="0"/>
                    <a:pt x="1" y="60"/>
                    <a:pt x="1" y="143"/>
                  </a:cubicBezTo>
                  <a:cubicBezTo>
                    <a:pt x="1" y="215"/>
                    <a:pt x="60" y="274"/>
                    <a:pt x="144" y="274"/>
                  </a:cubicBezTo>
                  <a:lnTo>
                    <a:pt x="572" y="274"/>
                  </a:lnTo>
                  <a:cubicBezTo>
                    <a:pt x="644" y="274"/>
                    <a:pt x="703" y="215"/>
                    <a:pt x="703" y="143"/>
                  </a:cubicBezTo>
                  <a:cubicBezTo>
                    <a:pt x="703" y="60"/>
                    <a:pt x="644" y="0"/>
                    <a:pt x="5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210;p72"/>
            <p:cNvSpPr/>
            <p:nvPr/>
          </p:nvSpPr>
          <p:spPr>
            <a:xfrm>
              <a:off x="3846170" y="1610293"/>
              <a:ext cx="25993" cy="22965"/>
            </a:xfrm>
            <a:custGeom>
              <a:avLst/>
              <a:gdLst/>
              <a:ahLst/>
              <a:cxnLst/>
              <a:rect l="l" t="t" r="r" b="b"/>
              <a:pathLst>
                <a:path w="644" h="569" extrusionOk="0">
                  <a:moveTo>
                    <a:pt x="489" y="0"/>
                  </a:moveTo>
                  <a:cubicBezTo>
                    <a:pt x="456" y="0"/>
                    <a:pt x="423" y="15"/>
                    <a:pt x="393" y="45"/>
                  </a:cubicBezTo>
                  <a:lnTo>
                    <a:pt x="96" y="342"/>
                  </a:lnTo>
                  <a:cubicBezTo>
                    <a:pt x="0" y="426"/>
                    <a:pt x="60" y="569"/>
                    <a:pt x="179" y="569"/>
                  </a:cubicBezTo>
                  <a:cubicBezTo>
                    <a:pt x="215" y="569"/>
                    <a:pt x="262" y="545"/>
                    <a:pt x="274" y="521"/>
                  </a:cubicBezTo>
                  <a:lnTo>
                    <a:pt x="572" y="223"/>
                  </a:lnTo>
                  <a:cubicBezTo>
                    <a:pt x="643" y="176"/>
                    <a:pt x="643" y="104"/>
                    <a:pt x="584" y="45"/>
                  </a:cubicBezTo>
                  <a:cubicBezTo>
                    <a:pt x="554" y="15"/>
                    <a:pt x="521" y="0"/>
                    <a:pt x="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211;p72"/>
            <p:cNvSpPr/>
            <p:nvPr/>
          </p:nvSpPr>
          <p:spPr>
            <a:xfrm>
              <a:off x="3847623" y="1728508"/>
              <a:ext cx="24540" cy="23086"/>
            </a:xfrm>
            <a:custGeom>
              <a:avLst/>
              <a:gdLst/>
              <a:ahLst/>
              <a:cxnLst/>
              <a:rect l="l" t="t" r="r" b="b"/>
              <a:pathLst>
                <a:path w="608" h="572" extrusionOk="0">
                  <a:moveTo>
                    <a:pt x="155" y="0"/>
                  </a:moveTo>
                  <a:cubicBezTo>
                    <a:pt x="122" y="0"/>
                    <a:pt x="89" y="15"/>
                    <a:pt x="60" y="45"/>
                  </a:cubicBezTo>
                  <a:cubicBezTo>
                    <a:pt x="0" y="104"/>
                    <a:pt x="0" y="176"/>
                    <a:pt x="60" y="235"/>
                  </a:cubicBezTo>
                  <a:lnTo>
                    <a:pt x="357" y="533"/>
                  </a:lnTo>
                  <a:cubicBezTo>
                    <a:pt x="384" y="560"/>
                    <a:pt x="416" y="572"/>
                    <a:pt x="447" y="572"/>
                  </a:cubicBezTo>
                  <a:cubicBezTo>
                    <a:pt x="485" y="572"/>
                    <a:pt x="522" y="554"/>
                    <a:pt x="548" y="521"/>
                  </a:cubicBezTo>
                  <a:cubicBezTo>
                    <a:pt x="607" y="473"/>
                    <a:pt x="607" y="390"/>
                    <a:pt x="548" y="342"/>
                  </a:cubicBezTo>
                  <a:lnTo>
                    <a:pt x="250" y="45"/>
                  </a:lnTo>
                  <a:cubicBezTo>
                    <a:pt x="220" y="15"/>
                    <a:pt x="188" y="0"/>
                    <a:pt x="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9575;p70"/>
          <p:cNvSpPr/>
          <p:nvPr/>
        </p:nvSpPr>
        <p:spPr>
          <a:xfrm>
            <a:off x="1053223" y="3328620"/>
            <a:ext cx="380444" cy="310077"/>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8;p41"/>
          <p:cNvSpPr/>
          <p:nvPr/>
        </p:nvSpPr>
        <p:spPr>
          <a:xfrm rot="16200000" flipH="1">
            <a:off x="4354418" y="2099239"/>
            <a:ext cx="435163" cy="9144001"/>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27" name="Google Shape;208;p31"/>
          <p:cNvCxnSpPr/>
          <p:nvPr/>
        </p:nvCxnSpPr>
        <p:spPr>
          <a:xfrm>
            <a:off x="3301591" y="6643172"/>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6890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33225" y="739220"/>
            <a:ext cx="3868340" cy="823912"/>
          </a:xfrm>
        </p:spPr>
        <p:txBody>
          <a:bodyPr/>
          <a:lstStyle/>
          <a:p>
            <a:r>
              <a:rPr lang="en-US" dirty="0"/>
              <a:t>Climate Action &amp; Renewable Energy </a:t>
            </a:r>
            <a:endParaRPr lang="en-US" dirty="0">
              <a:latin typeface="Candara" panose="020E0502030303020204" pitchFamily="34" charset="0"/>
            </a:endParaRPr>
          </a:p>
        </p:txBody>
      </p:sp>
      <p:sp>
        <p:nvSpPr>
          <p:cNvPr id="5" name="Text Placeholder 4"/>
          <p:cNvSpPr>
            <a:spLocks noGrp="1"/>
          </p:cNvSpPr>
          <p:nvPr>
            <p:ph type="body" sz="quarter" idx="3"/>
          </p:nvPr>
        </p:nvSpPr>
        <p:spPr>
          <a:xfrm>
            <a:off x="1533225" y="1244906"/>
            <a:ext cx="6874525" cy="823912"/>
          </a:xfrm>
        </p:spPr>
        <p:txBody>
          <a:bodyPr>
            <a:normAutofit/>
          </a:bodyPr>
          <a:lstStyle/>
          <a:p>
            <a:r>
              <a:rPr lang="en-US" sz="1400" b="0" dirty="0">
                <a:latin typeface="Candara" panose="020E0502030303020204" pitchFamily="34" charset="0"/>
              </a:rPr>
              <a:t>Recognizing the impact of climate change on communities, especially women, NABW integrates climate action and renewable energy into its core activities</a:t>
            </a:r>
          </a:p>
        </p:txBody>
      </p:sp>
      <p:sp>
        <p:nvSpPr>
          <p:cNvPr id="7" name="Google Shape;211;p31"/>
          <p:cNvSpPr/>
          <p:nvPr/>
        </p:nvSpPr>
        <p:spPr>
          <a:xfrm>
            <a:off x="0" y="-68045"/>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8" name="Google Shape;237;p33"/>
          <p:cNvSpPr/>
          <p:nvPr/>
        </p:nvSpPr>
        <p:spPr>
          <a:xfrm>
            <a:off x="517792" y="739220"/>
            <a:ext cx="859315" cy="836192"/>
          </a:xfrm>
          <a:prstGeom prst="ellipse">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243;p33"/>
          <p:cNvSpPr txBox="1">
            <a:spLocks/>
          </p:cNvSpPr>
          <p:nvPr/>
        </p:nvSpPr>
        <p:spPr>
          <a:xfrm>
            <a:off x="483107" y="971776"/>
            <a:ext cx="894000" cy="35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ighteous"/>
              <a:buNone/>
              <a:defRPr sz="30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3000"/>
              <a:buFont typeface="Righteous"/>
              <a:buNone/>
              <a:tabLst/>
              <a:defRPr/>
            </a:pPr>
            <a:r>
              <a:rPr kumimoji="0" lang="en" sz="3000" b="0" i="0" u="none" strike="noStrike" kern="0" cap="none" spc="0" normalizeH="0" baseline="0" noProof="0" dirty="0">
                <a:ln>
                  <a:noFill/>
                </a:ln>
                <a:solidFill>
                  <a:srgbClr val="FFFFFF"/>
                </a:solidFill>
                <a:effectLst/>
                <a:uLnTx/>
                <a:uFillTx/>
                <a:latin typeface="Candara" panose="020E0502030303020204" pitchFamily="34" charset="0"/>
                <a:sym typeface="Righteous"/>
              </a:rPr>
              <a:t>03</a:t>
            </a:r>
          </a:p>
        </p:txBody>
      </p:sp>
      <p:sp>
        <p:nvSpPr>
          <p:cNvPr id="10" name="Google Shape;237;p33"/>
          <p:cNvSpPr/>
          <p:nvPr/>
        </p:nvSpPr>
        <p:spPr>
          <a:xfrm>
            <a:off x="861629" y="3038022"/>
            <a:ext cx="763633" cy="77728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237;p33"/>
          <p:cNvSpPr/>
          <p:nvPr/>
        </p:nvSpPr>
        <p:spPr>
          <a:xfrm>
            <a:off x="3808367" y="3033652"/>
            <a:ext cx="763633" cy="77728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237;p33"/>
          <p:cNvSpPr/>
          <p:nvPr/>
        </p:nvSpPr>
        <p:spPr>
          <a:xfrm>
            <a:off x="7136921" y="3027748"/>
            <a:ext cx="763633" cy="777280"/>
          </a:xfrm>
          <a:prstGeom prst="ellipse">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337;p37"/>
          <p:cNvSpPr txBox="1">
            <a:spLocks/>
          </p:cNvSpPr>
          <p:nvPr/>
        </p:nvSpPr>
        <p:spPr>
          <a:xfrm>
            <a:off x="36869" y="4054303"/>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lvl="0">
              <a:buClr>
                <a:srgbClr val="191919"/>
              </a:buClr>
            </a:pPr>
            <a:r>
              <a:rPr lang="en-US" sz="1800" b="1" dirty="0">
                <a:latin typeface="Candara" panose="020E0502030303020204" pitchFamily="34" charset="0"/>
                <a:ea typeface="SimSun" panose="02010600030101010101" pitchFamily="2" charset="-122"/>
                <a:cs typeface="Times New Roman" panose="02020603050405020304" pitchFamily="18" charset="0"/>
              </a:rPr>
              <a:t>Green Business Initiative</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14" name="Google Shape;337;p37"/>
          <p:cNvSpPr txBox="1">
            <a:spLocks/>
          </p:cNvSpPr>
          <p:nvPr/>
        </p:nvSpPr>
        <p:spPr>
          <a:xfrm>
            <a:off x="3126640" y="4054303"/>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lvl="0">
              <a:buClr>
                <a:srgbClr val="191919"/>
              </a:buClr>
            </a:pPr>
            <a:r>
              <a:rPr lang="en-US" sz="1800" b="1" dirty="0">
                <a:latin typeface="Candara" panose="020E0502030303020204" pitchFamily="34" charset="0"/>
              </a:rPr>
              <a:t>Climate Education Programs</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15" name="Google Shape;337;p37"/>
          <p:cNvSpPr txBox="1">
            <a:spLocks/>
          </p:cNvSpPr>
          <p:nvPr/>
        </p:nvSpPr>
        <p:spPr>
          <a:xfrm>
            <a:off x="6312161" y="4054303"/>
            <a:ext cx="2413152" cy="501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lvl="0">
              <a:buClr>
                <a:srgbClr val="191919"/>
              </a:buClr>
            </a:pPr>
            <a:r>
              <a:rPr lang="en-US" sz="1800" b="1" dirty="0">
                <a:latin typeface="Candara" panose="020E0502030303020204" pitchFamily="34" charset="0"/>
                <a:ea typeface="SimSun" panose="02010600030101010101" pitchFamily="2" charset="-122"/>
                <a:cs typeface="Times New Roman" panose="02020603050405020304" pitchFamily="18" charset="0"/>
              </a:rPr>
              <a:t>Green &amp; Inclusive </a:t>
            </a:r>
            <a:r>
              <a:rPr lang="en-US" sz="1800" b="1" noProof="0" dirty="0">
                <a:latin typeface="Candara" panose="020E0502030303020204" pitchFamily="34" charset="0"/>
                <a:ea typeface="SimSun" panose="02010600030101010101" pitchFamily="2" charset="-122"/>
                <a:cs typeface="Times New Roman" panose="02020603050405020304" pitchFamily="18" charset="0"/>
              </a:rPr>
              <a:t>Energy Advocacy</a:t>
            </a:r>
            <a:endParaRPr kumimoji="0" lang="en-US" sz="18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16" name="Google Shape;338;p37"/>
          <p:cNvSpPr txBox="1">
            <a:spLocks/>
          </p:cNvSpPr>
          <p:nvPr/>
        </p:nvSpPr>
        <p:spPr>
          <a:xfrm>
            <a:off x="112352" y="4968635"/>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lnSpc>
                <a:spcPct val="115000"/>
              </a:lnSpc>
              <a:spcAft>
                <a:spcPts val="1000"/>
              </a:spcAft>
            </a:pPr>
            <a:r>
              <a:rPr lang="en-US" dirty="0">
                <a:latin typeface="Candara" panose="020E0502030303020204" pitchFamily="34" charset="0"/>
                <a:ea typeface="SimSun" panose="02010600030101010101" pitchFamily="2" charset="-122"/>
                <a:cs typeface="Times New Roman" panose="02020603050405020304" pitchFamily="18" charset="0"/>
              </a:rPr>
              <a:t>Encourages and supports women-led businesses to diversify to renewable energy enterprises and adopt sustainable practices and technologies.</a:t>
            </a:r>
            <a:endParaRPr lang="en-US" dirty="0">
              <a:effectLst/>
              <a:latin typeface="Candara" panose="020E0502030303020204" pitchFamily="34" charset="0"/>
              <a:ea typeface="SimSun" panose="02010600030101010101" pitchFamily="2" charset="-122"/>
              <a:cs typeface="Times New Roman" panose="02020603050405020304" pitchFamily="18" charset="0"/>
            </a:endParaRPr>
          </a:p>
        </p:txBody>
      </p:sp>
      <p:sp>
        <p:nvSpPr>
          <p:cNvPr id="17" name="Google Shape;338;p37"/>
          <p:cNvSpPr txBox="1">
            <a:spLocks/>
          </p:cNvSpPr>
          <p:nvPr/>
        </p:nvSpPr>
        <p:spPr>
          <a:xfrm>
            <a:off x="3239031" y="4968635"/>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r>
              <a:rPr lang="en-US" dirty="0">
                <a:latin typeface="Candara" panose="020E0502030303020204" pitchFamily="34" charset="0"/>
              </a:rPr>
              <a:t>Provides educational resources and training on climate change and environmental sustainability</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18" name="Google Shape;338;p37"/>
          <p:cNvSpPr txBox="1">
            <a:spLocks/>
          </p:cNvSpPr>
          <p:nvPr/>
        </p:nvSpPr>
        <p:spPr>
          <a:xfrm>
            <a:off x="6478062" y="4968635"/>
            <a:ext cx="2665938" cy="66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buClr>
                <a:srgbClr val="191919"/>
              </a:buClr>
            </a:pPr>
            <a:r>
              <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rPr>
              <a:t>We advocate for Increased participation of women in</a:t>
            </a:r>
            <a:r>
              <a:rPr kumimoji="0" lang="en-US" sz="1400" b="0" i="0" u="none" strike="noStrike" kern="0" cap="none" spc="0" normalizeH="0" noProof="0" dirty="0">
                <a:ln>
                  <a:noFill/>
                </a:ln>
                <a:solidFill>
                  <a:srgbClr val="191919"/>
                </a:solidFill>
                <a:effectLst/>
                <a:uLnTx/>
                <a:uFillTx/>
                <a:latin typeface="Candara" panose="020E0502030303020204" pitchFamily="34" charset="0"/>
                <a:sym typeface="Assistant"/>
              </a:rPr>
              <a:t> national energy planning, Investments and supply chain.</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grpSp>
        <p:nvGrpSpPr>
          <p:cNvPr id="26" name="Google Shape;10421;p71"/>
          <p:cNvGrpSpPr/>
          <p:nvPr/>
        </p:nvGrpSpPr>
        <p:grpSpPr>
          <a:xfrm>
            <a:off x="1077639" y="3272584"/>
            <a:ext cx="331611" cy="331674"/>
            <a:chOff x="5774124" y="4294550"/>
            <a:chExt cx="331611" cy="331674"/>
          </a:xfrm>
          <a:solidFill>
            <a:schemeClr val="bg1"/>
          </a:solidFill>
        </p:grpSpPr>
        <p:sp>
          <p:nvSpPr>
            <p:cNvPr id="27" name="Google Shape;10422;p71"/>
            <p:cNvSpPr/>
            <p:nvPr/>
          </p:nvSpPr>
          <p:spPr>
            <a:xfrm>
              <a:off x="5774124" y="4419664"/>
              <a:ext cx="331611" cy="206560"/>
            </a:xfrm>
            <a:custGeom>
              <a:avLst/>
              <a:gdLst/>
              <a:ahLst/>
              <a:cxnLst/>
              <a:rect l="l" t="t" r="r" b="b"/>
              <a:pathLst>
                <a:path w="10419" h="6490" extrusionOk="0">
                  <a:moveTo>
                    <a:pt x="2751" y="2905"/>
                  </a:moveTo>
                  <a:lnTo>
                    <a:pt x="2751" y="6191"/>
                  </a:lnTo>
                  <a:lnTo>
                    <a:pt x="1429" y="6191"/>
                  </a:lnTo>
                  <a:lnTo>
                    <a:pt x="1429" y="2905"/>
                  </a:lnTo>
                  <a:close/>
                  <a:moveTo>
                    <a:pt x="5847" y="2084"/>
                  </a:moveTo>
                  <a:lnTo>
                    <a:pt x="5847" y="6191"/>
                  </a:lnTo>
                  <a:lnTo>
                    <a:pt x="4525" y="6191"/>
                  </a:lnTo>
                  <a:lnTo>
                    <a:pt x="4525" y="2084"/>
                  </a:lnTo>
                  <a:close/>
                  <a:moveTo>
                    <a:pt x="8942" y="298"/>
                  </a:moveTo>
                  <a:lnTo>
                    <a:pt x="8942" y="6191"/>
                  </a:lnTo>
                  <a:lnTo>
                    <a:pt x="7609" y="6191"/>
                  </a:lnTo>
                  <a:lnTo>
                    <a:pt x="7609" y="298"/>
                  </a:lnTo>
                  <a:close/>
                  <a:moveTo>
                    <a:pt x="7466" y="0"/>
                  </a:moveTo>
                  <a:cubicBezTo>
                    <a:pt x="7383" y="0"/>
                    <a:pt x="7323" y="72"/>
                    <a:pt x="7323" y="155"/>
                  </a:cubicBezTo>
                  <a:lnTo>
                    <a:pt x="7323" y="6191"/>
                  </a:lnTo>
                  <a:lnTo>
                    <a:pt x="6156" y="6191"/>
                  </a:lnTo>
                  <a:lnTo>
                    <a:pt x="6156" y="1941"/>
                  </a:lnTo>
                  <a:cubicBezTo>
                    <a:pt x="6156" y="1846"/>
                    <a:pt x="6085" y="1786"/>
                    <a:pt x="6013" y="1786"/>
                  </a:cubicBezTo>
                  <a:lnTo>
                    <a:pt x="4370" y="1786"/>
                  </a:lnTo>
                  <a:cubicBezTo>
                    <a:pt x="4287" y="1786"/>
                    <a:pt x="4227" y="1858"/>
                    <a:pt x="4227" y="1941"/>
                  </a:cubicBezTo>
                  <a:lnTo>
                    <a:pt x="4227" y="6191"/>
                  </a:lnTo>
                  <a:lnTo>
                    <a:pt x="3061" y="6191"/>
                  </a:lnTo>
                  <a:lnTo>
                    <a:pt x="3061" y="2751"/>
                  </a:lnTo>
                  <a:cubicBezTo>
                    <a:pt x="3061" y="2667"/>
                    <a:pt x="2989" y="2608"/>
                    <a:pt x="2918" y="2608"/>
                  </a:cubicBezTo>
                  <a:lnTo>
                    <a:pt x="1275" y="2608"/>
                  </a:lnTo>
                  <a:cubicBezTo>
                    <a:pt x="1191" y="2608"/>
                    <a:pt x="1132" y="2679"/>
                    <a:pt x="1132" y="2751"/>
                  </a:cubicBezTo>
                  <a:lnTo>
                    <a:pt x="1132" y="6191"/>
                  </a:lnTo>
                  <a:lnTo>
                    <a:pt x="144" y="6191"/>
                  </a:lnTo>
                  <a:cubicBezTo>
                    <a:pt x="60" y="6191"/>
                    <a:pt x="1" y="6263"/>
                    <a:pt x="1" y="6346"/>
                  </a:cubicBezTo>
                  <a:cubicBezTo>
                    <a:pt x="1" y="6430"/>
                    <a:pt x="72" y="6489"/>
                    <a:pt x="144" y="6489"/>
                  </a:cubicBezTo>
                  <a:lnTo>
                    <a:pt x="10264" y="6489"/>
                  </a:lnTo>
                  <a:cubicBezTo>
                    <a:pt x="10359" y="6489"/>
                    <a:pt x="10419" y="6418"/>
                    <a:pt x="10419" y="6346"/>
                  </a:cubicBezTo>
                  <a:cubicBezTo>
                    <a:pt x="10395" y="6251"/>
                    <a:pt x="10323" y="6191"/>
                    <a:pt x="10240" y="6191"/>
                  </a:cubicBezTo>
                  <a:lnTo>
                    <a:pt x="9252" y="6191"/>
                  </a:lnTo>
                  <a:lnTo>
                    <a:pt x="9252" y="155"/>
                  </a:lnTo>
                  <a:cubicBezTo>
                    <a:pt x="9252" y="60"/>
                    <a:pt x="9180" y="0"/>
                    <a:pt x="91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423;p71"/>
            <p:cNvSpPr/>
            <p:nvPr/>
          </p:nvSpPr>
          <p:spPr>
            <a:xfrm>
              <a:off x="5778294" y="4294550"/>
              <a:ext cx="316461" cy="191442"/>
            </a:xfrm>
            <a:custGeom>
              <a:avLst/>
              <a:gdLst/>
              <a:ahLst/>
              <a:cxnLst/>
              <a:rect l="l" t="t" r="r" b="b"/>
              <a:pathLst>
                <a:path w="9943" h="6015" extrusionOk="0">
                  <a:moveTo>
                    <a:pt x="9447" y="0"/>
                  </a:moveTo>
                  <a:cubicBezTo>
                    <a:pt x="9433" y="0"/>
                    <a:pt x="9420" y="1"/>
                    <a:pt x="9407" y="2"/>
                  </a:cubicBezTo>
                  <a:lnTo>
                    <a:pt x="8097" y="169"/>
                  </a:lnTo>
                  <a:cubicBezTo>
                    <a:pt x="7847" y="193"/>
                    <a:pt x="7644" y="455"/>
                    <a:pt x="7680" y="705"/>
                  </a:cubicBezTo>
                  <a:cubicBezTo>
                    <a:pt x="7703" y="951"/>
                    <a:pt x="7914" y="1123"/>
                    <a:pt x="8167" y="1123"/>
                  </a:cubicBezTo>
                  <a:cubicBezTo>
                    <a:pt x="8183" y="1123"/>
                    <a:pt x="8200" y="1123"/>
                    <a:pt x="8216" y="1121"/>
                  </a:cubicBezTo>
                  <a:lnTo>
                    <a:pt x="8323" y="1109"/>
                  </a:lnTo>
                  <a:lnTo>
                    <a:pt x="8323" y="1109"/>
                  </a:lnTo>
                  <a:cubicBezTo>
                    <a:pt x="6716" y="2967"/>
                    <a:pt x="4811" y="3919"/>
                    <a:pt x="3465" y="4407"/>
                  </a:cubicBezTo>
                  <a:cubicBezTo>
                    <a:pt x="1787" y="5003"/>
                    <a:pt x="477" y="5062"/>
                    <a:pt x="477" y="5062"/>
                  </a:cubicBezTo>
                  <a:cubicBezTo>
                    <a:pt x="203" y="5074"/>
                    <a:pt x="1" y="5288"/>
                    <a:pt x="13" y="5550"/>
                  </a:cubicBezTo>
                  <a:cubicBezTo>
                    <a:pt x="24" y="5824"/>
                    <a:pt x="239" y="6015"/>
                    <a:pt x="489" y="6015"/>
                  </a:cubicBezTo>
                  <a:lnTo>
                    <a:pt x="501" y="6015"/>
                  </a:lnTo>
                  <a:cubicBezTo>
                    <a:pt x="560" y="6015"/>
                    <a:pt x="1953" y="5967"/>
                    <a:pt x="3775" y="5312"/>
                  </a:cubicBezTo>
                  <a:cubicBezTo>
                    <a:pt x="4811" y="4943"/>
                    <a:pt x="5775" y="4467"/>
                    <a:pt x="6656" y="3872"/>
                  </a:cubicBezTo>
                  <a:cubicBezTo>
                    <a:pt x="6728" y="3824"/>
                    <a:pt x="6740" y="3729"/>
                    <a:pt x="6692" y="3669"/>
                  </a:cubicBezTo>
                  <a:cubicBezTo>
                    <a:pt x="6670" y="3618"/>
                    <a:pt x="6621" y="3594"/>
                    <a:pt x="6573" y="3594"/>
                  </a:cubicBezTo>
                  <a:cubicBezTo>
                    <a:pt x="6542" y="3594"/>
                    <a:pt x="6512" y="3603"/>
                    <a:pt x="6490" y="3622"/>
                  </a:cubicBezTo>
                  <a:cubicBezTo>
                    <a:pt x="5620" y="4205"/>
                    <a:pt x="4692" y="4681"/>
                    <a:pt x="3692" y="5038"/>
                  </a:cubicBezTo>
                  <a:cubicBezTo>
                    <a:pt x="1906" y="5669"/>
                    <a:pt x="560" y="5717"/>
                    <a:pt x="525" y="5717"/>
                  </a:cubicBezTo>
                  <a:cubicBezTo>
                    <a:pt x="429" y="5717"/>
                    <a:pt x="358" y="5646"/>
                    <a:pt x="346" y="5550"/>
                  </a:cubicBezTo>
                  <a:cubicBezTo>
                    <a:pt x="346" y="5467"/>
                    <a:pt x="417" y="5372"/>
                    <a:pt x="501" y="5372"/>
                  </a:cubicBezTo>
                  <a:cubicBezTo>
                    <a:pt x="525" y="5372"/>
                    <a:pt x="1858" y="5336"/>
                    <a:pt x="3596" y="4705"/>
                  </a:cubicBezTo>
                  <a:cubicBezTo>
                    <a:pt x="5061" y="4181"/>
                    <a:pt x="7144" y="3133"/>
                    <a:pt x="8835" y="1014"/>
                  </a:cubicBezTo>
                  <a:cubicBezTo>
                    <a:pt x="8927" y="911"/>
                    <a:pt x="8842" y="763"/>
                    <a:pt x="8718" y="763"/>
                  </a:cubicBezTo>
                  <a:cubicBezTo>
                    <a:pt x="8714" y="763"/>
                    <a:pt x="8709" y="764"/>
                    <a:pt x="8704" y="764"/>
                  </a:cubicBezTo>
                  <a:lnTo>
                    <a:pt x="8216" y="824"/>
                  </a:lnTo>
                  <a:cubicBezTo>
                    <a:pt x="8208" y="825"/>
                    <a:pt x="8200" y="825"/>
                    <a:pt x="8192" y="825"/>
                  </a:cubicBezTo>
                  <a:cubicBezTo>
                    <a:pt x="8109" y="825"/>
                    <a:pt x="8047" y="769"/>
                    <a:pt x="8025" y="693"/>
                  </a:cubicBezTo>
                  <a:cubicBezTo>
                    <a:pt x="7990" y="586"/>
                    <a:pt x="8061" y="478"/>
                    <a:pt x="8168" y="478"/>
                  </a:cubicBezTo>
                  <a:lnTo>
                    <a:pt x="9478" y="312"/>
                  </a:lnTo>
                  <a:cubicBezTo>
                    <a:pt x="9484" y="311"/>
                    <a:pt x="9490" y="311"/>
                    <a:pt x="9496" y="311"/>
                  </a:cubicBezTo>
                  <a:cubicBezTo>
                    <a:pt x="9594" y="311"/>
                    <a:pt x="9669" y="400"/>
                    <a:pt x="9669" y="490"/>
                  </a:cubicBezTo>
                  <a:lnTo>
                    <a:pt x="9669" y="1800"/>
                  </a:lnTo>
                  <a:cubicBezTo>
                    <a:pt x="9669" y="1895"/>
                    <a:pt x="9597" y="1979"/>
                    <a:pt x="9490" y="1979"/>
                  </a:cubicBezTo>
                  <a:cubicBezTo>
                    <a:pt x="9407" y="1979"/>
                    <a:pt x="9311" y="1907"/>
                    <a:pt x="9311" y="1800"/>
                  </a:cubicBezTo>
                  <a:lnTo>
                    <a:pt x="9311" y="1407"/>
                  </a:lnTo>
                  <a:cubicBezTo>
                    <a:pt x="9311" y="1348"/>
                    <a:pt x="9264" y="1288"/>
                    <a:pt x="9204" y="1252"/>
                  </a:cubicBezTo>
                  <a:cubicBezTo>
                    <a:pt x="9187" y="1242"/>
                    <a:pt x="9169" y="1238"/>
                    <a:pt x="9152" y="1238"/>
                  </a:cubicBezTo>
                  <a:cubicBezTo>
                    <a:pt x="9106" y="1238"/>
                    <a:pt x="9060" y="1266"/>
                    <a:pt x="9026" y="1300"/>
                  </a:cubicBezTo>
                  <a:cubicBezTo>
                    <a:pt x="8466" y="2002"/>
                    <a:pt x="7811" y="2633"/>
                    <a:pt x="7097" y="3193"/>
                  </a:cubicBezTo>
                  <a:cubicBezTo>
                    <a:pt x="7037" y="3229"/>
                    <a:pt x="7025" y="3336"/>
                    <a:pt x="7061" y="3395"/>
                  </a:cubicBezTo>
                  <a:cubicBezTo>
                    <a:pt x="7091" y="3433"/>
                    <a:pt x="7144" y="3451"/>
                    <a:pt x="7194" y="3451"/>
                  </a:cubicBezTo>
                  <a:cubicBezTo>
                    <a:pt x="7224" y="3451"/>
                    <a:pt x="7253" y="3445"/>
                    <a:pt x="7275" y="3431"/>
                  </a:cubicBezTo>
                  <a:cubicBezTo>
                    <a:pt x="7895" y="2943"/>
                    <a:pt x="8466" y="2419"/>
                    <a:pt x="8990" y="1824"/>
                  </a:cubicBezTo>
                  <a:cubicBezTo>
                    <a:pt x="9002" y="2074"/>
                    <a:pt x="9204" y="2276"/>
                    <a:pt x="9466" y="2276"/>
                  </a:cubicBezTo>
                  <a:cubicBezTo>
                    <a:pt x="9728" y="2276"/>
                    <a:pt x="9942" y="2074"/>
                    <a:pt x="9942" y="1800"/>
                  </a:cubicBezTo>
                  <a:lnTo>
                    <a:pt x="9942" y="478"/>
                  </a:lnTo>
                  <a:cubicBezTo>
                    <a:pt x="9942" y="347"/>
                    <a:pt x="9883" y="216"/>
                    <a:pt x="9776" y="121"/>
                  </a:cubicBezTo>
                  <a:cubicBezTo>
                    <a:pt x="9679" y="46"/>
                    <a:pt x="9564" y="0"/>
                    <a:pt x="94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9375;p70"/>
          <p:cNvSpPr/>
          <p:nvPr/>
        </p:nvSpPr>
        <p:spPr>
          <a:xfrm>
            <a:off x="4009071" y="3295689"/>
            <a:ext cx="362223" cy="361108"/>
          </a:xfrm>
          <a:custGeom>
            <a:avLst/>
            <a:gdLst/>
            <a:ahLst/>
            <a:cxnLst/>
            <a:rect l="l" t="t" r="r" b="b"/>
            <a:pathLst>
              <a:path w="11371" h="11336" extrusionOk="0">
                <a:moveTo>
                  <a:pt x="1381" y="346"/>
                </a:moveTo>
                <a:cubicBezTo>
                  <a:pt x="1846" y="358"/>
                  <a:pt x="2262" y="715"/>
                  <a:pt x="2358" y="1191"/>
                </a:cubicBezTo>
                <a:lnTo>
                  <a:pt x="1881" y="1191"/>
                </a:lnTo>
                <a:cubicBezTo>
                  <a:pt x="1786" y="1191"/>
                  <a:pt x="1715" y="1263"/>
                  <a:pt x="1715" y="1358"/>
                </a:cubicBezTo>
                <a:cubicBezTo>
                  <a:pt x="1715" y="1727"/>
                  <a:pt x="1417" y="2025"/>
                  <a:pt x="1048" y="2025"/>
                </a:cubicBezTo>
                <a:cubicBezTo>
                  <a:pt x="667" y="2025"/>
                  <a:pt x="369" y="1727"/>
                  <a:pt x="369" y="1358"/>
                </a:cubicBezTo>
                <a:cubicBezTo>
                  <a:pt x="369" y="798"/>
                  <a:pt x="822" y="346"/>
                  <a:pt x="1381" y="346"/>
                </a:cubicBezTo>
                <a:close/>
                <a:moveTo>
                  <a:pt x="2358" y="1537"/>
                </a:moveTo>
                <a:lnTo>
                  <a:pt x="2358" y="2037"/>
                </a:lnTo>
                <a:lnTo>
                  <a:pt x="1774" y="2037"/>
                </a:lnTo>
                <a:cubicBezTo>
                  <a:pt x="1893" y="1906"/>
                  <a:pt x="1977" y="1727"/>
                  <a:pt x="2012" y="1537"/>
                </a:cubicBezTo>
                <a:close/>
                <a:moveTo>
                  <a:pt x="9109" y="4489"/>
                </a:moveTo>
                <a:lnTo>
                  <a:pt x="9109" y="4489"/>
                </a:lnTo>
                <a:cubicBezTo>
                  <a:pt x="8739" y="5049"/>
                  <a:pt x="8287" y="5585"/>
                  <a:pt x="7787" y="6085"/>
                </a:cubicBezTo>
                <a:cubicBezTo>
                  <a:pt x="7275" y="6597"/>
                  <a:pt x="6739" y="7037"/>
                  <a:pt x="6192" y="7406"/>
                </a:cubicBezTo>
                <a:cubicBezTo>
                  <a:pt x="6584" y="6859"/>
                  <a:pt x="7013" y="6323"/>
                  <a:pt x="7513" y="5823"/>
                </a:cubicBezTo>
                <a:cubicBezTo>
                  <a:pt x="8025" y="5311"/>
                  <a:pt x="8561" y="4870"/>
                  <a:pt x="9109" y="4489"/>
                </a:cubicBezTo>
                <a:close/>
                <a:moveTo>
                  <a:pt x="4036" y="9359"/>
                </a:moveTo>
                <a:cubicBezTo>
                  <a:pt x="4346" y="9359"/>
                  <a:pt x="4620" y="9573"/>
                  <a:pt x="4691" y="9871"/>
                </a:cubicBezTo>
                <a:lnTo>
                  <a:pt x="3382" y="9871"/>
                </a:lnTo>
                <a:cubicBezTo>
                  <a:pt x="3453" y="9573"/>
                  <a:pt x="3727" y="9359"/>
                  <a:pt x="4036" y="9359"/>
                </a:cubicBezTo>
                <a:close/>
                <a:moveTo>
                  <a:pt x="10359" y="9359"/>
                </a:moveTo>
                <a:cubicBezTo>
                  <a:pt x="10728" y="9359"/>
                  <a:pt x="11025" y="9657"/>
                  <a:pt x="11025" y="10026"/>
                </a:cubicBezTo>
                <a:cubicBezTo>
                  <a:pt x="11025" y="10597"/>
                  <a:pt x="10585" y="11038"/>
                  <a:pt x="10037" y="11038"/>
                </a:cubicBezTo>
                <a:lnTo>
                  <a:pt x="4584" y="11038"/>
                </a:lnTo>
                <a:cubicBezTo>
                  <a:pt x="4870" y="10788"/>
                  <a:pt x="5037" y="10431"/>
                  <a:pt x="5037" y="10026"/>
                </a:cubicBezTo>
                <a:cubicBezTo>
                  <a:pt x="5037" y="9776"/>
                  <a:pt x="4929" y="9538"/>
                  <a:pt x="4775" y="9359"/>
                </a:cubicBezTo>
                <a:close/>
                <a:moveTo>
                  <a:pt x="1346" y="1"/>
                </a:moveTo>
                <a:cubicBezTo>
                  <a:pt x="596" y="1"/>
                  <a:pt x="0" y="596"/>
                  <a:pt x="0" y="1334"/>
                </a:cubicBezTo>
                <a:cubicBezTo>
                  <a:pt x="0" y="1906"/>
                  <a:pt x="465" y="2346"/>
                  <a:pt x="1012" y="2346"/>
                </a:cubicBezTo>
                <a:lnTo>
                  <a:pt x="2358" y="2346"/>
                </a:lnTo>
                <a:lnTo>
                  <a:pt x="2358" y="7514"/>
                </a:lnTo>
                <a:cubicBezTo>
                  <a:pt x="2358" y="7609"/>
                  <a:pt x="2429" y="7680"/>
                  <a:pt x="2512" y="7680"/>
                </a:cubicBezTo>
                <a:cubicBezTo>
                  <a:pt x="2608" y="7680"/>
                  <a:pt x="2679" y="7609"/>
                  <a:pt x="2679" y="7514"/>
                </a:cubicBezTo>
                <a:lnTo>
                  <a:pt x="2679" y="1334"/>
                </a:lnTo>
                <a:cubicBezTo>
                  <a:pt x="2679" y="929"/>
                  <a:pt x="2501" y="572"/>
                  <a:pt x="2239" y="322"/>
                </a:cubicBezTo>
                <a:lnTo>
                  <a:pt x="7680" y="322"/>
                </a:lnTo>
                <a:cubicBezTo>
                  <a:pt x="8227" y="322"/>
                  <a:pt x="8680" y="775"/>
                  <a:pt x="8680" y="1334"/>
                </a:cubicBezTo>
                <a:lnTo>
                  <a:pt x="8680" y="2870"/>
                </a:lnTo>
                <a:cubicBezTo>
                  <a:pt x="8192" y="3108"/>
                  <a:pt x="7739" y="3430"/>
                  <a:pt x="7358" y="3811"/>
                </a:cubicBezTo>
                <a:cubicBezTo>
                  <a:pt x="6549" y="4608"/>
                  <a:pt x="6537" y="5192"/>
                  <a:pt x="6525" y="6144"/>
                </a:cubicBezTo>
                <a:lnTo>
                  <a:pt x="6525" y="6394"/>
                </a:lnTo>
                <a:cubicBezTo>
                  <a:pt x="6132" y="6859"/>
                  <a:pt x="5811" y="7347"/>
                  <a:pt x="5513" y="7847"/>
                </a:cubicBezTo>
                <a:cubicBezTo>
                  <a:pt x="5465" y="7907"/>
                  <a:pt x="5477" y="7990"/>
                  <a:pt x="5537" y="8049"/>
                </a:cubicBezTo>
                <a:cubicBezTo>
                  <a:pt x="5572" y="8085"/>
                  <a:pt x="5608" y="8097"/>
                  <a:pt x="5656" y="8097"/>
                </a:cubicBezTo>
                <a:cubicBezTo>
                  <a:pt x="5691" y="8097"/>
                  <a:pt x="5715" y="8097"/>
                  <a:pt x="5751" y="8061"/>
                </a:cubicBezTo>
                <a:cubicBezTo>
                  <a:pt x="6251" y="7776"/>
                  <a:pt x="6727" y="7442"/>
                  <a:pt x="7192" y="7049"/>
                </a:cubicBezTo>
                <a:lnTo>
                  <a:pt x="7442" y="7049"/>
                </a:lnTo>
                <a:cubicBezTo>
                  <a:pt x="7930" y="7037"/>
                  <a:pt x="8323" y="7037"/>
                  <a:pt x="8692" y="6918"/>
                </a:cubicBezTo>
                <a:lnTo>
                  <a:pt x="8692" y="9002"/>
                </a:lnTo>
                <a:lnTo>
                  <a:pt x="4036" y="9002"/>
                </a:lnTo>
                <a:cubicBezTo>
                  <a:pt x="3465" y="9002"/>
                  <a:pt x="3024" y="9466"/>
                  <a:pt x="3024" y="10014"/>
                </a:cubicBezTo>
                <a:cubicBezTo>
                  <a:pt x="3024" y="10097"/>
                  <a:pt x="3096" y="10181"/>
                  <a:pt x="3191" y="10181"/>
                </a:cubicBezTo>
                <a:lnTo>
                  <a:pt x="4691" y="10181"/>
                </a:lnTo>
                <a:cubicBezTo>
                  <a:pt x="4620" y="10657"/>
                  <a:pt x="4203" y="11014"/>
                  <a:pt x="3691" y="11014"/>
                </a:cubicBezTo>
                <a:cubicBezTo>
                  <a:pt x="3144" y="11014"/>
                  <a:pt x="2679" y="10562"/>
                  <a:pt x="2679" y="10002"/>
                </a:cubicBezTo>
                <a:lnTo>
                  <a:pt x="2679" y="8168"/>
                </a:lnTo>
                <a:cubicBezTo>
                  <a:pt x="2679" y="8085"/>
                  <a:pt x="2608" y="8002"/>
                  <a:pt x="2512" y="8002"/>
                </a:cubicBezTo>
                <a:cubicBezTo>
                  <a:pt x="2429" y="8002"/>
                  <a:pt x="2358" y="8085"/>
                  <a:pt x="2358" y="8168"/>
                </a:cubicBezTo>
                <a:lnTo>
                  <a:pt x="2358" y="10002"/>
                </a:lnTo>
                <a:cubicBezTo>
                  <a:pt x="2358" y="10740"/>
                  <a:pt x="2953" y="11335"/>
                  <a:pt x="3691" y="11335"/>
                </a:cubicBezTo>
                <a:lnTo>
                  <a:pt x="10013" y="11335"/>
                </a:lnTo>
                <a:cubicBezTo>
                  <a:pt x="10764" y="11335"/>
                  <a:pt x="11359" y="10740"/>
                  <a:pt x="11359" y="10002"/>
                </a:cubicBezTo>
                <a:cubicBezTo>
                  <a:pt x="11371" y="9478"/>
                  <a:pt x="10930" y="9038"/>
                  <a:pt x="10359" y="9038"/>
                </a:cubicBezTo>
                <a:lnTo>
                  <a:pt x="9025" y="9038"/>
                </a:lnTo>
                <a:lnTo>
                  <a:pt x="9025" y="6811"/>
                </a:lnTo>
                <a:cubicBezTo>
                  <a:pt x="9263" y="6692"/>
                  <a:pt x="9513" y="6513"/>
                  <a:pt x="9775" y="6252"/>
                </a:cubicBezTo>
                <a:cubicBezTo>
                  <a:pt x="10013" y="6013"/>
                  <a:pt x="10228" y="5763"/>
                  <a:pt x="10406" y="5478"/>
                </a:cubicBezTo>
                <a:cubicBezTo>
                  <a:pt x="10430" y="5430"/>
                  <a:pt x="10430" y="5370"/>
                  <a:pt x="10418" y="5311"/>
                </a:cubicBezTo>
                <a:cubicBezTo>
                  <a:pt x="10394" y="5251"/>
                  <a:pt x="10347" y="5228"/>
                  <a:pt x="10299" y="5204"/>
                </a:cubicBezTo>
                <a:lnTo>
                  <a:pt x="9894" y="5132"/>
                </a:lnTo>
                <a:cubicBezTo>
                  <a:pt x="10728" y="4489"/>
                  <a:pt x="11264" y="3525"/>
                  <a:pt x="11323" y="2465"/>
                </a:cubicBezTo>
                <a:lnTo>
                  <a:pt x="11323" y="2453"/>
                </a:lnTo>
                <a:cubicBezTo>
                  <a:pt x="11323" y="2406"/>
                  <a:pt x="11311" y="2358"/>
                  <a:pt x="11287" y="2322"/>
                </a:cubicBezTo>
                <a:cubicBezTo>
                  <a:pt x="11252" y="2287"/>
                  <a:pt x="11204" y="2275"/>
                  <a:pt x="11145" y="2275"/>
                </a:cubicBezTo>
                <a:cubicBezTo>
                  <a:pt x="10764" y="2311"/>
                  <a:pt x="10394" y="2346"/>
                  <a:pt x="10037" y="2430"/>
                </a:cubicBezTo>
                <a:cubicBezTo>
                  <a:pt x="9942" y="2442"/>
                  <a:pt x="9882" y="2525"/>
                  <a:pt x="9894" y="2620"/>
                </a:cubicBezTo>
                <a:cubicBezTo>
                  <a:pt x="9916" y="2696"/>
                  <a:pt x="9988" y="2753"/>
                  <a:pt x="10073" y="2753"/>
                </a:cubicBezTo>
                <a:cubicBezTo>
                  <a:pt x="10080" y="2753"/>
                  <a:pt x="10089" y="2752"/>
                  <a:pt x="10097" y="2751"/>
                </a:cubicBezTo>
                <a:cubicBezTo>
                  <a:pt x="10371" y="2692"/>
                  <a:pt x="10656" y="2644"/>
                  <a:pt x="10966" y="2620"/>
                </a:cubicBezTo>
                <a:lnTo>
                  <a:pt x="10966" y="2620"/>
                </a:lnTo>
                <a:cubicBezTo>
                  <a:pt x="10847" y="3632"/>
                  <a:pt x="10275" y="4537"/>
                  <a:pt x="9382" y="5073"/>
                </a:cubicBezTo>
                <a:lnTo>
                  <a:pt x="9359" y="5085"/>
                </a:lnTo>
                <a:cubicBezTo>
                  <a:pt x="9299" y="5120"/>
                  <a:pt x="9275" y="5192"/>
                  <a:pt x="9287" y="5263"/>
                </a:cubicBezTo>
                <a:cubicBezTo>
                  <a:pt x="9299" y="5347"/>
                  <a:pt x="9359" y="5382"/>
                  <a:pt x="9418" y="5406"/>
                </a:cubicBezTo>
                <a:lnTo>
                  <a:pt x="9978" y="5490"/>
                </a:lnTo>
                <a:cubicBezTo>
                  <a:pt x="9835" y="5668"/>
                  <a:pt x="9692" y="5847"/>
                  <a:pt x="9525" y="6002"/>
                </a:cubicBezTo>
                <a:cubicBezTo>
                  <a:pt x="8870" y="6656"/>
                  <a:pt x="8406" y="6716"/>
                  <a:pt x="7573" y="6728"/>
                </a:cubicBezTo>
                <a:cubicBezTo>
                  <a:pt x="7727" y="6597"/>
                  <a:pt x="7870" y="6454"/>
                  <a:pt x="8013" y="6311"/>
                </a:cubicBezTo>
                <a:cubicBezTo>
                  <a:pt x="8728" y="5597"/>
                  <a:pt x="9299" y="4835"/>
                  <a:pt x="9775" y="4037"/>
                </a:cubicBezTo>
                <a:cubicBezTo>
                  <a:pt x="9823" y="3977"/>
                  <a:pt x="9811" y="3882"/>
                  <a:pt x="9751" y="3823"/>
                </a:cubicBezTo>
                <a:cubicBezTo>
                  <a:pt x="9718" y="3789"/>
                  <a:pt x="9681" y="3774"/>
                  <a:pt x="9639" y="3774"/>
                </a:cubicBezTo>
                <a:cubicBezTo>
                  <a:pt x="9608" y="3774"/>
                  <a:pt x="9574" y="3783"/>
                  <a:pt x="9537" y="3799"/>
                </a:cubicBezTo>
                <a:cubicBezTo>
                  <a:pt x="8739" y="4251"/>
                  <a:pt x="7966" y="4847"/>
                  <a:pt x="7263" y="5561"/>
                </a:cubicBezTo>
                <a:cubicBezTo>
                  <a:pt x="7120" y="5716"/>
                  <a:pt x="6977" y="5847"/>
                  <a:pt x="6846" y="6002"/>
                </a:cubicBezTo>
                <a:cubicBezTo>
                  <a:pt x="6882" y="5168"/>
                  <a:pt x="6918" y="4704"/>
                  <a:pt x="7573" y="4049"/>
                </a:cubicBezTo>
                <a:cubicBezTo>
                  <a:pt x="8085" y="3537"/>
                  <a:pt x="8728" y="3156"/>
                  <a:pt x="9454" y="2906"/>
                </a:cubicBezTo>
                <a:cubicBezTo>
                  <a:pt x="9537" y="2870"/>
                  <a:pt x="9585" y="2787"/>
                  <a:pt x="9561" y="2692"/>
                </a:cubicBezTo>
                <a:cubicBezTo>
                  <a:pt x="9531" y="2623"/>
                  <a:pt x="9470" y="2578"/>
                  <a:pt x="9395" y="2578"/>
                </a:cubicBezTo>
                <a:cubicBezTo>
                  <a:pt x="9379" y="2578"/>
                  <a:pt x="9363" y="2580"/>
                  <a:pt x="9347" y="2584"/>
                </a:cubicBezTo>
                <a:cubicBezTo>
                  <a:pt x="9228" y="2632"/>
                  <a:pt x="9109" y="2680"/>
                  <a:pt x="9001" y="2715"/>
                </a:cubicBezTo>
                <a:lnTo>
                  <a:pt x="9001" y="1334"/>
                </a:lnTo>
                <a:cubicBezTo>
                  <a:pt x="9001" y="596"/>
                  <a:pt x="8406" y="1"/>
                  <a:pt x="7668"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11934;p73"/>
          <p:cNvGrpSpPr/>
          <p:nvPr/>
        </p:nvGrpSpPr>
        <p:grpSpPr>
          <a:xfrm>
            <a:off x="7379367" y="3274276"/>
            <a:ext cx="278739" cy="339073"/>
            <a:chOff x="1768821" y="3361108"/>
            <a:chExt cx="278739" cy="339073"/>
          </a:xfrm>
          <a:solidFill>
            <a:schemeClr val="bg1"/>
          </a:solidFill>
        </p:grpSpPr>
        <p:sp>
          <p:nvSpPr>
            <p:cNvPr id="31" name="Google Shape;11935;p73"/>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936;p73"/>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937;p73"/>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938;p73"/>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939;p73"/>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940;p73"/>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941;p73"/>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942;p73"/>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943;p73"/>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944;p73"/>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945;p73"/>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518;p41"/>
          <p:cNvSpPr/>
          <p:nvPr/>
        </p:nvSpPr>
        <p:spPr>
          <a:xfrm rot="16200000" flipH="1">
            <a:off x="4381959" y="2137055"/>
            <a:ext cx="380081" cy="9144001"/>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43" name="Google Shape;208;p31"/>
          <p:cNvCxnSpPr/>
          <p:nvPr/>
        </p:nvCxnSpPr>
        <p:spPr>
          <a:xfrm>
            <a:off x="3301591" y="6643172"/>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56820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172" y="163139"/>
            <a:ext cx="7886700" cy="1325563"/>
          </a:xfrm>
        </p:spPr>
        <p:txBody>
          <a:bodyPr/>
          <a:lstStyle/>
          <a:p>
            <a:r>
              <a:rPr lang="en-US" dirty="0"/>
              <a:t>                </a:t>
            </a:r>
            <a:r>
              <a:rPr lang="en-US" dirty="0">
                <a:solidFill>
                  <a:srgbClr val="FFB200"/>
                </a:solidFill>
                <a:latin typeface="Candara" panose="020E0502030303020204" pitchFamily="34" charset="0"/>
              </a:rPr>
              <a:t>Meet </a:t>
            </a:r>
            <a:r>
              <a:rPr lang="en-US" dirty="0">
                <a:solidFill>
                  <a:srgbClr val="9C2B61"/>
                </a:solidFill>
                <a:latin typeface="Candara" panose="020E0502030303020204" pitchFamily="34" charset="0"/>
              </a:rPr>
              <a:t>our ED </a:t>
            </a:r>
          </a:p>
        </p:txBody>
      </p:sp>
      <p:sp>
        <p:nvSpPr>
          <p:cNvPr id="5" name="Google Shape;211;p31"/>
          <p:cNvSpPr/>
          <p:nvPr/>
        </p:nvSpPr>
        <p:spPr>
          <a:xfrm>
            <a:off x="0" y="-78319"/>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6" name="Google Shape;827;p53"/>
          <p:cNvSpPr txBox="1">
            <a:spLocks/>
          </p:cNvSpPr>
          <p:nvPr/>
        </p:nvSpPr>
        <p:spPr>
          <a:xfrm>
            <a:off x="3378571" y="4078828"/>
            <a:ext cx="2386858" cy="44934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Righteous"/>
              <a:buNone/>
              <a:defRPr sz="2500" b="0" i="0" u="none" strike="noStrike" cap="none">
                <a:solidFill>
                  <a:schemeClr val="dk1"/>
                </a:solidFill>
                <a:latin typeface="Righteous"/>
                <a:ea typeface="Righteous"/>
                <a:cs typeface="Righteous"/>
                <a:sym typeface="Righteous"/>
              </a:defRPr>
            </a:lvl1pPr>
            <a:lvl2pPr marR="0" lvl="1"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2500"/>
              <a:buFont typeface="Bebas Neue"/>
              <a:buNone/>
              <a:defRPr sz="2500" b="0" i="0" u="none" strike="noStrike" cap="none">
                <a:solidFill>
                  <a:schemeClr val="dk1"/>
                </a:solidFill>
                <a:latin typeface="Bebas Neue"/>
                <a:ea typeface="Bebas Neue"/>
                <a:cs typeface="Bebas Neue"/>
                <a:sym typeface="Bebas Neue"/>
              </a:defRPr>
            </a:lvl9pPr>
          </a:lstStyle>
          <a:p>
            <a:pPr marL="0" marR="0" lvl="0" indent="0" algn="ctr" defTabSz="914400" rtl="0" eaLnBrk="1" fontAlgn="auto" latinLnBrk="0" hangingPunct="1">
              <a:lnSpc>
                <a:spcPct val="100000"/>
              </a:lnSpc>
              <a:spcBef>
                <a:spcPts val="0"/>
              </a:spcBef>
              <a:spcAft>
                <a:spcPts val="0"/>
              </a:spcAft>
              <a:buClr>
                <a:srgbClr val="191919"/>
              </a:buClr>
              <a:buSzPts val="2500"/>
              <a:buFont typeface="Righteous"/>
              <a:buNone/>
              <a:tabLst/>
              <a:defRPr/>
            </a:pPr>
            <a:r>
              <a:rPr lang="en-US" sz="2000" b="1" kern="0" noProof="0" dirty="0">
                <a:solidFill>
                  <a:srgbClr val="191919"/>
                </a:solidFill>
                <a:latin typeface="Candara" panose="020E0502030303020204" pitchFamily="34" charset="0"/>
              </a:rPr>
              <a:t>Barbara Banda</a:t>
            </a:r>
            <a:endParaRPr kumimoji="0" lang="en-US" sz="2000" b="1" i="0" u="none" strike="noStrike" kern="0" cap="none" spc="0" normalizeH="0" baseline="0" noProof="0" dirty="0">
              <a:ln>
                <a:noFill/>
              </a:ln>
              <a:solidFill>
                <a:srgbClr val="191919"/>
              </a:solidFill>
              <a:effectLst/>
              <a:uLnTx/>
              <a:uFillTx/>
              <a:latin typeface="Candara" panose="020E0502030303020204" pitchFamily="34" charset="0"/>
              <a:sym typeface="Righteous"/>
            </a:endParaRPr>
          </a:p>
        </p:txBody>
      </p:sp>
      <p:sp>
        <p:nvSpPr>
          <p:cNvPr id="8" name="Google Shape;828;p53"/>
          <p:cNvSpPr txBox="1">
            <a:spLocks/>
          </p:cNvSpPr>
          <p:nvPr/>
        </p:nvSpPr>
        <p:spPr>
          <a:xfrm>
            <a:off x="3166497" y="5365374"/>
            <a:ext cx="2902941"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marR="0" lvl="0" indent="0" algn="ctr" defTabSz="914400" rtl="0" eaLnBrk="1" fontAlgn="auto" latinLnBrk="0" hangingPunct="1">
              <a:lnSpc>
                <a:spcPct val="100000"/>
              </a:lnSpc>
              <a:spcBef>
                <a:spcPts val="0"/>
              </a:spcBef>
              <a:spcAft>
                <a:spcPts val="0"/>
              </a:spcAft>
              <a:buClr>
                <a:srgbClr val="191919"/>
              </a:buClr>
              <a:buSzPts val="1400"/>
              <a:buFont typeface="Assistant"/>
              <a:buNone/>
              <a:tabLst/>
              <a:defRPr/>
            </a:pPr>
            <a:r>
              <a:rPr lang="en-US" kern="0" dirty="0">
                <a:solidFill>
                  <a:srgbClr val="191919"/>
                </a:solidFill>
                <a:latin typeface="Candara" panose="020E0502030303020204" pitchFamily="34" charset="0"/>
              </a:rPr>
              <a:t>Executive Director with over 30 years experience in development management in sub-Saharan Africa region. She has served in various leadership positions, chairperson for NGO Gender Coordination Network and Former board member for National Economic Empowerment Fund. She holds MSc in Development Management</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9" name="Google Shape;833;p53"/>
          <p:cNvSpPr/>
          <p:nvPr/>
        </p:nvSpPr>
        <p:spPr>
          <a:xfrm flipH="1" flipV="1">
            <a:off x="3352927" y="3781334"/>
            <a:ext cx="2530079" cy="31947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0" name="Picture 9"/>
          <p:cNvPicPr>
            <a:picLocks noChangeAspect="1"/>
          </p:cNvPicPr>
          <p:nvPr/>
        </p:nvPicPr>
        <p:blipFill>
          <a:blip r:embed="rId2"/>
          <a:stretch>
            <a:fillRect/>
          </a:stretch>
        </p:blipFill>
        <p:spPr>
          <a:xfrm>
            <a:off x="3352930" y="1333041"/>
            <a:ext cx="2530077" cy="2448293"/>
          </a:xfrm>
          <a:prstGeom prst="rect">
            <a:avLst/>
          </a:prstGeom>
        </p:spPr>
      </p:pic>
      <p:sp>
        <p:nvSpPr>
          <p:cNvPr id="11" name="Google Shape;518;p41"/>
          <p:cNvSpPr/>
          <p:nvPr/>
        </p:nvSpPr>
        <p:spPr>
          <a:xfrm flipH="1">
            <a:off x="-3" y="4591241"/>
            <a:ext cx="821806" cy="2307855"/>
          </a:xfrm>
          <a:prstGeom prst="rect">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highlight>
                <a:srgbClr val="FFCC00"/>
              </a:highlight>
              <a:uLnTx/>
              <a:uFillTx/>
              <a:latin typeface="Arial"/>
              <a:cs typeface="Arial"/>
              <a:sym typeface="Arial"/>
            </a:endParaRPr>
          </a:p>
        </p:txBody>
      </p:sp>
      <p:cxnSp>
        <p:nvCxnSpPr>
          <p:cNvPr id="12" name="Google Shape;208;p31"/>
          <p:cNvCxnSpPr/>
          <p:nvPr/>
        </p:nvCxnSpPr>
        <p:spPr>
          <a:xfrm flipH="1">
            <a:off x="407995" y="4764686"/>
            <a:ext cx="277" cy="1960962"/>
          </a:xfrm>
          <a:prstGeom prst="straightConnector1">
            <a:avLst/>
          </a:prstGeom>
          <a:noFill/>
          <a:ln w="9525" cap="flat" cmpd="sng">
            <a:solidFill>
              <a:srgbClr val="FFFFFF"/>
            </a:solidFill>
            <a:prstDash val="solid"/>
            <a:round/>
            <a:headEnd type="none" w="med" len="med"/>
            <a:tailEnd type="none" w="med" len="med"/>
          </a:ln>
        </p:spPr>
      </p:cxnSp>
      <p:sp>
        <p:nvSpPr>
          <p:cNvPr id="13" name="Google Shape;518;p41"/>
          <p:cNvSpPr/>
          <p:nvPr/>
        </p:nvSpPr>
        <p:spPr>
          <a:xfrm flipH="1">
            <a:off x="8763918" y="318800"/>
            <a:ext cx="380081" cy="6539199"/>
          </a:xfrm>
          <a:prstGeom prst="rect">
            <a:avLst/>
          </a:prstGeom>
          <a:solidFill>
            <a:srgbClr val="FFB2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highlight>
                <a:srgbClr val="FFB200"/>
              </a:highlight>
              <a:uLnTx/>
              <a:uFillTx/>
              <a:latin typeface="Arial"/>
              <a:cs typeface="Arial"/>
              <a:sym typeface="Arial"/>
            </a:endParaRPr>
          </a:p>
        </p:txBody>
      </p:sp>
    </p:spTree>
    <p:extLst>
      <p:ext uri="{BB962C8B-B14F-4D97-AF65-F5344CB8AC3E}">
        <p14:creationId xmlns:p14="http://schemas.microsoft.com/office/powerpoint/2010/main" val="3396982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887" y="54144"/>
            <a:ext cx="7886700" cy="1114900"/>
          </a:xfrm>
        </p:spPr>
        <p:txBody>
          <a:bodyPr>
            <a:normAutofit/>
          </a:bodyPr>
          <a:lstStyle/>
          <a:p>
            <a:r>
              <a:rPr lang="en-US" dirty="0">
                <a:solidFill>
                  <a:schemeClr val="accent2"/>
                </a:solidFill>
                <a:latin typeface="Candara" panose="020E0502030303020204" pitchFamily="34" charset="0"/>
              </a:rPr>
              <a:t>                </a:t>
            </a:r>
            <a:r>
              <a:rPr lang="en-US" dirty="0">
                <a:solidFill>
                  <a:srgbClr val="FFB200"/>
                </a:solidFill>
                <a:latin typeface="Candara" panose="020E0502030303020204" pitchFamily="34" charset="0"/>
              </a:rPr>
              <a:t>Our</a:t>
            </a:r>
            <a:r>
              <a:rPr lang="en-US" dirty="0">
                <a:solidFill>
                  <a:schemeClr val="accent2"/>
                </a:solidFill>
                <a:latin typeface="Candara" panose="020E0502030303020204" pitchFamily="34" charset="0"/>
              </a:rPr>
              <a:t> </a:t>
            </a:r>
            <a:r>
              <a:rPr lang="en-US" dirty="0">
                <a:solidFill>
                  <a:srgbClr val="9C2B61"/>
                </a:solidFill>
                <a:latin typeface="Candara" panose="020E0502030303020204" pitchFamily="34" charset="0"/>
              </a:rPr>
              <a:t>Structure</a:t>
            </a:r>
          </a:p>
        </p:txBody>
      </p:sp>
      <p:sp>
        <p:nvSpPr>
          <p:cNvPr id="5" name="Google Shape;259;p34"/>
          <p:cNvSpPr txBox="1">
            <a:spLocks/>
          </p:cNvSpPr>
          <p:nvPr/>
        </p:nvSpPr>
        <p:spPr>
          <a:xfrm>
            <a:off x="243069" y="1129027"/>
            <a:ext cx="8449518" cy="126164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None/>
              <a:defRPr sz="16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lgn="just">
              <a:buClr>
                <a:srgbClr val="191919"/>
              </a:buClr>
            </a:pPr>
            <a:r>
              <a:rPr lang="en-US" sz="1400" dirty="0">
                <a:solidFill>
                  <a:srgbClr val="171717"/>
                </a:solidFill>
                <a:latin typeface="Candara" panose="020E0502030303020204" pitchFamily="34" charset="0"/>
                <a:ea typeface="Times New Roman" panose="02020603050405020304" pitchFamily="18" charset="0"/>
              </a:rPr>
              <a:t>NABW has 7 board of directors composed of credible and professionally respected, trusted and experienced business women. These are elected at the Annual General Assembly to govern the operations of the organisation.  The board has a mandate to recruit a visionary, experienced Executive Director to manage the daily operations of the organisation. At the technical level,  it is composed of 4 permanent staff and 3 volunteers</a:t>
            </a:r>
            <a:endParaRPr kumimoji="0" lang="en-US" sz="1400" b="0" i="0" u="none" strike="noStrike" kern="0" cap="none" spc="0" normalizeH="0" baseline="0" noProof="0" dirty="0">
              <a:ln>
                <a:noFill/>
              </a:ln>
              <a:solidFill>
                <a:srgbClr val="191919"/>
              </a:solidFill>
              <a:effectLst/>
              <a:uLnTx/>
              <a:uFillTx/>
              <a:latin typeface="Candara" panose="020E0502030303020204" pitchFamily="34" charset="0"/>
              <a:sym typeface="Assistant"/>
            </a:endParaRPr>
          </a:p>
        </p:txBody>
      </p:sp>
      <p:sp>
        <p:nvSpPr>
          <p:cNvPr id="6" name="Google Shape;211;p31"/>
          <p:cNvSpPr/>
          <p:nvPr/>
        </p:nvSpPr>
        <p:spPr>
          <a:xfrm>
            <a:off x="0" y="-6400"/>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8" name="Google Shape;518;p41"/>
          <p:cNvSpPr/>
          <p:nvPr/>
        </p:nvSpPr>
        <p:spPr>
          <a:xfrm rot="16200000" flipH="1">
            <a:off x="6970855" y="4725952"/>
            <a:ext cx="283581" cy="4062712"/>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9C2B61"/>
              </a:solidFill>
              <a:effectLst/>
              <a:uLnTx/>
              <a:uFillTx/>
              <a:latin typeface="Arial"/>
              <a:cs typeface="Arial"/>
              <a:sym typeface="Arial"/>
            </a:endParaRPr>
          </a:p>
        </p:txBody>
      </p:sp>
      <p:graphicFrame>
        <p:nvGraphicFramePr>
          <p:cNvPr id="10" name="Content Placeholder 9">
            <a:extLst>
              <a:ext uri="{FF2B5EF4-FFF2-40B4-BE49-F238E27FC236}">
                <a16:creationId xmlns:a16="http://schemas.microsoft.com/office/drawing/2014/main" id="{F7717D29-A385-41F0-B619-B07D57056CD0}"/>
              </a:ext>
            </a:extLst>
          </p:cNvPr>
          <p:cNvGraphicFramePr>
            <a:graphicFrameLocks noGrp="1"/>
          </p:cNvGraphicFramePr>
          <p:nvPr>
            <p:ph idx="1"/>
            <p:extLst>
              <p:ext uri="{D42A27DB-BD31-4B8C-83A1-F6EECF244321}">
                <p14:modId xmlns:p14="http://schemas.microsoft.com/office/powerpoint/2010/main" val="1649008294"/>
              </p:ext>
            </p:extLst>
          </p:nvPr>
        </p:nvGraphicFramePr>
        <p:xfrm>
          <a:off x="628650" y="2144124"/>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3611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 y="723687"/>
            <a:ext cx="9143999" cy="5143499"/>
          </a:xfrm>
          <a:blipFill>
            <a:blip r:embed="rId2"/>
            <a:stretch>
              <a:fillRect/>
            </a:stretch>
          </a:blipFill>
        </p:spPr>
        <p:txBody>
          <a:bodyPr/>
          <a:lstStyle/>
          <a:p>
            <a:pPr algn="ctr"/>
            <a:r>
              <a:rPr lang="en-US" sz="2400" dirty="0"/>
              <a:t>     </a:t>
            </a: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r>
              <a:rPr lang="en-US" sz="2400" b="1" dirty="0">
                <a:solidFill>
                  <a:srgbClr val="FFB200"/>
                </a:solidFill>
              </a:rPr>
              <a:t>OUR RECENT WORK &amp;</a:t>
            </a:r>
            <a:r>
              <a:rPr lang="en-US" b="1" dirty="0">
                <a:solidFill>
                  <a:srgbClr val="FFB200"/>
                </a:solidFill>
              </a:rPr>
              <a:t> ACHIEVEMENTS</a:t>
            </a:r>
          </a:p>
        </p:txBody>
      </p:sp>
      <p:pic>
        <p:nvPicPr>
          <p:cNvPr id="4" name="Picture 3">
            <a:extLst>
              <a:ext uri="{FF2B5EF4-FFF2-40B4-BE49-F238E27FC236}">
                <a16:creationId xmlns:a16="http://schemas.microsoft.com/office/drawing/2014/main" id="{6255198B-3787-4035-88A6-F9A5246B02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908283"/>
            <a:ext cx="1778999" cy="949718"/>
          </a:xfrm>
          <a:prstGeom prst="rect">
            <a:avLst/>
          </a:prstGeom>
        </p:spPr>
      </p:pic>
    </p:spTree>
    <p:extLst>
      <p:ext uri="{BB962C8B-B14F-4D97-AF65-F5344CB8AC3E}">
        <p14:creationId xmlns:p14="http://schemas.microsoft.com/office/powerpoint/2010/main" val="2409425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61682" y="251322"/>
            <a:ext cx="7183510" cy="664699"/>
          </a:xfrm>
          <a:solidFill>
            <a:schemeClr val="bg1"/>
          </a:solidFill>
        </p:spPr>
        <p:txBody>
          <a:bodyPr>
            <a:normAutofit fontScale="90000"/>
          </a:bodyPr>
          <a:lstStyle/>
          <a:p>
            <a:pPr algn="ctr">
              <a:spcBef>
                <a:spcPts val="750"/>
              </a:spcBef>
              <a:buClr>
                <a:srgbClr val="90C226"/>
              </a:buClr>
              <a:buSzPct val="80000"/>
            </a:pPr>
            <a:r>
              <a:rPr lang="en-US" dirty="0"/>
              <a:t>Entrepreneurial behavior, life skills and Leadership</a:t>
            </a:r>
            <a:br>
              <a:rPr lang="en-US" dirty="0"/>
            </a:br>
            <a:r>
              <a:rPr lang="en-US" sz="1425" dirty="0">
                <a:solidFill>
                  <a:prstClr val="black">
                    <a:lumMod val="75000"/>
                    <a:lumOff val="25000"/>
                  </a:prstClr>
                </a:solidFill>
                <a:ea typeface="+mn-ea"/>
                <a:cs typeface="+mn-cs"/>
              </a:rPr>
              <a:t>“Building strong foundations”</a:t>
            </a:r>
            <a:br>
              <a:rPr lang="en-US" sz="1425" dirty="0">
                <a:solidFill>
                  <a:prstClr val="black">
                    <a:lumMod val="75000"/>
                    <a:lumOff val="25000"/>
                  </a:prstClr>
                </a:solidFill>
                <a:ea typeface="+mn-ea"/>
                <a:cs typeface="+mn-cs"/>
              </a:rPr>
            </a:br>
            <a:endParaRPr lang="en-US" dirty="0"/>
          </a:p>
        </p:txBody>
      </p:sp>
      <p:sp>
        <p:nvSpPr>
          <p:cNvPr id="3" name="Content Placeholder 2"/>
          <p:cNvSpPr>
            <a:spLocks noGrp="1"/>
          </p:cNvSpPr>
          <p:nvPr>
            <p:ph idx="1"/>
          </p:nvPr>
        </p:nvSpPr>
        <p:spPr>
          <a:xfrm>
            <a:off x="508000" y="2477692"/>
            <a:ext cx="4588021" cy="3317318"/>
          </a:xfrm>
        </p:spPr>
        <p:txBody>
          <a:bodyPr>
            <a:normAutofit/>
          </a:bodyPr>
          <a:lstStyle/>
          <a:p>
            <a:pPr marL="0" indent="0">
              <a:buNone/>
            </a:pPr>
            <a:endParaRPr lang="en-US" dirty="0"/>
          </a:p>
          <a:p>
            <a:pPr algn="just">
              <a:buFont typeface="Courier New" panose="02070309020205020404" pitchFamily="49" charset="0"/>
              <a:buChar char="o"/>
            </a:pPr>
            <a:r>
              <a:rPr lang="en-US" sz="1500" dirty="0">
                <a:solidFill>
                  <a:schemeClr val="bg1"/>
                </a:solidFill>
              </a:rPr>
              <a:t>Trained 77/90 women  representing 85% of total targeted women</a:t>
            </a:r>
          </a:p>
          <a:p>
            <a:pPr algn="just">
              <a:buFont typeface="Courier New" panose="02070309020205020404" pitchFamily="49" charset="0"/>
              <a:buChar char="o"/>
            </a:pPr>
            <a:r>
              <a:rPr lang="en-US" sz="1500" dirty="0">
                <a:solidFill>
                  <a:schemeClr val="bg1"/>
                </a:solidFill>
              </a:rPr>
              <a:t>Improved self-confidence and decision making abilities</a:t>
            </a:r>
          </a:p>
          <a:p>
            <a:pPr algn="just">
              <a:buFont typeface="Courier New" panose="02070309020205020404" pitchFamily="49" charset="0"/>
              <a:buChar char="o"/>
            </a:pPr>
            <a:r>
              <a:rPr lang="en-US" sz="1500" dirty="0">
                <a:solidFill>
                  <a:schemeClr val="bg1"/>
                </a:solidFill>
              </a:rPr>
              <a:t>Atleast 80% of participants taking on leadership roles within their communities or business networks. </a:t>
            </a:r>
          </a:p>
        </p:txBody>
      </p:sp>
      <p:pic>
        <p:nvPicPr>
          <p:cNvPr id="5" name="Picture 4">
            <a:extLst>
              <a:ext uri="{FF2B5EF4-FFF2-40B4-BE49-F238E27FC236}">
                <a16:creationId xmlns:a16="http://schemas.microsoft.com/office/drawing/2014/main" id="{0081B9DA-05FA-49F8-8EF9-068BD73133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064568"/>
            <a:ext cx="1649774" cy="793432"/>
          </a:xfrm>
          <a:prstGeom prst="rect">
            <a:avLst/>
          </a:prstGeom>
        </p:spPr>
      </p:pic>
    </p:spTree>
    <p:extLst>
      <p:ext uri="{BB962C8B-B14F-4D97-AF65-F5344CB8AC3E}">
        <p14:creationId xmlns:p14="http://schemas.microsoft.com/office/powerpoint/2010/main" val="4082892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23926" y="108103"/>
            <a:ext cx="6447501" cy="990600"/>
          </a:xfrm>
          <a:pattFill prst="pct5">
            <a:fgClr>
              <a:schemeClr val="bg1"/>
            </a:fgClr>
            <a:bgClr>
              <a:schemeClr val="bg1"/>
            </a:bgClr>
          </a:pattFill>
          <a:ln>
            <a:noFill/>
          </a:ln>
        </p:spPr>
        <p:txBody>
          <a:bodyPr>
            <a:normAutofit fontScale="90000"/>
          </a:bodyPr>
          <a:lstStyle/>
          <a:p>
            <a:pPr algn="ctr">
              <a:spcBef>
                <a:spcPts val="750"/>
              </a:spcBef>
              <a:buClr>
                <a:srgbClr val="90C226"/>
              </a:buClr>
              <a:buSzPct val="80000"/>
            </a:pPr>
            <a:r>
              <a:rPr lang="en-US" dirty="0"/>
              <a:t>Financial Literacy, Management and Record Keeping</a:t>
            </a:r>
            <a:br>
              <a:rPr lang="en-US" dirty="0"/>
            </a:br>
            <a:r>
              <a:rPr lang="en-US" sz="1425" dirty="0">
                <a:solidFill>
                  <a:prstClr val="black">
                    <a:lumMod val="75000"/>
                    <a:lumOff val="25000"/>
                  </a:prstClr>
                </a:solidFill>
                <a:ea typeface="+mn-ea"/>
                <a:cs typeface="+mn-cs"/>
              </a:rPr>
              <a:t>“Empowering financial independence”</a:t>
            </a:r>
            <a:br>
              <a:rPr lang="en-US" sz="1425" dirty="0">
                <a:solidFill>
                  <a:prstClr val="black">
                    <a:lumMod val="75000"/>
                    <a:lumOff val="25000"/>
                  </a:prstClr>
                </a:solidFill>
                <a:ea typeface="+mn-ea"/>
                <a:cs typeface="+mn-cs"/>
              </a:rPr>
            </a:br>
            <a:endParaRPr lang="en-US" dirty="0"/>
          </a:p>
        </p:txBody>
      </p:sp>
      <p:sp>
        <p:nvSpPr>
          <p:cNvPr id="3" name="Content Placeholder 2"/>
          <p:cNvSpPr>
            <a:spLocks noGrp="1"/>
          </p:cNvSpPr>
          <p:nvPr>
            <p:ph idx="1"/>
          </p:nvPr>
        </p:nvSpPr>
        <p:spPr>
          <a:xfrm>
            <a:off x="4195985" y="2763096"/>
            <a:ext cx="4399671" cy="3137422"/>
          </a:xfrm>
        </p:spPr>
        <p:txBody>
          <a:bodyPr>
            <a:normAutofit lnSpcReduction="10000"/>
          </a:bodyPr>
          <a:lstStyle/>
          <a:p>
            <a:pPr>
              <a:buFont typeface="Courier New" panose="02070309020205020404" pitchFamily="49" charset="0"/>
              <a:buChar char="o"/>
            </a:pPr>
            <a:r>
              <a:rPr lang="en-US" sz="1500" dirty="0">
                <a:solidFill>
                  <a:schemeClr val="bg1"/>
                </a:solidFill>
              </a:rPr>
              <a:t>Trained 77/90 representing 85% of total targeted women</a:t>
            </a:r>
          </a:p>
          <a:p>
            <a:pPr>
              <a:buFont typeface="Courier New" panose="02070309020205020404" pitchFamily="49" charset="0"/>
              <a:buChar char="o"/>
            </a:pPr>
            <a:r>
              <a:rPr lang="en-US" sz="1500" dirty="0">
                <a:solidFill>
                  <a:schemeClr val="bg1"/>
                </a:solidFill>
              </a:rPr>
              <a:t>Improved financial literacy: participants demonstrated an average of 85% increase in financial literacy knowledge</a:t>
            </a:r>
          </a:p>
          <a:p>
            <a:pPr>
              <a:buFont typeface="Courier New" panose="02070309020205020404" pitchFamily="49" charset="0"/>
              <a:buChar char="o"/>
            </a:pPr>
            <a:r>
              <a:rPr lang="en-US" sz="1500" dirty="0">
                <a:solidFill>
                  <a:schemeClr val="bg1"/>
                </a:solidFill>
              </a:rPr>
              <a:t>Improved business management practices with 80 % reporting they implemented changes in their businesses. </a:t>
            </a:r>
          </a:p>
          <a:p>
            <a:pPr>
              <a:buFont typeface="Courier New" panose="02070309020205020404" pitchFamily="49" charset="0"/>
              <a:buChar char="o"/>
            </a:pPr>
            <a:r>
              <a:rPr lang="en-US" sz="1500" dirty="0">
                <a:solidFill>
                  <a:schemeClr val="bg1"/>
                </a:solidFill>
              </a:rPr>
              <a:t>Record Keeping excellence; 90 % of participants now have organized financial records compared to less than 50% from the start of project</a:t>
            </a:r>
            <a:r>
              <a:rPr lang="en-US" dirty="0">
                <a:solidFill>
                  <a:schemeClr val="bg1"/>
                </a:solidFill>
              </a:rPr>
              <a:t>. </a:t>
            </a:r>
          </a:p>
        </p:txBody>
      </p:sp>
      <p:pic>
        <p:nvPicPr>
          <p:cNvPr id="5" name="Picture 4">
            <a:extLst>
              <a:ext uri="{FF2B5EF4-FFF2-40B4-BE49-F238E27FC236}">
                <a16:creationId xmlns:a16="http://schemas.microsoft.com/office/drawing/2014/main" id="{683FB834-04B4-4A35-BEFE-F321EA520B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4256" y="5867399"/>
            <a:ext cx="2059744" cy="990601"/>
          </a:xfrm>
          <a:prstGeom prst="rect">
            <a:avLst/>
          </a:prstGeom>
        </p:spPr>
      </p:pic>
    </p:spTree>
    <p:extLst>
      <p:ext uri="{BB962C8B-B14F-4D97-AF65-F5344CB8AC3E}">
        <p14:creationId xmlns:p14="http://schemas.microsoft.com/office/powerpoint/2010/main" val="1879270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87194" y="105095"/>
            <a:ext cx="6447501" cy="809305"/>
          </a:xfrm>
          <a:solidFill>
            <a:schemeClr val="bg1"/>
          </a:solidFill>
        </p:spPr>
        <p:txBody>
          <a:bodyPr/>
          <a:lstStyle/>
          <a:p>
            <a:pPr algn="ctr"/>
            <a:r>
              <a:rPr lang="en-US" dirty="0">
                <a:effectLst>
                  <a:outerShdw blurRad="444500" dir="9180000" sx="91000" sy="91000" algn="ctr" rotWithShape="0">
                    <a:schemeClr val="accent1"/>
                  </a:outerShdw>
                </a:effectLst>
              </a:rPr>
              <a:t>E-commerce and digital Marketing</a:t>
            </a:r>
            <a:br>
              <a:rPr lang="en-US" dirty="0"/>
            </a:br>
            <a:r>
              <a:rPr lang="en-US" sz="1350" dirty="0">
                <a:solidFill>
                  <a:schemeClr val="tx1"/>
                </a:solidFill>
                <a:effectLst>
                  <a:outerShdw blurRad="50800" dist="50800" dir="5400000" algn="ctr" rotWithShape="0">
                    <a:schemeClr val="tx1"/>
                  </a:outerShdw>
                </a:effectLst>
              </a:rPr>
              <a:t>"Nurturing Online Presence"</a:t>
            </a:r>
          </a:p>
        </p:txBody>
      </p:sp>
      <p:sp useBgFill="1">
        <p:nvSpPr>
          <p:cNvPr id="3" name="Content Placeholder 2"/>
          <p:cNvSpPr>
            <a:spLocks noGrp="1"/>
          </p:cNvSpPr>
          <p:nvPr>
            <p:ph idx="1"/>
          </p:nvPr>
        </p:nvSpPr>
        <p:spPr>
          <a:xfrm>
            <a:off x="4262511" y="2878622"/>
            <a:ext cx="4104249" cy="2715924"/>
          </a:xfrm>
          <a:effectLst>
            <a:outerShdw blurRad="50800" dist="50800" dir="5400000" algn="ctr" rotWithShape="0">
              <a:schemeClr val="bg1"/>
            </a:outerShdw>
          </a:effectLst>
        </p:spPr>
        <p:txBody>
          <a:bodyPr>
            <a:noAutofit/>
          </a:bodyPr>
          <a:lstStyle/>
          <a:p>
            <a:pPr algn="just">
              <a:buFont typeface="Courier New" panose="02070309020205020404" pitchFamily="49" charset="0"/>
              <a:buChar char="o"/>
            </a:pPr>
            <a:r>
              <a:rPr lang="en-US" sz="1500" b="1" dirty="0">
                <a:pattFill prst="pct5">
                  <a:fgClr>
                    <a:schemeClr val="bg1"/>
                  </a:fgClr>
                  <a:bgClr>
                    <a:schemeClr val="bg1"/>
                  </a:bgClr>
                </a:pattFill>
                <a:effectLst>
                  <a:reflection blurRad="393700" stA="16000" endPos="65000" dist="50800" dir="5400000" sy="-100000" algn="bl" rotWithShape="0"/>
                </a:effectLst>
              </a:rPr>
              <a:t>Trained 90/90 representing 100% of the targeted women.</a:t>
            </a:r>
          </a:p>
          <a:p>
            <a:pPr algn="just">
              <a:buFont typeface="Courier New" panose="02070309020205020404" pitchFamily="49" charset="0"/>
              <a:buChar char="o"/>
            </a:pPr>
            <a:r>
              <a:rPr lang="en-US" sz="1500" b="1" dirty="0">
                <a:pattFill prst="pct5">
                  <a:fgClr>
                    <a:schemeClr val="bg1"/>
                  </a:fgClr>
                  <a:bgClr>
                    <a:schemeClr val="bg1"/>
                  </a:bgClr>
                </a:pattFill>
                <a:effectLst>
                  <a:reflection blurRad="393700" stA="16000" endPos="65000" dist="50800" dir="5400000" sy="-100000" algn="bl" rotWithShape="0"/>
                </a:effectLst>
              </a:rPr>
              <a:t>Successful adoption of e-commerce &amp; digital marketing with 70% of participants established or improved their online presence.</a:t>
            </a:r>
          </a:p>
          <a:p>
            <a:pPr algn="just">
              <a:buFont typeface="Courier New" panose="02070309020205020404" pitchFamily="49" charset="0"/>
              <a:buChar char="o"/>
            </a:pPr>
            <a:r>
              <a:rPr lang="en-US" sz="1500" b="1" dirty="0">
                <a:pattFill prst="pct5">
                  <a:fgClr>
                    <a:schemeClr val="bg1"/>
                  </a:fgClr>
                  <a:bgClr>
                    <a:schemeClr val="bg1"/>
                  </a:bgClr>
                </a:pattFill>
                <a:effectLst>
                  <a:reflection blurRad="393700" stA="16000" endPos="65000" dist="50800" dir="5400000" sy="-100000" algn="bl" rotWithShape="0"/>
                </a:effectLst>
              </a:rPr>
              <a:t>70% increase in digital marketing knowledge and ability to create effective online marketing campaigns</a:t>
            </a:r>
          </a:p>
        </p:txBody>
      </p:sp>
      <p:pic>
        <p:nvPicPr>
          <p:cNvPr id="5" name="Picture 4">
            <a:extLst>
              <a:ext uri="{FF2B5EF4-FFF2-40B4-BE49-F238E27FC236}">
                <a16:creationId xmlns:a16="http://schemas.microsoft.com/office/drawing/2014/main" id="{B6DF5D36-133F-48E2-AE28-67AC42441F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35983"/>
            <a:ext cx="1501281" cy="722017"/>
          </a:xfrm>
          <a:prstGeom prst="rect">
            <a:avLst/>
          </a:prstGeom>
        </p:spPr>
      </p:pic>
    </p:spTree>
    <p:extLst>
      <p:ext uri="{BB962C8B-B14F-4D97-AF65-F5344CB8AC3E}">
        <p14:creationId xmlns:p14="http://schemas.microsoft.com/office/powerpoint/2010/main" val="3324307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18000">
              <a:schemeClr val="accent1">
                <a:lumMod val="45000"/>
                <a:lumOff val="55000"/>
              </a:schemeClr>
            </a:gs>
            <a:gs pos="53000">
              <a:schemeClr val="accent1">
                <a:lumMod val="45000"/>
                <a:lumOff val="55000"/>
              </a:schemeClr>
            </a:gs>
            <a:gs pos="88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8958" y="1478068"/>
            <a:ext cx="1667452" cy="2813456"/>
          </a:xfrm>
          <a:prstGeom prst="rect">
            <a:avLst/>
          </a:prstGeom>
        </p:spPr>
      </p:pic>
      <p:pic>
        <p:nvPicPr>
          <p:cNvPr id="3" name="Picture 2"/>
          <p:cNvPicPr>
            <a:picLocks noChangeAspect="1"/>
          </p:cNvPicPr>
          <p:nvPr/>
        </p:nvPicPr>
        <p:blipFill>
          <a:blip r:embed="rId3"/>
          <a:stretch>
            <a:fillRect/>
          </a:stretch>
        </p:blipFill>
        <p:spPr>
          <a:xfrm>
            <a:off x="2077506" y="3380767"/>
            <a:ext cx="1774090" cy="2619983"/>
          </a:xfrm>
          <a:prstGeom prst="rect">
            <a:avLst/>
          </a:prstGeom>
        </p:spPr>
      </p:pic>
      <p:pic>
        <p:nvPicPr>
          <p:cNvPr id="4" name="Picture 3"/>
          <p:cNvPicPr>
            <a:picLocks noChangeAspect="1"/>
          </p:cNvPicPr>
          <p:nvPr/>
        </p:nvPicPr>
        <p:blipFill>
          <a:blip r:embed="rId4"/>
          <a:stretch>
            <a:fillRect/>
          </a:stretch>
        </p:blipFill>
        <p:spPr>
          <a:xfrm>
            <a:off x="5377507" y="3444781"/>
            <a:ext cx="1609484" cy="2555969"/>
          </a:xfrm>
          <a:prstGeom prst="rect">
            <a:avLst/>
          </a:prstGeom>
        </p:spPr>
      </p:pic>
      <p:pic>
        <p:nvPicPr>
          <p:cNvPr id="5" name="Picture 4"/>
          <p:cNvPicPr>
            <a:picLocks noChangeAspect="1"/>
          </p:cNvPicPr>
          <p:nvPr/>
        </p:nvPicPr>
        <p:blipFill>
          <a:blip r:embed="rId5"/>
          <a:stretch>
            <a:fillRect/>
          </a:stretch>
        </p:blipFill>
        <p:spPr>
          <a:xfrm>
            <a:off x="6986991" y="1782061"/>
            <a:ext cx="1838103" cy="2205470"/>
          </a:xfrm>
          <a:prstGeom prst="rect">
            <a:avLst/>
          </a:prstGeom>
        </p:spPr>
      </p:pic>
      <p:pic>
        <p:nvPicPr>
          <p:cNvPr id="6" name="Picture 5"/>
          <p:cNvPicPr>
            <a:picLocks noChangeAspect="1"/>
          </p:cNvPicPr>
          <p:nvPr/>
        </p:nvPicPr>
        <p:blipFill rotWithShape="1">
          <a:blip r:embed="rId6" cstate="print">
            <a:extLst>
              <a:ext uri="{28A0092B-C50C-407E-A947-70E740481C1C}">
                <a14:useLocalDpi xmlns:a14="http://schemas.microsoft.com/office/drawing/2010/main" val="0"/>
              </a:ext>
            </a:extLst>
          </a:blip>
          <a:srcRect t="13732" b="13843"/>
          <a:stretch/>
        </p:blipFill>
        <p:spPr>
          <a:xfrm>
            <a:off x="3684275" y="1026063"/>
            <a:ext cx="2314575" cy="3265462"/>
          </a:xfrm>
          <a:prstGeom prst="rect">
            <a:avLst/>
          </a:prstGeom>
        </p:spPr>
      </p:pic>
      <p:sp>
        <p:nvSpPr>
          <p:cNvPr id="8" name="Google Shape;211;p31"/>
          <p:cNvSpPr/>
          <p:nvPr/>
        </p:nvSpPr>
        <p:spPr>
          <a:xfrm>
            <a:off x="0" y="-57771"/>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pic>
        <p:nvPicPr>
          <p:cNvPr id="9" name="Picture 8">
            <a:extLst>
              <a:ext uri="{FF2B5EF4-FFF2-40B4-BE49-F238E27FC236}">
                <a16:creationId xmlns:a16="http://schemas.microsoft.com/office/drawing/2014/main" id="{BE421A64-6A03-41B3-AF7F-21E304DD25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966" y="5889403"/>
            <a:ext cx="2013992" cy="968597"/>
          </a:xfrm>
          <a:prstGeom prst="rect">
            <a:avLst/>
          </a:prstGeom>
        </p:spPr>
      </p:pic>
    </p:spTree>
    <p:extLst>
      <p:ext uri="{BB962C8B-B14F-4D97-AF65-F5344CB8AC3E}">
        <p14:creationId xmlns:p14="http://schemas.microsoft.com/office/powerpoint/2010/main" val="931604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89391" y="108103"/>
            <a:ext cx="6447501" cy="675249"/>
          </a:xfrm>
          <a:pattFill prst="pct5">
            <a:fgClr>
              <a:schemeClr val="bg1"/>
            </a:fgClr>
            <a:bgClr>
              <a:schemeClr val="bg1"/>
            </a:bgClr>
          </a:pattFill>
        </p:spPr>
        <p:txBody>
          <a:bodyPr>
            <a:normAutofit fontScale="90000"/>
          </a:bodyPr>
          <a:lstStyle/>
          <a:p>
            <a:pPr algn="ctr"/>
            <a:r>
              <a:rPr lang="en-US" dirty="0"/>
              <a:t>Product development and quality control</a:t>
            </a:r>
            <a:br>
              <a:rPr lang="en-US" dirty="0"/>
            </a:br>
            <a:r>
              <a:rPr lang="en-US" sz="1500" dirty="0">
                <a:solidFill>
                  <a:schemeClr val="tx1"/>
                </a:solidFill>
              </a:rPr>
              <a:t>"Innovation and Quality Assurance"</a:t>
            </a:r>
            <a:br>
              <a:rPr lang="en-US" sz="1500" dirty="0">
                <a:solidFill>
                  <a:schemeClr val="tx1"/>
                </a:solidFill>
              </a:rPr>
            </a:br>
            <a:br>
              <a:rPr lang="en-US" dirty="0"/>
            </a:br>
            <a:endParaRPr lang="en-US" dirty="0"/>
          </a:p>
        </p:txBody>
      </p:sp>
      <p:sp>
        <p:nvSpPr>
          <p:cNvPr id="3" name="Content Placeholder 2"/>
          <p:cNvSpPr>
            <a:spLocks noGrp="1"/>
          </p:cNvSpPr>
          <p:nvPr>
            <p:ph idx="1"/>
          </p:nvPr>
        </p:nvSpPr>
        <p:spPr>
          <a:xfrm>
            <a:off x="4913142" y="1847850"/>
            <a:ext cx="4230859" cy="2860431"/>
          </a:xfrm>
        </p:spPr>
        <p:txBody>
          <a:bodyPr>
            <a:normAutofit/>
          </a:bodyPr>
          <a:lstStyle/>
          <a:p>
            <a:pPr>
              <a:buFont typeface="Courier New" panose="02070309020205020404" pitchFamily="49" charset="0"/>
              <a:buChar char="o"/>
            </a:pPr>
            <a:r>
              <a:rPr lang="en-US" sz="1500" dirty="0">
                <a:solidFill>
                  <a:schemeClr val="bg1"/>
                </a:solidFill>
              </a:rPr>
              <a:t>Trained 64/60 women entrepreneurs exceeding the target</a:t>
            </a:r>
          </a:p>
          <a:p>
            <a:pPr>
              <a:buFont typeface="Courier New" panose="02070309020205020404" pitchFamily="49" charset="0"/>
              <a:buChar char="o"/>
            </a:pPr>
            <a:r>
              <a:rPr lang="en-US" sz="1500" dirty="0">
                <a:solidFill>
                  <a:schemeClr val="bg1"/>
                </a:solidFill>
              </a:rPr>
              <a:t>Quality improvements in products enhancing the competitiveness of women-led businesses in the market.</a:t>
            </a:r>
          </a:p>
          <a:p>
            <a:pPr>
              <a:buFont typeface="Courier New" panose="02070309020205020404" pitchFamily="49" charset="0"/>
              <a:buChar char="o"/>
            </a:pPr>
            <a:r>
              <a:rPr lang="en-US" sz="1500" dirty="0">
                <a:solidFill>
                  <a:schemeClr val="bg1"/>
                </a:solidFill>
              </a:rPr>
              <a:t>New Product Development: 70 % of participants successfully developed or improved existing product contributing to business growth</a:t>
            </a:r>
            <a:r>
              <a:rPr lang="en-US" dirty="0"/>
              <a:t>.</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B32F1F65-B041-4760-AD54-330F3F8592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965387"/>
            <a:ext cx="1856000" cy="892613"/>
          </a:xfrm>
          <a:prstGeom prst="rect">
            <a:avLst/>
          </a:prstGeom>
        </p:spPr>
      </p:pic>
    </p:spTree>
    <p:extLst>
      <p:ext uri="{BB962C8B-B14F-4D97-AF65-F5344CB8AC3E}">
        <p14:creationId xmlns:p14="http://schemas.microsoft.com/office/powerpoint/2010/main" val="1609649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99339" y="229543"/>
            <a:ext cx="3385233" cy="713936"/>
          </a:xfrm>
          <a:solidFill>
            <a:schemeClr val="bg1"/>
          </a:solidFill>
        </p:spPr>
        <p:txBody>
          <a:bodyPr/>
          <a:lstStyle/>
          <a:p>
            <a:r>
              <a:rPr lang="en-US" dirty="0">
                <a:solidFill>
                  <a:srgbClr val="90C226"/>
                </a:solidFill>
              </a:rPr>
              <a:t>Mentorship program</a:t>
            </a:r>
            <a:br>
              <a:rPr lang="en-US" dirty="0">
                <a:solidFill>
                  <a:srgbClr val="90C226"/>
                </a:solidFill>
              </a:rPr>
            </a:br>
            <a:r>
              <a:rPr lang="en-US" sz="1350" dirty="0">
                <a:solidFill>
                  <a:prstClr val="black"/>
                </a:solidFill>
              </a:rPr>
              <a:t>"Guiding Paths to Success"</a:t>
            </a:r>
            <a:endParaRPr lang="en-US" sz="1350" dirty="0"/>
          </a:p>
        </p:txBody>
      </p:sp>
      <p:sp>
        <p:nvSpPr>
          <p:cNvPr id="3" name="Content Placeholder 2"/>
          <p:cNvSpPr>
            <a:spLocks noGrp="1"/>
          </p:cNvSpPr>
          <p:nvPr>
            <p:ph sz="half" idx="1"/>
          </p:nvPr>
        </p:nvSpPr>
        <p:spPr>
          <a:xfrm>
            <a:off x="1065627" y="2598127"/>
            <a:ext cx="3239086" cy="2669345"/>
          </a:xfrm>
        </p:spPr>
        <p:txBody>
          <a:bodyPr/>
          <a:lstStyle/>
          <a:p>
            <a:endParaRPr lang="en-US" dirty="0"/>
          </a:p>
          <a:p>
            <a:pPr marL="0" indent="0">
              <a:buNone/>
            </a:pPr>
            <a:endParaRPr lang="en-US" dirty="0"/>
          </a:p>
          <a:p>
            <a:pPr>
              <a:buFont typeface="Courier New" panose="02070309020205020404" pitchFamily="49" charset="0"/>
              <a:buChar char="o"/>
            </a:pPr>
            <a:r>
              <a:rPr lang="en-US" sz="1500" dirty="0">
                <a:solidFill>
                  <a:schemeClr val="bg1"/>
                </a:solidFill>
              </a:rPr>
              <a:t>Trained 28/30 representing 93% of the targeted mentors</a:t>
            </a:r>
          </a:p>
          <a:p>
            <a:pPr>
              <a:buFont typeface="Courier New" panose="02070309020205020404" pitchFamily="49" charset="0"/>
              <a:buChar char="o"/>
            </a:pPr>
            <a:r>
              <a:rPr lang="en-US" sz="1500" dirty="0">
                <a:solidFill>
                  <a:schemeClr val="bg1"/>
                </a:solidFill>
              </a:rPr>
              <a:t>Each assigned atleast 3 mentees</a:t>
            </a:r>
          </a:p>
          <a:p>
            <a:pPr>
              <a:buFont typeface="Courier New" panose="02070309020205020404" pitchFamily="49" charset="0"/>
              <a:buChar char="o"/>
            </a:pPr>
            <a:r>
              <a:rPr lang="en-US" sz="1500" dirty="0">
                <a:solidFill>
                  <a:schemeClr val="bg1"/>
                </a:solidFill>
              </a:rPr>
              <a:t>Program Assist in business formalization impacting credibility of women businesses </a:t>
            </a:r>
          </a:p>
        </p:txBody>
      </p:sp>
      <p:pic>
        <p:nvPicPr>
          <p:cNvPr id="5" name="Picture 4">
            <a:extLst>
              <a:ext uri="{FF2B5EF4-FFF2-40B4-BE49-F238E27FC236}">
                <a16:creationId xmlns:a16="http://schemas.microsoft.com/office/drawing/2014/main" id="{6A892004-2C2A-4C68-B9F3-536929D23F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74886"/>
            <a:ext cx="1484481" cy="713937"/>
          </a:xfrm>
          <a:prstGeom prst="rect">
            <a:avLst/>
          </a:prstGeom>
        </p:spPr>
      </p:pic>
    </p:spTree>
    <p:extLst>
      <p:ext uri="{BB962C8B-B14F-4D97-AF65-F5344CB8AC3E}">
        <p14:creationId xmlns:p14="http://schemas.microsoft.com/office/powerpoint/2010/main" val="2513136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6056" y="184284"/>
            <a:ext cx="8437944" cy="990294"/>
          </a:xfrm>
        </p:spPr>
        <p:txBody>
          <a:bodyPr>
            <a:noAutofit/>
          </a:bodyPr>
          <a:lstStyle/>
          <a:p>
            <a:pPr algn="ctr"/>
            <a:r>
              <a:rPr lang="en-US" sz="4400" dirty="0">
                <a:solidFill>
                  <a:srgbClr val="FFB200"/>
                </a:solidFill>
                <a:latin typeface="Candara" panose="020E0502030303020204" pitchFamily="34" charset="0"/>
              </a:rPr>
              <a:t>Building Back Better After Climate Related Events</a:t>
            </a:r>
          </a:p>
        </p:txBody>
      </p:sp>
      <p:pic>
        <p:nvPicPr>
          <p:cNvPr id="5" name="Content Placeholder 4"/>
          <p:cNvPicPr>
            <a:picLocks noGrp="1" noChangeAspect="1"/>
          </p:cNvPicPr>
          <p:nvPr>
            <p:ph sz="half" idx="1"/>
          </p:nvPr>
        </p:nvPicPr>
        <p:blipFill>
          <a:blip r:embed="rId2"/>
          <a:stretch>
            <a:fillRect/>
          </a:stretch>
        </p:blipFill>
        <p:spPr>
          <a:xfrm>
            <a:off x="0" y="1719916"/>
            <a:ext cx="4836405" cy="4364097"/>
          </a:xfrm>
          <a:prstGeom prst="rect">
            <a:avLst/>
          </a:prstGeom>
        </p:spPr>
      </p:pic>
      <p:sp>
        <p:nvSpPr>
          <p:cNvPr id="4" name="Content Placeholder 3"/>
          <p:cNvSpPr>
            <a:spLocks noGrp="1"/>
          </p:cNvSpPr>
          <p:nvPr>
            <p:ph sz="half" idx="2"/>
          </p:nvPr>
        </p:nvSpPr>
        <p:spPr>
          <a:xfrm>
            <a:off x="4836405" y="1719916"/>
            <a:ext cx="4307595" cy="4592749"/>
          </a:xfrm>
        </p:spPr>
        <p:txBody>
          <a:bodyPr>
            <a:normAutofit fontScale="70000" lnSpcReduction="20000"/>
          </a:bodyPr>
          <a:lstStyle/>
          <a:p>
            <a:pPr marL="0" marR="0" indent="0" algn="just">
              <a:lnSpc>
                <a:spcPct val="150000"/>
              </a:lnSpc>
              <a:spcBef>
                <a:spcPts val="0"/>
              </a:spcBef>
              <a:spcAft>
                <a:spcPts val="800"/>
              </a:spcAft>
              <a:buNone/>
            </a:pPr>
            <a:r>
              <a:rPr lang="en-US" sz="1800" dirty="0">
                <a:latin typeface="Candara" panose="020E0502030303020204" pitchFamily="34" charset="0"/>
              </a:rPr>
              <a:t>From 2023-2024,</a:t>
            </a:r>
            <a:r>
              <a:rPr lang="en-GB" sz="1800" dirty="0">
                <a:latin typeface="Candara" panose="020E0502030303020204" pitchFamily="34" charset="0"/>
                <a:ea typeface="Calibri" panose="020F0502020204030204" pitchFamily="34" charset="0"/>
                <a:cs typeface="Times New Roman" panose="02020603050405020304" pitchFamily="18" charset="0"/>
              </a:rPr>
              <a:t>NABW is receiving Technical Assistance from the Investment Climate Reform (ICR) Facility to support women owned businesses to build back better after climate related events and other external shocks. </a:t>
            </a:r>
          </a:p>
          <a:p>
            <a:pPr marL="0" marR="0" indent="0" algn="just">
              <a:lnSpc>
                <a:spcPct val="150000"/>
              </a:lnSpc>
              <a:spcBef>
                <a:spcPts val="0"/>
              </a:spcBef>
              <a:spcAft>
                <a:spcPts val="800"/>
              </a:spcAft>
              <a:buNone/>
            </a:pPr>
            <a:r>
              <a:rPr lang="en-GB" sz="1800" dirty="0">
                <a:latin typeface="Candara" panose="020E0502030303020204" pitchFamily="34" charset="0"/>
                <a:ea typeface="Calibri" panose="020F0502020204030204" pitchFamily="34" charset="0"/>
                <a:cs typeface="Times New Roman" panose="02020603050405020304" pitchFamily="18" charset="0"/>
              </a:rPr>
              <a:t>As the incidence of such events has increased in Malawi in recent years, the lack of business risk assessment tools and mitigation strategies have negatively impacted the ability of women owned businesses to recover. The key outputs from this initiative will be (i) a technical study that will assess the current situation and make recommendations as to how to support women owned businesses through policy, programmes and products; (ii) a training manual for use by NABW and their partners to support women owned businesses, supported by associated training; and (iii) a policy brief and gender climate checklist to highlight key actions for business environment reform</a:t>
            </a:r>
            <a:endParaRPr lang="en-US" sz="1800" dirty="0">
              <a:latin typeface="Candara" panose="020E050203030302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6" name="Google Shape;211;p31"/>
          <p:cNvSpPr/>
          <p:nvPr/>
        </p:nvSpPr>
        <p:spPr>
          <a:xfrm>
            <a:off x="0" y="-77515"/>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7" name="Google Shape;518;p41"/>
          <p:cNvSpPr/>
          <p:nvPr/>
        </p:nvSpPr>
        <p:spPr>
          <a:xfrm rot="16200000" flipH="1">
            <a:off x="2031210" y="4052807"/>
            <a:ext cx="773985" cy="4836408"/>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8" name="Google Shape;208;p31"/>
          <p:cNvCxnSpPr/>
          <p:nvPr/>
        </p:nvCxnSpPr>
        <p:spPr>
          <a:xfrm>
            <a:off x="5963984" y="6610121"/>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02817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426" y="374572"/>
            <a:ext cx="8687148" cy="976829"/>
          </a:xfrm>
        </p:spPr>
        <p:txBody>
          <a:bodyPr>
            <a:noAutofit/>
          </a:bodyPr>
          <a:lstStyle/>
          <a:p>
            <a:pPr algn="ctr"/>
            <a:r>
              <a:rPr lang="en-GB" sz="4000" dirty="0">
                <a:solidFill>
                  <a:srgbClr val="FFB200"/>
                </a:solidFill>
                <a:latin typeface="Candara" panose="020E0502030303020204" pitchFamily="34" charset="0"/>
              </a:rPr>
              <a:t>Promoting Insurance Coverage among Women-owned Businesses</a:t>
            </a:r>
            <a:endParaRPr lang="en-US" sz="4000" dirty="0">
              <a:solidFill>
                <a:srgbClr val="FFB200"/>
              </a:solidFill>
              <a:latin typeface="Candara" panose="020E0502030303020204" pitchFamily="34" charset="0"/>
            </a:endParaRPr>
          </a:p>
        </p:txBody>
      </p:sp>
      <p:sp>
        <p:nvSpPr>
          <p:cNvPr id="3" name="Content Placeholder 2"/>
          <p:cNvSpPr>
            <a:spLocks noGrp="1"/>
          </p:cNvSpPr>
          <p:nvPr>
            <p:ph sz="half" idx="1"/>
          </p:nvPr>
        </p:nvSpPr>
        <p:spPr>
          <a:xfrm>
            <a:off x="121186" y="1916934"/>
            <a:ext cx="4450814" cy="4549967"/>
          </a:xfrm>
        </p:spPr>
        <p:txBody>
          <a:bodyPr>
            <a:normAutofit fontScale="92500" lnSpcReduction="10000"/>
          </a:bodyPr>
          <a:lstStyle/>
          <a:p>
            <a:pPr marL="0" indent="0" algn="just">
              <a:spcBef>
                <a:spcPts val="0"/>
              </a:spcBef>
              <a:buNone/>
            </a:pPr>
            <a:r>
              <a:rPr lang="en-US" sz="1500" dirty="0">
                <a:latin typeface="Candara" panose="020E0502030303020204" pitchFamily="34" charset="0"/>
              </a:rPr>
              <a:t>This project was designed to due the aftermath of Cyclone Freddy. The cyclone resulted in the significant loss of </a:t>
            </a:r>
            <a:r>
              <a:rPr lang="en-GB" sz="1500" dirty="0">
                <a:solidFill>
                  <a:srgbClr val="1D1B11"/>
                </a:solidFill>
                <a:latin typeface="Candara" panose="020E0502030303020204" pitchFamily="34" charset="0"/>
                <a:ea typeface="Times New Roman" panose="02020603050405020304" pitchFamily="18" charset="0"/>
                <a:cs typeface="Times New Roman" panose="02020603050405020304" pitchFamily="18" charset="0"/>
              </a:rPr>
              <a:t>products, capital, and markets, for SMEs especially women-owned SMEs which most of them were uncertain about how they will recover from the cyclone shocks. NABW recognizes that climate change-related hazards such as cyclone Freddy will continue to pose a threat to SMEs, and promoting insurance coverage among women-owned businesses is an essential step towards mitigating and adapting to these risks and promoting economic rights.</a:t>
            </a:r>
          </a:p>
          <a:p>
            <a:pPr marL="0" indent="0" algn="just">
              <a:spcBef>
                <a:spcPts val="0"/>
              </a:spcBef>
              <a:buNone/>
            </a:pPr>
            <a:endParaRPr lang="en-GB" sz="1500" dirty="0">
              <a:solidFill>
                <a:srgbClr val="1D1B11"/>
              </a:solidFill>
              <a:latin typeface="Candara" panose="020E0502030303020204" pitchFamily="34" charset="0"/>
              <a:ea typeface="Calibri" panose="020F0502020204030204" pitchFamily="34" charset="0"/>
              <a:cs typeface="Times New Roman" panose="02020603050405020304" pitchFamily="18" charset="0"/>
            </a:endParaRPr>
          </a:p>
          <a:p>
            <a:pPr marL="0" indent="0" algn="just">
              <a:spcBef>
                <a:spcPts val="0"/>
              </a:spcBef>
              <a:buNone/>
            </a:pPr>
            <a:r>
              <a:rPr lang="en-GB" sz="1500" dirty="0">
                <a:solidFill>
                  <a:srgbClr val="1D1B11"/>
                </a:solidFill>
                <a:latin typeface="Candara" panose="020E0502030303020204" pitchFamily="34" charset="0"/>
                <a:ea typeface="Calibri" panose="020F0502020204030204" pitchFamily="34" charset="0"/>
                <a:cs typeface="Times New Roman" panose="02020603050405020304" pitchFamily="18" charset="0"/>
              </a:rPr>
              <a:t>We conducted a quick mini survey,</a:t>
            </a:r>
            <a:r>
              <a:rPr lang="en-US" sz="1500" dirty="0">
                <a:solidFill>
                  <a:srgbClr val="000000"/>
                </a:solidFill>
                <a:latin typeface="Candara" panose="020E0502030303020204" pitchFamily="34" charset="0"/>
                <a:ea typeface="Palatino Linotype" panose="02040502050505030304" pitchFamily="18" charset="0"/>
                <a:cs typeface="Palatino Linotype" panose="02040502050505030304" pitchFamily="18" charset="0"/>
              </a:rPr>
              <a:t> aimed to gain an understanding of insurance companies operating in Malawi, specifically those offering products tailored to benefit women-owned SMEs. </a:t>
            </a:r>
          </a:p>
          <a:p>
            <a:pPr marL="0" indent="0" algn="just">
              <a:spcBef>
                <a:spcPts val="0"/>
              </a:spcBef>
              <a:buNone/>
            </a:pPr>
            <a:endParaRPr lang="en-US" sz="1500" dirty="0">
              <a:solidFill>
                <a:srgbClr val="000000"/>
              </a:solidFill>
              <a:latin typeface="Candara" panose="020E0502030303020204" pitchFamily="34" charset="0"/>
              <a:ea typeface="Calibri" panose="020F0502020204030204" pitchFamily="34" charset="0"/>
              <a:cs typeface="Times New Roman" panose="02020603050405020304" pitchFamily="18" charset="0"/>
            </a:endParaRPr>
          </a:p>
          <a:p>
            <a:pPr marL="0" indent="0" algn="just">
              <a:spcBef>
                <a:spcPts val="0"/>
              </a:spcBef>
              <a:buNone/>
            </a:pPr>
            <a:r>
              <a:rPr lang="en-GB" sz="1500" dirty="0">
                <a:solidFill>
                  <a:srgbClr val="1D1B11"/>
                </a:solidFill>
                <a:latin typeface="Candara" panose="020E0502030303020204" pitchFamily="34" charset="0"/>
                <a:cs typeface="Times New Roman" panose="02020603050405020304" pitchFamily="18" charset="0"/>
              </a:rPr>
              <a:t>In </a:t>
            </a:r>
            <a:r>
              <a:rPr lang="en-US" sz="1500" dirty="0">
                <a:latin typeface="Candara" panose="020E0502030303020204" pitchFamily="34" charset="0"/>
              </a:rPr>
              <a:t>partnership with CIC-Africa Cooperative Insurance Limited, we conducted awareness campaign </a:t>
            </a:r>
            <a:r>
              <a:rPr lang="en-US" sz="1500" dirty="0">
                <a:solidFill>
                  <a:srgbClr val="000000"/>
                </a:solidFill>
                <a:latin typeface="Candara" panose="020E0502030303020204" pitchFamily="34" charset="0"/>
                <a:ea typeface="Palatino Linotype" panose="02040502050505030304" pitchFamily="18" charset="0"/>
                <a:cs typeface="Palatino Linotype" panose="02040502050505030304" pitchFamily="18" charset="0"/>
              </a:rPr>
              <a:t>meetings in the 10 districts affected by cyclone Freddy with NABW members e</a:t>
            </a:r>
            <a:r>
              <a:rPr lang="en-GB" sz="1500" dirty="0">
                <a:solidFill>
                  <a:srgbClr val="1D1B11"/>
                </a:solidFill>
                <a:latin typeface="Candara" panose="020E0502030303020204" pitchFamily="34" charset="0"/>
                <a:ea typeface="Times New Roman" panose="02020603050405020304" pitchFamily="18" charset="0"/>
                <a:cs typeface="Times New Roman" panose="02020603050405020304" pitchFamily="18" charset="0"/>
              </a:rPr>
              <a:t>encouraging women-owned businesses to invest in insurance policies that can protect them from climate-related risks.  </a:t>
            </a:r>
            <a:r>
              <a:rPr lang="en-US" sz="1500" dirty="0">
                <a:latin typeface="Candara" panose="020E0502030303020204" pitchFamily="34" charset="0"/>
              </a:rPr>
              <a:t> </a:t>
            </a:r>
            <a:endParaRPr lang="en-US" sz="1500" dirty="0">
              <a:latin typeface="Candara" panose="020E0502030303020204" pitchFamily="34" charset="0"/>
              <a:ea typeface="Calibri" panose="020F0502020204030204" pitchFamily="34" charset="0"/>
            </a:endParaRPr>
          </a:p>
          <a:p>
            <a:pPr marL="0" indent="0">
              <a:buNone/>
            </a:pPr>
            <a:endParaRPr lang="en-US" dirty="0"/>
          </a:p>
        </p:txBody>
      </p:sp>
      <p:pic>
        <p:nvPicPr>
          <p:cNvPr id="5" name="Content Placeholder 4"/>
          <p:cNvPicPr>
            <a:picLocks noGrp="1" noChangeAspect="1"/>
          </p:cNvPicPr>
          <p:nvPr>
            <p:ph sz="half" idx="2"/>
          </p:nvPr>
        </p:nvPicPr>
        <p:blipFill>
          <a:blip r:embed="rId2"/>
          <a:stretch>
            <a:fillRect/>
          </a:stretch>
        </p:blipFill>
        <p:spPr>
          <a:xfrm>
            <a:off x="4671153" y="1916934"/>
            <a:ext cx="4472848" cy="4285561"/>
          </a:xfrm>
          <a:prstGeom prst="rect">
            <a:avLst/>
          </a:prstGeom>
        </p:spPr>
      </p:pic>
      <p:sp>
        <p:nvSpPr>
          <p:cNvPr id="6" name="Google Shape;211;p31"/>
          <p:cNvSpPr/>
          <p:nvPr/>
        </p:nvSpPr>
        <p:spPr>
          <a:xfrm>
            <a:off x="0" y="-57770"/>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7" name="Google Shape;518;p41"/>
          <p:cNvSpPr/>
          <p:nvPr/>
        </p:nvSpPr>
        <p:spPr>
          <a:xfrm rot="16200000" flipH="1">
            <a:off x="6579824" y="4293827"/>
            <a:ext cx="655506" cy="4472848"/>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8" name="Google Shape;208;p31"/>
          <p:cNvCxnSpPr/>
          <p:nvPr/>
        </p:nvCxnSpPr>
        <p:spPr>
          <a:xfrm>
            <a:off x="940292" y="6621138"/>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02504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29878" y="865703"/>
            <a:ext cx="6447501" cy="1320800"/>
          </a:xfrm>
        </p:spPr>
        <p:txBody>
          <a:bodyPr>
            <a:normAutofit/>
          </a:bodyPr>
          <a:lstStyle/>
          <a:p>
            <a:r>
              <a:rPr lang="en-US" sz="2400" dirty="0">
                <a:solidFill>
                  <a:schemeClr val="accent4"/>
                </a:solidFill>
                <a:latin typeface="Candara" panose="020E0502030303020204" pitchFamily="34" charset="0"/>
              </a:rPr>
              <a:t>                               </a:t>
            </a:r>
            <a:r>
              <a:rPr lang="en-US" sz="4000" dirty="0">
                <a:solidFill>
                  <a:srgbClr val="FFB200"/>
                </a:solidFill>
                <a:latin typeface="Candara" panose="020E0502030303020204" pitchFamily="34" charset="0"/>
              </a:rPr>
              <a:t>SheActs4Feminomics</a:t>
            </a:r>
          </a:p>
        </p:txBody>
      </p:sp>
      <p:sp>
        <p:nvSpPr>
          <p:cNvPr id="3" name="Content Placeholder 2"/>
          <p:cNvSpPr>
            <a:spLocks noGrp="1"/>
          </p:cNvSpPr>
          <p:nvPr>
            <p:ph sz="half" idx="1"/>
          </p:nvPr>
        </p:nvSpPr>
        <p:spPr>
          <a:xfrm>
            <a:off x="220336" y="594911"/>
            <a:ext cx="4219461" cy="5916057"/>
          </a:xfrm>
        </p:spPr>
        <p:txBody>
          <a:bodyPr>
            <a:noAutofit/>
          </a:bodyPr>
          <a:lstStyle/>
          <a:p>
            <a:pPr marL="0" indent="0" algn="just">
              <a:lnSpc>
                <a:spcPct val="107000"/>
              </a:lnSpc>
              <a:spcBef>
                <a:spcPts val="0"/>
              </a:spcBef>
              <a:buNone/>
            </a:pPr>
            <a:endParaRPr lang="en-US" sz="1400" dirty="0">
              <a:latin typeface="Candara" panose="020E0502030303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buNone/>
            </a:pPr>
            <a:r>
              <a:rPr lang="en-US" sz="1400" dirty="0">
                <a:latin typeface="Candara" panose="020E0502030303020204" pitchFamily="34" charset="0"/>
                <a:ea typeface="Calibri" panose="020F0502020204030204" pitchFamily="34" charset="0"/>
                <a:cs typeface="Times New Roman" panose="02020603050405020304" pitchFamily="18" charset="0"/>
              </a:rPr>
              <a:t>In 2022, NABW with financial support from Urgent Action Fund  implemented a six months project called SheActs4Feminomics project which is run by a consortium of Five Civil Society Organisations namely; For Equality, CEWAG, MHRRC, and Chikulamayembe Women Forum.  The project aimed to address macro-level policies and their role in shaping policies that impact women’s economic justice and rights, to achieve greater impact in Malawi. Specifically,   NABW’ objective in this intervention was to strengthen macro-level policy and regulatory frameworks to address challenges faced by women owned SMEs.</a:t>
            </a:r>
          </a:p>
          <a:p>
            <a:pPr marL="0" indent="0" algn="just">
              <a:buNone/>
            </a:pPr>
            <a:r>
              <a:rPr lang="en-US" sz="1400" dirty="0">
                <a:latin typeface="Candara" panose="020E0502030303020204" pitchFamily="34" charset="0"/>
              </a:rPr>
              <a:t>We conducted the following workshops;</a:t>
            </a:r>
          </a:p>
          <a:p>
            <a:pPr marL="0" indent="0" algn="just">
              <a:buNone/>
            </a:pPr>
            <a:r>
              <a:rPr lang="en-US" sz="1400" dirty="0">
                <a:latin typeface="Candara" panose="020E0502030303020204" pitchFamily="34" charset="0"/>
              </a:rPr>
              <a:t>1.G</a:t>
            </a:r>
            <a:r>
              <a:rPr lang="en-US" sz="1400" dirty="0">
                <a:latin typeface="Candara" panose="020E0502030303020204" pitchFamily="34" charset="0"/>
                <a:ea typeface="Calibri" panose="020F0502020204030204" pitchFamily="34" charset="0"/>
              </a:rPr>
              <a:t>ender mainstreaming in SMEs policies, strategies and programmes workshop. </a:t>
            </a:r>
            <a:endParaRPr lang="en-US" sz="1400" dirty="0">
              <a:latin typeface="Candara" panose="020E0502030303020204" pitchFamily="34" charset="0"/>
            </a:endParaRPr>
          </a:p>
          <a:p>
            <a:pPr marL="0" indent="0" algn="just">
              <a:buNone/>
            </a:pPr>
            <a:r>
              <a:rPr lang="en-US" sz="1400" dirty="0">
                <a:latin typeface="Candara" panose="020E0502030303020204" pitchFamily="34" charset="0"/>
              </a:rPr>
              <a:t>2.</a:t>
            </a:r>
            <a:r>
              <a:rPr lang="en-US" sz="1400" dirty="0">
                <a:latin typeface="Candara" panose="020E0502030303020204" pitchFamily="34" charset="0"/>
                <a:cs typeface="Times New Roman" panose="02020603050405020304" pitchFamily="18" charset="0"/>
              </a:rPr>
              <a:t>P</a:t>
            </a:r>
            <a:r>
              <a:rPr lang="en-US" sz="1400" dirty="0">
                <a:latin typeface="Candara" panose="020E0502030303020204" pitchFamily="34" charset="0"/>
                <a:ea typeface="Calibri" panose="020F0502020204030204" pitchFamily="34" charset="0"/>
                <a:cs typeface="Times New Roman" panose="02020603050405020304" pitchFamily="18" charset="0"/>
              </a:rPr>
              <a:t>olicy dialogue on Public procurement and business formalization </a:t>
            </a:r>
            <a:endParaRPr lang="en-US" sz="1400" dirty="0">
              <a:latin typeface="Candara" panose="020E0502030303020204" pitchFamily="34" charset="0"/>
            </a:endParaRPr>
          </a:p>
          <a:p>
            <a:pPr marL="0" indent="0" algn="just">
              <a:buNone/>
            </a:pPr>
            <a:r>
              <a:rPr lang="en-US" sz="1400" dirty="0">
                <a:latin typeface="Candara" panose="020E0502030303020204" pitchFamily="34" charset="0"/>
              </a:rPr>
              <a:t>3.P</a:t>
            </a:r>
            <a:r>
              <a:rPr lang="en-US" sz="1400" dirty="0">
                <a:latin typeface="Candara" panose="020E0502030303020204" pitchFamily="34" charset="0"/>
                <a:ea typeface="Calibri" panose="020F0502020204030204" pitchFamily="34" charset="0"/>
              </a:rPr>
              <a:t>lenary session on achieving economic justice for women owned SMEs </a:t>
            </a:r>
            <a:endParaRPr lang="en-US" sz="1400" dirty="0">
              <a:latin typeface="Candara" panose="020E0502030303020204" pitchFamily="34" charset="0"/>
            </a:endParaRPr>
          </a:p>
        </p:txBody>
      </p:sp>
      <p:sp>
        <p:nvSpPr>
          <p:cNvPr id="5" name="Google Shape;211;p31"/>
          <p:cNvSpPr/>
          <p:nvPr/>
        </p:nvSpPr>
        <p:spPr>
          <a:xfrm>
            <a:off x="0" y="-57771"/>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pic>
        <p:nvPicPr>
          <p:cNvPr id="6" name="Content Placeholder 5"/>
          <p:cNvPicPr>
            <a:picLocks noGrp="1"/>
          </p:cNvPicPr>
          <p:nvPr>
            <p:ph sz="half" idx="2"/>
          </p:nvPr>
        </p:nvPicPr>
        <p:blipFill>
          <a:blip r:embed="rId2">
            <a:extLst>
              <a:ext uri="{28A0092B-C50C-407E-A947-70E740481C1C}">
                <a14:useLocalDpi xmlns:a14="http://schemas.microsoft.com/office/drawing/2010/main" val="0"/>
              </a:ext>
            </a:extLst>
          </a:blip>
          <a:stretch>
            <a:fillRect/>
          </a:stretch>
        </p:blipFill>
        <p:spPr>
          <a:xfrm>
            <a:off x="4560983" y="2733406"/>
            <a:ext cx="4583017" cy="3469089"/>
          </a:xfrm>
          <a:prstGeom prst="rect">
            <a:avLst/>
          </a:prstGeom>
        </p:spPr>
      </p:pic>
      <p:sp>
        <p:nvSpPr>
          <p:cNvPr id="7" name="Google Shape;518;p41"/>
          <p:cNvSpPr/>
          <p:nvPr/>
        </p:nvSpPr>
        <p:spPr>
          <a:xfrm rot="16200000" flipH="1">
            <a:off x="4244246" y="1958250"/>
            <a:ext cx="655507" cy="9144002"/>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8" name="Google Shape;208;p31"/>
          <p:cNvCxnSpPr/>
          <p:nvPr/>
        </p:nvCxnSpPr>
        <p:spPr>
          <a:xfrm>
            <a:off x="519019" y="6521985"/>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39437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25332" y="408233"/>
            <a:ext cx="7293336" cy="1320800"/>
          </a:xfrm>
        </p:spPr>
        <p:txBody>
          <a:bodyPr>
            <a:normAutofit fontScale="90000"/>
          </a:bodyPr>
          <a:lstStyle/>
          <a:p>
            <a:r>
              <a:rPr lang="en-US" dirty="0">
                <a:solidFill>
                  <a:schemeClr val="accent4"/>
                </a:solidFill>
              </a:rPr>
              <a:t>                     </a:t>
            </a:r>
            <a:r>
              <a:rPr lang="en-US" sz="4400" dirty="0">
                <a:solidFill>
                  <a:srgbClr val="FFB200"/>
                </a:solidFill>
                <a:latin typeface="Candara" panose="020E0502030303020204" pitchFamily="34" charset="0"/>
              </a:rPr>
              <a:t>Advocacy &amp; Campaigns</a:t>
            </a:r>
          </a:p>
        </p:txBody>
      </p:sp>
      <p:sp>
        <p:nvSpPr>
          <p:cNvPr id="8" name="Content Placeholder 7"/>
          <p:cNvSpPr>
            <a:spLocks noGrp="1"/>
          </p:cNvSpPr>
          <p:nvPr>
            <p:ph sz="half" idx="2"/>
          </p:nvPr>
        </p:nvSpPr>
        <p:spPr>
          <a:xfrm>
            <a:off x="4907666" y="1749778"/>
            <a:ext cx="3630406" cy="3880773"/>
          </a:xfrm>
        </p:spPr>
        <p:txBody>
          <a:bodyPr/>
          <a:lstStyle/>
          <a:p>
            <a:pPr marL="0" indent="0" algn="just">
              <a:buNone/>
            </a:pPr>
            <a:endParaRPr lang="en-US" sz="1400" dirty="0">
              <a:latin typeface="Candara" panose="020E0502030303020204" pitchFamily="34" charset="0"/>
            </a:endParaRPr>
          </a:p>
          <a:p>
            <a:pPr marL="0" indent="0" algn="just">
              <a:buNone/>
            </a:pPr>
            <a:r>
              <a:rPr lang="en-US" sz="1600" dirty="0">
                <a:latin typeface="Candara" panose="020E0502030303020204" pitchFamily="34" charset="0"/>
              </a:rPr>
              <a:t>In 2020,  NABW led a Financial Inclusion and Gender Responsive Procurement  Advocacy campaign through a workshop that was attended by the State President and cabinet ministers. Private sector participants included banks and business development consultants. As a result a Financial Inclusion Index has been developed to monitor financial institutions. </a:t>
            </a:r>
          </a:p>
          <a:p>
            <a:pPr marL="0" indent="0">
              <a:buNone/>
            </a:pPr>
            <a:endParaRPr lang="en-US" dirty="0"/>
          </a:p>
        </p:txBody>
      </p:sp>
      <p:pic>
        <p:nvPicPr>
          <p:cNvPr id="9"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 y="1410159"/>
            <a:ext cx="4737252" cy="4693186"/>
          </a:xfrm>
        </p:spPr>
      </p:pic>
      <p:sp>
        <p:nvSpPr>
          <p:cNvPr id="5" name="Google Shape;211;p31"/>
          <p:cNvSpPr/>
          <p:nvPr/>
        </p:nvSpPr>
        <p:spPr>
          <a:xfrm>
            <a:off x="0" y="-57771"/>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6" name="Google Shape;518;p41"/>
          <p:cNvSpPr/>
          <p:nvPr/>
        </p:nvSpPr>
        <p:spPr>
          <a:xfrm rot="16200000" flipH="1">
            <a:off x="6734062" y="4448064"/>
            <a:ext cx="413131" cy="4406746"/>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7" name="Google Shape;208;p31"/>
          <p:cNvCxnSpPr/>
          <p:nvPr/>
        </p:nvCxnSpPr>
        <p:spPr>
          <a:xfrm>
            <a:off x="5530553" y="4844772"/>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9883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7751" y="436200"/>
            <a:ext cx="7630273" cy="975911"/>
          </a:xfrm>
        </p:spPr>
        <p:txBody>
          <a:bodyPr>
            <a:normAutofit fontScale="90000"/>
          </a:bodyPr>
          <a:lstStyle/>
          <a:p>
            <a:r>
              <a:rPr lang="en-US" sz="3600" dirty="0">
                <a:solidFill>
                  <a:srgbClr val="FFB200"/>
                </a:solidFill>
                <a:latin typeface="Candara" panose="020E0502030303020204" pitchFamily="34" charset="0"/>
              </a:rPr>
              <a:t>Beijing Declaration Platform for Action + 25</a:t>
            </a:r>
            <a:br>
              <a:rPr lang="en-US" sz="3600" dirty="0">
                <a:solidFill>
                  <a:schemeClr val="accent4"/>
                </a:solidFill>
                <a:latin typeface="Candara" panose="020E0502030303020204" pitchFamily="34" charset="0"/>
              </a:rPr>
            </a:br>
            <a:br>
              <a:rPr lang="en-US" sz="3600" dirty="0">
                <a:solidFill>
                  <a:schemeClr val="accent4"/>
                </a:solidFill>
                <a:latin typeface="Candara" panose="020E0502030303020204" pitchFamily="34" charset="0"/>
              </a:rPr>
            </a:br>
            <a:r>
              <a:rPr lang="en-US" dirty="0"/>
              <a:t> </a:t>
            </a:r>
            <a:endParaRPr lang="en-US" sz="3100" dirty="0">
              <a:latin typeface="Candara" panose="020E0502030303020204" pitchFamily="34" charset="0"/>
            </a:endParaRPr>
          </a:p>
        </p:txBody>
      </p:sp>
      <p:sp>
        <p:nvSpPr>
          <p:cNvPr id="3" name="Content Placeholder 2"/>
          <p:cNvSpPr>
            <a:spLocks noGrp="1"/>
          </p:cNvSpPr>
          <p:nvPr>
            <p:ph sz="half" idx="1"/>
          </p:nvPr>
        </p:nvSpPr>
        <p:spPr>
          <a:xfrm>
            <a:off x="242371" y="1524689"/>
            <a:ext cx="3712684" cy="4704202"/>
          </a:xfrm>
        </p:spPr>
        <p:txBody>
          <a:bodyPr>
            <a:normAutofit lnSpcReduction="10000"/>
          </a:bodyPr>
          <a:lstStyle/>
          <a:p>
            <a:pPr marL="0" marR="0" indent="0" algn="just">
              <a:lnSpc>
                <a:spcPct val="115000"/>
              </a:lnSpc>
              <a:spcBef>
                <a:spcPts val="500"/>
              </a:spcBef>
              <a:spcAft>
                <a:spcPts val="1000"/>
              </a:spcAft>
              <a:buNone/>
            </a:pPr>
            <a:r>
              <a:rPr lang="en-US" sz="1400" dirty="0">
                <a:latin typeface="Candara" panose="020E0502030303020204" pitchFamily="34" charset="0"/>
                <a:ea typeface="Times New Roman" panose="02020603050405020304" pitchFamily="18" charset="0"/>
                <a:cs typeface="Calibri" panose="020F0502020204030204" pitchFamily="34" charset="0"/>
              </a:rPr>
              <a:t>In a year 2020, with funding from Urgent Action Fund, NABW and other CSOs like NGO GCN, MHRRC, WOLREC and MBAWEMI conducted  consultations where we were obligated to look into achievements and gaps that we have been able to implement  since the adoption of the BPFA in 1995. </a:t>
            </a:r>
          </a:p>
          <a:p>
            <a:pPr marL="0" marR="0" indent="0" algn="just">
              <a:lnSpc>
                <a:spcPct val="115000"/>
              </a:lnSpc>
              <a:spcBef>
                <a:spcPts val="500"/>
              </a:spcBef>
              <a:spcAft>
                <a:spcPts val="1000"/>
              </a:spcAft>
              <a:buNone/>
            </a:pPr>
            <a:r>
              <a:rPr lang="en-US" sz="1400" dirty="0">
                <a:latin typeface="Candara" panose="020E0502030303020204" pitchFamily="34" charset="0"/>
                <a:ea typeface="Times New Roman" panose="02020603050405020304" pitchFamily="18" charset="0"/>
                <a:cs typeface="Calibri" panose="020F0502020204030204" pitchFamily="34" charset="0"/>
              </a:rPr>
              <a:t>Questions that were needed to be answered includes,  what has not worked, what are the new emerging challenges for women and what could be done to forge ahead. </a:t>
            </a:r>
          </a:p>
          <a:p>
            <a:pPr marL="0" marR="0" indent="0" algn="just">
              <a:lnSpc>
                <a:spcPct val="115000"/>
              </a:lnSpc>
              <a:spcBef>
                <a:spcPts val="500"/>
              </a:spcBef>
              <a:spcAft>
                <a:spcPts val="1000"/>
              </a:spcAft>
              <a:buNone/>
            </a:pPr>
            <a:r>
              <a:rPr lang="en-US" sz="1400" dirty="0">
                <a:latin typeface="Candara" panose="020E0502030303020204" pitchFamily="34" charset="0"/>
                <a:ea typeface="Times New Roman" panose="02020603050405020304" pitchFamily="18" charset="0"/>
                <a:cs typeface="Calibri" panose="020F0502020204030204" pitchFamily="34" charset="0"/>
              </a:rPr>
              <a:t>Twenty five years after the adoption of Beijing Platform for Action, do more women and girls have access to free quality education, reproduction health and rights services and whether there is a gradual increase in women positions of power and decision making</a:t>
            </a:r>
            <a:endParaRPr lang="en-US" sz="1400" dirty="0">
              <a:latin typeface="Candara" panose="020E0502030303020204" pitchFamily="34" charset="0"/>
              <a:ea typeface="Times New Roman" panose="02020603050405020304" pitchFamily="18" charset="0"/>
              <a:cs typeface="Times New Roman" panose="02020603050405020304" pitchFamily="18" charset="0"/>
            </a:endParaRPr>
          </a:p>
          <a:p>
            <a:pPr marL="0" indent="0">
              <a:buNone/>
            </a:pPr>
            <a:endParaRPr lang="en-US" dirty="0"/>
          </a:p>
        </p:txBody>
      </p:sp>
      <p:pic>
        <p:nvPicPr>
          <p:cNvPr id="6" name="Content Placeholder 5"/>
          <p:cNvPicPr>
            <a:picLocks noGrp="1" noChangeAspect="1"/>
          </p:cNvPicPr>
          <p:nvPr>
            <p:ph sz="half" idx="2"/>
          </p:nvPr>
        </p:nvPicPr>
        <p:blipFill>
          <a:blip r:embed="rId2"/>
          <a:stretch>
            <a:fillRect/>
          </a:stretch>
        </p:blipFill>
        <p:spPr>
          <a:xfrm>
            <a:off x="4247596" y="1524689"/>
            <a:ext cx="4896404" cy="4704203"/>
          </a:xfrm>
          <a:prstGeom prst="rect">
            <a:avLst/>
          </a:prstGeom>
        </p:spPr>
      </p:pic>
      <p:sp>
        <p:nvSpPr>
          <p:cNvPr id="5" name="Google Shape;211;p31"/>
          <p:cNvSpPr/>
          <p:nvPr/>
        </p:nvSpPr>
        <p:spPr>
          <a:xfrm>
            <a:off x="0" y="-6400"/>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8" name="Google Shape;518;p41"/>
          <p:cNvSpPr/>
          <p:nvPr/>
        </p:nvSpPr>
        <p:spPr>
          <a:xfrm rot="16200000" flipH="1">
            <a:off x="4257445" y="2012543"/>
            <a:ext cx="629111" cy="9144001"/>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9" name="Google Shape;208;p31"/>
          <p:cNvCxnSpPr/>
          <p:nvPr/>
        </p:nvCxnSpPr>
        <p:spPr>
          <a:xfrm>
            <a:off x="587752" y="6533003"/>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00373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36796" y="422482"/>
            <a:ext cx="6107204" cy="629522"/>
          </a:xfrm>
          <a:solidFill>
            <a:srgbClr val="9C2B61"/>
          </a:solidFill>
        </p:spPr>
        <p:txBody>
          <a:bodyPr>
            <a:normAutofit fontScale="90000"/>
          </a:bodyPr>
          <a:lstStyle/>
          <a:p>
            <a:r>
              <a:rPr lang="en-US" sz="2400" dirty="0">
                <a:solidFill>
                  <a:schemeClr val="bg1"/>
                </a:solidFill>
                <a:latin typeface="Candara" panose="020E0502030303020204" pitchFamily="34" charset="0"/>
              </a:rPr>
              <a:t>                                GREEN &amp; INCLUSIVE ENERGY-GIE</a:t>
            </a:r>
          </a:p>
        </p:txBody>
      </p:sp>
      <p:sp>
        <p:nvSpPr>
          <p:cNvPr id="3" name="Content Placeholder 2"/>
          <p:cNvSpPr>
            <a:spLocks noGrp="1"/>
          </p:cNvSpPr>
          <p:nvPr>
            <p:ph sz="half" idx="1"/>
          </p:nvPr>
        </p:nvSpPr>
        <p:spPr>
          <a:xfrm>
            <a:off x="0" y="999959"/>
            <a:ext cx="4104280" cy="5638681"/>
          </a:xfrm>
        </p:spPr>
        <p:txBody>
          <a:bodyPr>
            <a:noAutofit/>
          </a:bodyPr>
          <a:lstStyle/>
          <a:p>
            <a:pPr marL="0" indent="0" algn="just">
              <a:buNone/>
            </a:pPr>
            <a:r>
              <a:rPr lang="en-US" sz="1400" dirty="0">
                <a:latin typeface="Candara" panose="020E0502030303020204" pitchFamily="34" charset="0"/>
              </a:rPr>
              <a:t>Hivos 5-year funded project started in 2016-2020 to help </a:t>
            </a:r>
            <a:r>
              <a:rPr lang="en-GB" sz="1400" dirty="0">
                <a:latin typeface="Candara" panose="020E0502030303020204" pitchFamily="34" charset="0"/>
              </a:rPr>
              <a:t>alleviate the energy poverty situation in southern Africa through lobby and advocacy to influence the debate on energy, with the ultimate aim of making energy systems more green and inclusive (for women, children and the marginalized). It envisioned a green and inclusive energy system that creates economic opportunities and growth whilst mitigating climate change.</a:t>
            </a:r>
          </a:p>
          <a:p>
            <a:pPr marL="0" indent="0" algn="just">
              <a:buNone/>
            </a:pPr>
            <a:r>
              <a:rPr lang="en-GB" sz="1400" dirty="0">
                <a:latin typeface="Candara" panose="020E0502030303020204" pitchFamily="34" charset="0"/>
              </a:rPr>
              <a:t>In Malawi the GIE project had the same focus of evidence-based advocacy including building capacities among stakeholders for their participation in the energy sector. The partners implementing the project in Malawi were; National Association of Business Women (NABW)), Community Energy Malawi (CEM), Malawi Health Equity Network (MHEN), Youth Network and Counselling (YONECO) and Renew n Able Malawi. </a:t>
            </a:r>
            <a:endParaRPr lang="en-US" sz="1400" dirty="0">
              <a:latin typeface="Candara" panose="020E0502030303020204" pitchFamily="34" charset="0"/>
            </a:endParaRPr>
          </a:p>
          <a:p>
            <a:pPr marL="0" indent="0" algn="just">
              <a:buNone/>
            </a:pPr>
            <a:r>
              <a:rPr lang="en-GB" sz="1400" dirty="0">
                <a:latin typeface="Candara" panose="020E0502030303020204" pitchFamily="34" charset="0"/>
              </a:rPr>
              <a:t>NABW’s role was to establish a ‘Gender and Energy Platform’ in Malawi and to support consortium members to achieve the objective to meet the energy needs of women and youth in their activities. NABW, in view of its national representation of women run businesses will build the capacities of its members to participate in the energy supply chain including access to energy investment opportunities</a:t>
            </a:r>
            <a:endParaRPr lang="en-US" sz="1400" dirty="0">
              <a:latin typeface="Candara" panose="020E0502030303020204" pitchFamily="34" charset="0"/>
            </a:endParaRPr>
          </a:p>
          <a:p>
            <a:pPr marL="0" indent="0" algn="just">
              <a:buNone/>
            </a:pPr>
            <a:r>
              <a:rPr lang="en-GB" sz="1400" dirty="0">
                <a:latin typeface="Candara" panose="020E0502030303020204" pitchFamily="34" charset="0"/>
              </a:rPr>
              <a:t> </a:t>
            </a:r>
            <a:endParaRPr lang="en-US" sz="1400" dirty="0">
              <a:latin typeface="Candara" panose="020E0502030303020204" pitchFamily="34" charset="0"/>
            </a:endParaRPr>
          </a:p>
        </p:txBody>
      </p:sp>
      <p:pic>
        <p:nvPicPr>
          <p:cNvPr id="5" name="Content Placeholder 4"/>
          <p:cNvPicPr>
            <a:picLocks noGrp="1" noChangeAspect="1"/>
          </p:cNvPicPr>
          <p:nvPr>
            <p:ph sz="half" idx="2"/>
          </p:nvPr>
        </p:nvPicPr>
        <p:blipFill>
          <a:blip r:embed="rId2"/>
          <a:stretch>
            <a:fillRect/>
          </a:stretch>
        </p:blipFill>
        <p:spPr>
          <a:xfrm>
            <a:off x="4104280" y="1381535"/>
            <a:ext cx="5039720" cy="4730354"/>
          </a:xfrm>
          <a:prstGeom prst="rect">
            <a:avLst/>
          </a:prstGeom>
        </p:spPr>
      </p:pic>
      <p:sp>
        <p:nvSpPr>
          <p:cNvPr id="6" name="Google Shape;211;p31"/>
          <p:cNvSpPr/>
          <p:nvPr/>
        </p:nvSpPr>
        <p:spPr>
          <a:xfrm>
            <a:off x="0" y="-16674"/>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sp>
        <p:nvSpPr>
          <p:cNvPr id="7" name="Google Shape;518;p41"/>
          <p:cNvSpPr/>
          <p:nvPr/>
        </p:nvSpPr>
        <p:spPr>
          <a:xfrm rot="16200000" flipH="1">
            <a:off x="6251084" y="3965086"/>
            <a:ext cx="746114" cy="5039721"/>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8" name="Google Shape;208;p31"/>
          <p:cNvCxnSpPr/>
          <p:nvPr/>
        </p:nvCxnSpPr>
        <p:spPr>
          <a:xfrm>
            <a:off x="5336022" y="6528472"/>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83851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48255" y="2173995"/>
            <a:ext cx="3970356" cy="1020726"/>
          </a:xfrm>
          <a:solidFill>
            <a:srgbClr val="9C2B61"/>
          </a:solidFill>
          <a:scene3d>
            <a:camera prst="isometricRightUp"/>
            <a:lightRig rig="threePt" dir="t"/>
          </a:scene3d>
        </p:spPr>
        <p:txBody>
          <a:bodyPr>
            <a:noAutofit/>
          </a:bodyPr>
          <a:lstStyle/>
          <a:p>
            <a:r>
              <a:rPr lang="en-US" sz="3200" b="1" dirty="0">
                <a:solidFill>
                  <a:schemeClr val="accent4"/>
                </a:solidFill>
                <a:latin typeface="Candara" panose="020E0502030303020204" pitchFamily="34" charset="0"/>
              </a:rPr>
              <a:t>            </a:t>
            </a:r>
            <a:br>
              <a:rPr lang="en-US" sz="3200" b="1" dirty="0">
                <a:solidFill>
                  <a:schemeClr val="accent4"/>
                </a:solidFill>
                <a:latin typeface="Candara" panose="020E0502030303020204" pitchFamily="34" charset="0"/>
              </a:rPr>
            </a:br>
            <a:r>
              <a:rPr lang="en-US" sz="3200" b="1" dirty="0">
                <a:solidFill>
                  <a:schemeClr val="accent4"/>
                </a:solidFill>
                <a:latin typeface="Candara" panose="020E0502030303020204" pitchFamily="34" charset="0"/>
              </a:rPr>
              <a:t>          </a:t>
            </a:r>
            <a:r>
              <a:rPr lang="en-US" sz="3200" b="1" dirty="0">
                <a:solidFill>
                  <a:schemeClr val="bg1"/>
                </a:solidFill>
                <a:latin typeface="Candara" panose="020E0502030303020204" pitchFamily="34" charset="0"/>
              </a:rPr>
              <a:t>OUR PARTNERS</a:t>
            </a:r>
          </a:p>
        </p:txBody>
      </p:sp>
      <p:sp>
        <p:nvSpPr>
          <p:cNvPr id="3" name="Content Placeholder 2"/>
          <p:cNvSpPr>
            <a:spLocks noGrp="1"/>
          </p:cNvSpPr>
          <p:nvPr>
            <p:ph sz="half" idx="1"/>
          </p:nvPr>
        </p:nvSpPr>
        <p:spPr>
          <a:xfrm>
            <a:off x="331730" y="4102636"/>
            <a:ext cx="3986881" cy="1317662"/>
          </a:xfrm>
        </p:spPr>
        <p:txBody>
          <a:bodyPr>
            <a:normAutofit lnSpcReduction="10000"/>
          </a:bodyPr>
          <a:lstStyle/>
          <a:p>
            <a:pPr marL="0" indent="0" algn="just">
              <a:buNone/>
            </a:pPr>
            <a:endParaRPr lang="en-US" dirty="0"/>
          </a:p>
          <a:p>
            <a:pPr marL="0" indent="0" algn="just">
              <a:buNone/>
            </a:pPr>
            <a:r>
              <a:rPr lang="en-US" sz="1500" dirty="0">
                <a:latin typeface="Candara" panose="020E0502030303020204" pitchFamily="34" charset="0"/>
              </a:rPr>
              <a:t>NABW works and collaborates with other likeminded organisations, actors and networks.  These also includes those that support our work </a:t>
            </a:r>
          </a:p>
        </p:txBody>
      </p:sp>
      <p:sp>
        <p:nvSpPr>
          <p:cNvPr id="4" name="Content Placeholder 3"/>
          <p:cNvSpPr>
            <a:spLocks noGrp="1"/>
          </p:cNvSpPr>
          <p:nvPr>
            <p:ph sz="half" idx="2"/>
          </p:nvPr>
        </p:nvSpPr>
        <p:spPr>
          <a:xfrm>
            <a:off x="4649118" y="477844"/>
            <a:ext cx="4318612" cy="6380155"/>
          </a:xfrm>
        </p:spPr>
        <p:txBody>
          <a:bodyPr>
            <a:normAutofit lnSpcReduction="10000"/>
          </a:bodyPr>
          <a:lstStyle/>
          <a:p>
            <a:pPr marL="342900" indent="-342900">
              <a:buAutoNum type="arabicPeriod"/>
            </a:pPr>
            <a:r>
              <a:rPr lang="en-US" dirty="0">
                <a:latin typeface="Candara" panose="020E0502030303020204" pitchFamily="34" charset="0"/>
              </a:rPr>
              <a:t>Urgent Africa Fund</a:t>
            </a:r>
          </a:p>
          <a:p>
            <a:pPr marL="342900" indent="-342900">
              <a:buAutoNum type="arabicPeriod"/>
            </a:pPr>
            <a:r>
              <a:rPr lang="en-US" dirty="0">
                <a:latin typeface="Candara" panose="020E0502030303020204" pitchFamily="34" charset="0"/>
              </a:rPr>
              <a:t>Christian Aid Malawi </a:t>
            </a:r>
          </a:p>
          <a:p>
            <a:pPr marL="342900" indent="-342900">
              <a:buAutoNum type="arabicPeriod"/>
            </a:pPr>
            <a:r>
              <a:rPr lang="en-US" dirty="0">
                <a:latin typeface="Candara" panose="020E0502030303020204" pitchFamily="34" charset="0"/>
              </a:rPr>
              <a:t>NGO Gender Coordination Network </a:t>
            </a:r>
          </a:p>
          <a:p>
            <a:pPr marL="342900" indent="-342900">
              <a:buAutoNum type="arabicPeriod"/>
            </a:pPr>
            <a:r>
              <a:rPr lang="en-US" dirty="0">
                <a:latin typeface="Candara" panose="020E0502030303020204" pitchFamily="34" charset="0"/>
              </a:rPr>
              <a:t>World University Service of Canada- WUSC</a:t>
            </a:r>
          </a:p>
          <a:p>
            <a:pPr marL="342900" indent="-342900">
              <a:buAutoNum type="arabicPeriod"/>
            </a:pPr>
            <a:r>
              <a:rPr lang="en-US" dirty="0">
                <a:latin typeface="Candara" panose="020E0502030303020204" pitchFamily="34" charset="0"/>
              </a:rPr>
              <a:t>Hivos Peoples Unlimited</a:t>
            </a:r>
          </a:p>
          <a:p>
            <a:pPr marL="342900" indent="-342900">
              <a:buAutoNum type="arabicPeriod"/>
            </a:pPr>
            <a:r>
              <a:rPr lang="en-US" dirty="0">
                <a:latin typeface="Candara" panose="020E0502030303020204" pitchFamily="34" charset="0"/>
              </a:rPr>
              <a:t>Graca’ Machel Trust –GMT</a:t>
            </a:r>
          </a:p>
          <a:p>
            <a:pPr marL="342900" indent="-342900">
              <a:buAutoNum type="arabicPeriod"/>
            </a:pPr>
            <a:r>
              <a:rPr lang="en-US" dirty="0">
                <a:latin typeface="Candara" panose="020E0502030303020204" pitchFamily="34" charset="0"/>
              </a:rPr>
              <a:t>National Economic Empowerment Fund</a:t>
            </a:r>
          </a:p>
          <a:p>
            <a:pPr marL="342900" indent="-342900">
              <a:buAutoNum type="arabicPeriod"/>
            </a:pPr>
            <a:r>
              <a:rPr lang="en-US" dirty="0">
                <a:latin typeface="Candara" panose="020E0502030303020204" pitchFamily="34" charset="0"/>
              </a:rPr>
              <a:t>British Council</a:t>
            </a:r>
          </a:p>
          <a:p>
            <a:pPr marL="342900" indent="-342900">
              <a:buAutoNum type="arabicPeriod"/>
            </a:pPr>
            <a:r>
              <a:rPr lang="en-US" dirty="0">
                <a:latin typeface="Candara" panose="020E0502030303020204" pitchFamily="34" charset="0"/>
              </a:rPr>
              <a:t>GIZ Malawi </a:t>
            </a:r>
          </a:p>
          <a:p>
            <a:pPr marL="342900" indent="-342900">
              <a:buAutoNum type="arabicPeriod"/>
            </a:pPr>
            <a:r>
              <a:rPr lang="en-US" dirty="0">
                <a:latin typeface="Candara" panose="020E0502030303020204" pitchFamily="34" charset="0"/>
              </a:rPr>
              <a:t>CIC insurance Limited</a:t>
            </a:r>
          </a:p>
          <a:p>
            <a:pPr marL="342900" indent="-342900">
              <a:buAutoNum type="arabicPeriod"/>
            </a:pPr>
            <a:r>
              <a:rPr lang="en-US" dirty="0">
                <a:latin typeface="Candara" panose="020E0502030303020204" pitchFamily="34" charset="0"/>
              </a:rPr>
              <a:t>Dreams Microfinance</a:t>
            </a:r>
          </a:p>
          <a:p>
            <a:pPr marL="342900" indent="-342900">
              <a:buAutoNum type="arabicPeriod"/>
            </a:pPr>
            <a:r>
              <a:rPr lang="en-US" dirty="0">
                <a:latin typeface="Candara" panose="020E0502030303020204" pitchFamily="34" charset="0"/>
              </a:rPr>
              <a:t>First Capital Bank</a:t>
            </a:r>
          </a:p>
          <a:p>
            <a:pPr marL="342900" indent="-342900">
              <a:buAutoNum type="arabicPeriod"/>
            </a:pPr>
            <a:r>
              <a:rPr lang="en-US" dirty="0">
                <a:latin typeface="Candara" panose="020E0502030303020204" pitchFamily="34" charset="0"/>
              </a:rPr>
              <a:t>Fines Project- Reserve Bank of Malawi</a:t>
            </a:r>
          </a:p>
          <a:p>
            <a:pPr marL="342900" indent="-342900">
              <a:buAutoNum type="arabicPeriod"/>
            </a:pPr>
            <a:r>
              <a:rPr lang="en-US" dirty="0">
                <a:latin typeface="Candara" panose="020E0502030303020204" pitchFamily="34" charset="0"/>
              </a:rPr>
              <a:t>Micro-loan Foundation</a:t>
            </a:r>
          </a:p>
          <a:p>
            <a:pPr marL="342900" indent="-342900">
              <a:buAutoNum type="arabicPeriod"/>
            </a:pPr>
            <a:r>
              <a:rPr lang="en-US" dirty="0">
                <a:latin typeface="Candara" panose="020E0502030303020204" pitchFamily="34" charset="0"/>
              </a:rPr>
              <a:t>For Equality </a:t>
            </a:r>
          </a:p>
          <a:p>
            <a:pPr marL="342900" indent="-342900">
              <a:buAutoNum type="arabicPeriod"/>
            </a:pPr>
            <a:r>
              <a:rPr lang="en-US" dirty="0">
                <a:latin typeface="Candara" panose="020E0502030303020204" pitchFamily="34" charset="0"/>
              </a:rPr>
              <a:t>Mbawemi </a:t>
            </a:r>
          </a:p>
          <a:p>
            <a:pPr marL="342900" indent="-342900">
              <a:buAutoNum type="arabicPeriod"/>
            </a:pPr>
            <a:r>
              <a:rPr lang="en-US" dirty="0">
                <a:latin typeface="Candara" panose="020E0502030303020204" pitchFamily="34" charset="0"/>
              </a:rPr>
              <a:t>Cross Boarder Traders Association </a:t>
            </a:r>
          </a:p>
          <a:p>
            <a:pPr marL="342900" indent="-342900">
              <a:buAutoNum type="arabicPeriod"/>
            </a:pPr>
            <a:r>
              <a:rPr lang="en-US" dirty="0">
                <a:latin typeface="Candara" panose="020E0502030303020204" pitchFamily="34" charset="0"/>
              </a:rPr>
              <a:t>Malawi Union of SMEs</a:t>
            </a:r>
          </a:p>
          <a:p>
            <a:pPr marL="342900" indent="-342900">
              <a:buAutoNum type="arabicPeriod"/>
            </a:pPr>
            <a:r>
              <a:rPr lang="en-US" dirty="0">
                <a:latin typeface="Candara" panose="020E0502030303020204" pitchFamily="34" charset="0"/>
              </a:rPr>
              <a:t>SMEDI</a:t>
            </a:r>
          </a:p>
          <a:p>
            <a:pPr marL="342900" indent="-342900">
              <a:buAutoNum type="arabicPeriod"/>
            </a:pPr>
            <a:r>
              <a:rPr lang="en-US" dirty="0">
                <a:latin typeface="Candara" panose="020E0502030303020204" pitchFamily="34" charset="0"/>
              </a:rPr>
              <a:t>CISONECC</a:t>
            </a:r>
          </a:p>
          <a:p>
            <a:pPr marL="342900" indent="-342900">
              <a:buAutoNum type="arabicPeriod"/>
            </a:pPr>
            <a:r>
              <a:rPr lang="en-US" dirty="0">
                <a:latin typeface="Candara" panose="020E0502030303020204" pitchFamily="34" charset="0"/>
              </a:rPr>
              <a:t>Line Ministries (Trade, Gender, Energy, Agriculture, )</a:t>
            </a:r>
          </a:p>
          <a:p>
            <a:pPr marL="342900" indent="-342900">
              <a:buAutoNum type="arabicPeriod"/>
            </a:pPr>
            <a:r>
              <a:rPr lang="en-US" dirty="0">
                <a:latin typeface="Candara" panose="020E0502030303020204" pitchFamily="34" charset="0"/>
              </a:rPr>
              <a:t>Malawi Bureau of Standards</a:t>
            </a:r>
          </a:p>
        </p:txBody>
      </p:sp>
      <p:sp>
        <p:nvSpPr>
          <p:cNvPr id="5" name="Google Shape;211;p31"/>
          <p:cNvSpPr/>
          <p:nvPr/>
        </p:nvSpPr>
        <p:spPr>
          <a:xfrm>
            <a:off x="0" y="-6400"/>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cxnSp>
        <p:nvCxnSpPr>
          <p:cNvPr id="6" name="Google Shape;208;p31"/>
          <p:cNvCxnSpPr/>
          <p:nvPr/>
        </p:nvCxnSpPr>
        <p:spPr>
          <a:xfrm>
            <a:off x="1050461" y="5603055"/>
            <a:ext cx="268811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 name="Google Shape;518;p41"/>
          <p:cNvSpPr/>
          <p:nvPr/>
        </p:nvSpPr>
        <p:spPr>
          <a:xfrm rot="16200000" flipH="1">
            <a:off x="2151047" y="4359925"/>
            <a:ext cx="347028" cy="4649121"/>
          </a:xfrm>
          <a:prstGeom prst="rect">
            <a:avLst/>
          </a:prstGeom>
          <a:solidFill>
            <a:srgbClr val="9C2B6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801816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17050" y="781825"/>
            <a:ext cx="3831220" cy="1181270"/>
          </a:xfrm>
          <a:solidFill>
            <a:srgbClr val="9C2B61"/>
          </a:solidFill>
          <a:scene3d>
            <a:camera prst="perspectiveContrastingRightFacing"/>
            <a:lightRig rig="threePt" dir="t"/>
          </a:scene3d>
        </p:spPr>
        <p:txBody>
          <a:bodyPr>
            <a:noAutofit/>
          </a:bodyPr>
          <a:lstStyle/>
          <a:p>
            <a:r>
              <a:rPr lang="en-US" sz="2800" dirty="0">
                <a:solidFill>
                  <a:schemeClr val="accent4"/>
                </a:solidFill>
                <a:latin typeface="Candara" panose="020E0502030303020204" pitchFamily="34" charset="0"/>
              </a:rPr>
              <a:t>                  </a:t>
            </a:r>
            <a:r>
              <a:rPr lang="en-US" sz="2800" b="1" i="1" dirty="0">
                <a:solidFill>
                  <a:schemeClr val="bg1"/>
                </a:solidFill>
                <a:latin typeface="Candara" panose="020E0502030303020204" pitchFamily="34" charset="0"/>
              </a:rPr>
              <a:t>CONTACT INFO</a:t>
            </a:r>
          </a:p>
        </p:txBody>
      </p:sp>
      <p:pic>
        <p:nvPicPr>
          <p:cNvPr id="6" name="Content Placeholder 5"/>
          <p:cNvPicPr>
            <a:picLocks noGrp="1" noChangeAspect="1"/>
          </p:cNvPicPr>
          <p:nvPr>
            <p:ph sz="half" idx="1"/>
          </p:nvPr>
        </p:nvPicPr>
        <p:blipFill>
          <a:blip r:embed="rId2"/>
          <a:stretch>
            <a:fillRect/>
          </a:stretch>
        </p:blipFill>
        <p:spPr>
          <a:xfrm>
            <a:off x="377026" y="2426120"/>
            <a:ext cx="3846113" cy="310962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p:cNvSpPr>
            <a:spLocks noGrp="1"/>
          </p:cNvSpPr>
          <p:nvPr>
            <p:ph sz="half" idx="2"/>
          </p:nvPr>
        </p:nvSpPr>
        <p:spPr>
          <a:xfrm>
            <a:off x="4748270" y="485734"/>
            <a:ext cx="4120308" cy="3880773"/>
          </a:xfrm>
          <a:solidFill>
            <a:schemeClr val="bg1">
              <a:lumMod val="95000"/>
            </a:schemeClr>
          </a:solidFill>
        </p:spPr>
        <p:txBody>
          <a:bodyPr/>
          <a:lstStyle/>
          <a:p>
            <a:pPr marL="0" indent="0">
              <a:buNone/>
            </a:pPr>
            <a:r>
              <a:rPr lang="en-US" u="sng" dirty="0"/>
              <a:t>Location Address</a:t>
            </a:r>
            <a:r>
              <a:rPr lang="en-US" dirty="0"/>
              <a:t>:   Plot 3/3345, Area3, Likuni Road.</a:t>
            </a:r>
          </a:p>
          <a:p>
            <a:pPr marL="0" indent="0">
              <a:buNone/>
            </a:pPr>
            <a:r>
              <a:rPr lang="en-US" u="sng" dirty="0"/>
              <a:t>Postal Address</a:t>
            </a:r>
            <a:r>
              <a:rPr lang="en-US" dirty="0"/>
              <a:t>:  </a:t>
            </a:r>
            <a:r>
              <a:rPr lang="en-US" sz="1400" dirty="0">
                <a:latin typeface="Calibri" panose="020F0502020204030204" pitchFamily="34" charset="0"/>
                <a:ea typeface="SimSun" panose="02010600030101010101" pitchFamily="2" charset="-122"/>
                <a:cs typeface="Times New Roman" panose="02020603050405020304" pitchFamily="18" charset="0"/>
              </a:rPr>
              <a:t>P.O Box 40442, Kanengo, Lilongwe </a:t>
            </a:r>
          </a:p>
          <a:p>
            <a:pPr marL="0" indent="0">
              <a:buNone/>
            </a:pPr>
            <a:r>
              <a:rPr lang="en-US" sz="1400" u="sng" dirty="0">
                <a:latin typeface="Calibri" panose="020F0502020204030204" pitchFamily="34" charset="0"/>
                <a:ea typeface="SimSun" panose="02010600030101010101" pitchFamily="2" charset="-122"/>
                <a:cs typeface="Times New Roman" panose="02020603050405020304" pitchFamily="18" charset="0"/>
              </a:rPr>
              <a:t>Email </a:t>
            </a:r>
            <a:r>
              <a:rPr lang="en-US" sz="1400" dirty="0">
                <a:latin typeface="Calibri" panose="020F0502020204030204" pitchFamily="34" charset="0"/>
                <a:ea typeface="SimSun" panose="02010600030101010101" pitchFamily="2" charset="-122"/>
                <a:cs typeface="Times New Roman" panose="02020603050405020304" pitchFamily="18" charset="0"/>
              </a:rPr>
              <a:t>: </a:t>
            </a:r>
            <a:r>
              <a:rPr lang="en-US" sz="1400" dirty="0">
                <a:solidFill>
                  <a:srgbClr val="0563C1"/>
                </a:solidFill>
                <a:latin typeface="Calibri" panose="020F0502020204030204" pitchFamily="34" charset="0"/>
                <a:ea typeface="SimSun" panose="02010600030101010101" pitchFamily="2" charset="-122"/>
                <a:cs typeface="Times New Roman" panose="02020603050405020304" pitchFamily="18" charset="0"/>
                <a:hlinkClick r:id="rId3"/>
              </a:rPr>
              <a:t>nabwmalawi@gmail.com</a:t>
            </a:r>
            <a:r>
              <a:rPr lang="en-US" sz="1400" dirty="0">
                <a:solidFill>
                  <a:srgbClr val="0563C1"/>
                </a:solidFill>
                <a:latin typeface="Calibri" panose="020F0502020204030204" pitchFamily="34" charset="0"/>
                <a:ea typeface="SimSun" panose="02010600030101010101" pitchFamily="2" charset="-122"/>
                <a:cs typeface="Times New Roman" panose="02020603050405020304" pitchFamily="18" charset="0"/>
              </a:rPr>
              <a:t> </a:t>
            </a:r>
          </a:p>
          <a:p>
            <a:pPr marL="0" indent="0">
              <a:buNone/>
            </a:pPr>
            <a:r>
              <a:rPr lang="en-US" sz="1400" dirty="0">
                <a:solidFill>
                  <a:srgbClr val="0563C1"/>
                </a:solidFill>
                <a:latin typeface="Calibri" panose="020F0502020204030204" pitchFamily="34" charset="0"/>
                <a:ea typeface="SimSun" panose="02010600030101010101" pitchFamily="2" charset="-122"/>
                <a:cs typeface="Times New Roman" panose="02020603050405020304" pitchFamily="18" charset="0"/>
              </a:rPr>
              <a:t>Cell: </a:t>
            </a:r>
            <a:r>
              <a:rPr lang="en-US" sz="1400" dirty="0"/>
              <a:t> +265 995 752 813 |+265 888285280	</a:t>
            </a:r>
          </a:p>
          <a:p>
            <a:pPr marL="0" indent="0">
              <a:buNone/>
            </a:pPr>
            <a:r>
              <a:rPr lang="en-US" sz="1400" dirty="0">
                <a:solidFill>
                  <a:srgbClr val="0563C1"/>
                </a:solidFill>
                <a:latin typeface="Calibri" panose="020F0502020204030204" pitchFamily="34" charset="0"/>
                <a:ea typeface="SimSun" panose="02010600030101010101" pitchFamily="2" charset="-122"/>
                <a:cs typeface="Times New Roman" panose="02020603050405020304" pitchFamily="18" charset="0"/>
              </a:rPr>
              <a:t>Facebook: </a:t>
            </a:r>
            <a:r>
              <a:rPr lang="en-US" sz="1400" dirty="0">
                <a:solidFill>
                  <a:srgbClr val="0563C1"/>
                </a:solidFill>
                <a:latin typeface="Calibri" panose="020F0502020204030204" pitchFamily="34" charset="0"/>
                <a:ea typeface="SimSun" panose="02010600030101010101" pitchFamily="2" charset="-122"/>
                <a:cs typeface="Times New Roman" panose="02020603050405020304" pitchFamily="18" charset="0"/>
                <a:hlinkClick r:id="rId4"/>
              </a:rPr>
              <a:t>https://web.facebook.com/profile.php?id=100064032041715</a:t>
            </a:r>
            <a:r>
              <a:rPr lang="en-US" sz="1400" dirty="0">
                <a:solidFill>
                  <a:srgbClr val="0563C1"/>
                </a:solidFill>
                <a:latin typeface="Calibri" panose="020F0502020204030204" pitchFamily="34" charset="0"/>
                <a:ea typeface="SimSun" panose="02010600030101010101" pitchFamily="2" charset="-122"/>
                <a:cs typeface="Times New Roman" panose="02020603050405020304" pitchFamily="18" charset="0"/>
              </a:rPr>
              <a:t> </a:t>
            </a:r>
          </a:p>
          <a:p>
            <a:pPr marL="0" indent="0">
              <a:buNone/>
            </a:pPr>
            <a:r>
              <a:rPr lang="en-US" sz="1400" dirty="0">
                <a:solidFill>
                  <a:srgbClr val="0563C1"/>
                </a:solidFill>
                <a:latin typeface="Calibri" panose="020F0502020204030204" pitchFamily="34" charset="0"/>
                <a:ea typeface="SimSun" panose="02010600030101010101" pitchFamily="2" charset="-122"/>
                <a:cs typeface="Times New Roman" panose="02020603050405020304" pitchFamily="18" charset="0"/>
              </a:rPr>
              <a:t>Website: </a:t>
            </a:r>
            <a:r>
              <a:rPr lang="en-US" dirty="0">
                <a:hlinkClick r:id="rId5"/>
              </a:rPr>
              <a:t>nabwmalawi.wixsite.com/website</a:t>
            </a:r>
            <a:endParaRPr lang="en-US" dirty="0"/>
          </a:p>
        </p:txBody>
      </p:sp>
      <p:sp>
        <p:nvSpPr>
          <p:cNvPr id="5" name="Google Shape;211;p31"/>
          <p:cNvSpPr/>
          <p:nvPr/>
        </p:nvSpPr>
        <p:spPr>
          <a:xfrm>
            <a:off x="0" y="-57771"/>
            <a:ext cx="9144000" cy="325200"/>
          </a:xfrm>
          <a:prstGeom prst="rect">
            <a:avLst/>
          </a:prstGeom>
          <a:solidFill>
            <a:srgbClr val="FFB200"/>
          </a:solidFill>
          <a:ln>
            <a:noFill/>
          </a:ln>
        </p:spPr>
        <p:txBody>
          <a:bodyPr spcFirstLastPara="1" wrap="square" lIns="91425" tIns="91425" rIns="91425" bIns="91425" anchor="ctr" anchorCtr="0">
            <a:noAutofit/>
          </a:bodyPr>
          <a:lstStyle/>
          <a:p>
            <a:pPr>
              <a:buClr>
                <a:srgbClr val="000000"/>
              </a:buClr>
            </a:pPr>
            <a:endParaRPr sz="1400" kern="0">
              <a:solidFill>
                <a:srgbClr val="000000"/>
              </a:solidFill>
              <a:latin typeface="Arial"/>
              <a:cs typeface="Arial"/>
              <a:sym typeface="Arial"/>
            </a:endParaRPr>
          </a:p>
        </p:txBody>
      </p:sp>
      <p:pic>
        <p:nvPicPr>
          <p:cNvPr id="7" name="Picture 6"/>
          <p:cNvPicPr>
            <a:picLocks noChangeAspect="1"/>
          </p:cNvPicPr>
          <p:nvPr/>
        </p:nvPicPr>
        <p:blipFill>
          <a:blip r:embed="rId6"/>
          <a:stretch>
            <a:fillRect/>
          </a:stretch>
        </p:blipFill>
        <p:spPr>
          <a:xfrm>
            <a:off x="4490780" y="4366507"/>
            <a:ext cx="3323863" cy="2324559"/>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238358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2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5.xml><?xml version="1.0" encoding="utf-8"?>
<a:theme xmlns:a="http://schemas.openxmlformats.org/drawingml/2006/main" name="3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6.xml><?xml version="1.0" encoding="utf-8"?>
<a:theme xmlns:a="http://schemas.openxmlformats.org/drawingml/2006/main" name="4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7.xml><?xml version="1.0" encoding="utf-8"?>
<a:theme xmlns:a="http://schemas.openxmlformats.org/drawingml/2006/main" name="5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8.xml><?xml version="1.0" encoding="utf-8"?>
<a:theme xmlns:a="http://schemas.openxmlformats.org/drawingml/2006/main" name="6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Office Theme</Template>
  <TotalTime>5</TotalTime>
  <Words>2032</Words>
  <Application>Microsoft Office PowerPoint</Application>
  <PresentationFormat>On-screen Show (4:3)</PresentationFormat>
  <Paragraphs>174</Paragraphs>
  <Slides>25</Slides>
  <Notes>0</Notes>
  <HiddenSlides>0</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25</vt:i4>
      </vt:variant>
    </vt:vector>
  </HeadingPairs>
  <TitlesOfParts>
    <vt:vector size="42" baseType="lpstr">
      <vt:lpstr>Arial</vt:lpstr>
      <vt:lpstr>Assistant</vt:lpstr>
      <vt:lpstr>Calibri</vt:lpstr>
      <vt:lpstr>Calibri Light</vt:lpstr>
      <vt:lpstr>Candara</vt:lpstr>
      <vt:lpstr>Courier New</vt:lpstr>
      <vt:lpstr>Righteous</vt:lpstr>
      <vt:lpstr>Trebuchet MS</vt:lpstr>
      <vt:lpstr>Wingdings 3</vt:lpstr>
      <vt:lpstr>Office Theme</vt:lpstr>
      <vt:lpstr>Facet</vt:lpstr>
      <vt:lpstr>1_Facet</vt:lpstr>
      <vt:lpstr>2_Facet</vt:lpstr>
      <vt:lpstr>3_Facet</vt:lpstr>
      <vt:lpstr>4_Facet</vt:lpstr>
      <vt:lpstr>5_Facet</vt:lpstr>
      <vt:lpstr>6_Facet</vt:lpstr>
      <vt:lpstr>PowerPoint Presentation</vt:lpstr>
      <vt:lpstr>                                   About Us</vt:lpstr>
      <vt:lpstr> 7,000</vt:lpstr>
      <vt:lpstr>                  Our purpose </vt:lpstr>
      <vt:lpstr>                      Our values</vt:lpstr>
      <vt:lpstr> Thematic Areas </vt:lpstr>
      <vt:lpstr>PowerPoint Presentation</vt:lpstr>
      <vt:lpstr>PowerPoint Presentation</vt:lpstr>
      <vt:lpstr>                Meet our ED </vt:lpstr>
      <vt:lpstr>                Our Structure</vt:lpstr>
      <vt:lpstr>             OUR RECENT WORK &amp; ACHIEVEMENTS</vt:lpstr>
      <vt:lpstr>Entrepreneurial behavior, life skills and Leadership “Building strong foundations” </vt:lpstr>
      <vt:lpstr>Financial Literacy, Management and Record Keeping “Empowering financial independence” </vt:lpstr>
      <vt:lpstr>E-commerce and digital Marketing "Nurturing Online Presence"</vt:lpstr>
      <vt:lpstr>PowerPoint Presentation</vt:lpstr>
      <vt:lpstr>Product development and quality control "Innovation and Quality Assurance"  </vt:lpstr>
      <vt:lpstr>Mentorship program "Guiding Paths to Success"</vt:lpstr>
      <vt:lpstr>Building Back Better After Climate Related Events</vt:lpstr>
      <vt:lpstr>Promoting Insurance Coverage among Women-owned Businesses</vt:lpstr>
      <vt:lpstr>                               SheActs4Feminomics</vt:lpstr>
      <vt:lpstr>                     Advocacy &amp; Campaigns</vt:lpstr>
      <vt:lpstr>Beijing Declaration Platform for Action + 25   </vt:lpstr>
      <vt:lpstr>                                GREEN &amp; INCLUSIVE ENERGY-GIE</vt:lpstr>
      <vt:lpstr>                       OUR PARTNERS</vt:lpstr>
      <vt:lpstr>                  CONTACT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 BANDA</dc:creator>
  <cp:lastModifiedBy>dalie mbicholo</cp:lastModifiedBy>
  <cp:revision>170</cp:revision>
  <dcterms:created xsi:type="dcterms:W3CDTF">2024-05-31T03:27:01Z</dcterms:created>
  <dcterms:modified xsi:type="dcterms:W3CDTF">2026-10-06T13:14:21Z</dcterms:modified>
</cp:coreProperties>
</file>